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PATEL" userId="6fc73098bcc843c3" providerId="LiveId" clId="{35DB3277-79F3-44E2-BE0E-935FCD62EB48}"/>
    <pc:docChg chg="custSel modSld">
      <pc:chgData name="AYUSH PATEL" userId="6fc73098bcc843c3" providerId="LiveId" clId="{35DB3277-79F3-44E2-BE0E-935FCD62EB48}" dt="2026-09-23T09:59:36.516" v="311" actId="478"/>
      <pc:docMkLst>
        <pc:docMk/>
      </pc:docMkLst>
      <pc:sldChg chg="modSp mod">
        <pc:chgData name="AYUSH PATEL" userId="6fc73098bcc843c3" providerId="LiveId" clId="{35DB3277-79F3-44E2-BE0E-935FCD62EB48}" dt="2026-09-20T14:36:10.791" v="113" actId="20577"/>
        <pc:sldMkLst>
          <pc:docMk/>
          <pc:sldMk cId="0" sldId="256"/>
        </pc:sldMkLst>
        <pc:spChg chg="mod">
          <ac:chgData name="AYUSH PATEL" userId="6fc73098bcc843c3" providerId="LiveId" clId="{35DB3277-79F3-44E2-BE0E-935FCD62EB48}" dt="2026-09-20T14:35:27.791" v="17" actId="20577"/>
          <ac:spMkLst>
            <pc:docMk/>
            <pc:sldMk cId="0" sldId="256"/>
            <ac:spMk id="6" creationId="{00000000-0000-0000-0000-000000000000}"/>
          </ac:spMkLst>
        </pc:spChg>
        <pc:spChg chg="mod">
          <ac:chgData name="AYUSH PATEL" userId="6fc73098bcc843c3" providerId="LiveId" clId="{35DB3277-79F3-44E2-BE0E-935FCD62EB48}" dt="2026-09-20T14:36:10.791" v="113" actId="20577"/>
          <ac:spMkLst>
            <pc:docMk/>
            <pc:sldMk cId="0" sldId="256"/>
            <ac:spMk id="7" creationId="{00000000-0000-0000-0000-000000000000}"/>
          </ac:spMkLst>
        </pc:spChg>
      </pc:sldChg>
      <pc:sldChg chg="modSp mod">
        <pc:chgData name="AYUSH PATEL" userId="6fc73098bcc843c3" providerId="LiveId" clId="{35DB3277-79F3-44E2-BE0E-935FCD62EB48}" dt="2026-09-23T09:59:15.926" v="287" actId="1036"/>
        <pc:sldMkLst>
          <pc:docMk/>
          <pc:sldMk cId="0" sldId="266"/>
        </pc:sldMkLst>
        <pc:spChg chg="mod">
          <ac:chgData name="AYUSH PATEL" userId="6fc73098bcc843c3" providerId="LiveId" clId="{35DB3277-79F3-44E2-BE0E-935FCD62EB48}" dt="2026-09-23T09:54:25.562" v="131" actId="20577"/>
          <ac:spMkLst>
            <pc:docMk/>
            <pc:sldMk cId="0" sldId="266"/>
            <ac:spMk id="4" creationId="{00000000-0000-0000-0000-000000000000}"/>
          </ac:spMkLst>
        </pc:spChg>
        <pc:spChg chg="mod">
          <ac:chgData name="AYUSH PATEL" userId="6fc73098bcc843c3" providerId="LiveId" clId="{35DB3277-79F3-44E2-BE0E-935FCD62EB48}" dt="2026-09-23T09:59:15.926" v="287" actId="1036"/>
          <ac:spMkLst>
            <pc:docMk/>
            <pc:sldMk cId="0" sldId="266"/>
            <ac:spMk id="31" creationId="{00000000-0000-0000-0000-000000000000}"/>
          </ac:spMkLst>
        </pc:spChg>
      </pc:sldChg>
      <pc:sldChg chg="modSp mod">
        <pc:chgData name="AYUSH PATEL" userId="6fc73098bcc843c3" providerId="LiveId" clId="{35DB3277-79F3-44E2-BE0E-935FCD62EB48}" dt="2026-09-23T09:54:33.522" v="149" actId="20577"/>
        <pc:sldMkLst>
          <pc:docMk/>
          <pc:sldMk cId="0" sldId="267"/>
        </pc:sldMkLst>
        <pc:spChg chg="mod">
          <ac:chgData name="AYUSH PATEL" userId="6fc73098bcc843c3" providerId="LiveId" clId="{35DB3277-79F3-44E2-BE0E-935FCD62EB48}" dt="2026-09-23T09:54:33.522" v="149" actId="20577"/>
          <ac:spMkLst>
            <pc:docMk/>
            <pc:sldMk cId="0" sldId="267"/>
            <ac:spMk id="4" creationId="{00000000-0000-0000-0000-000000000000}"/>
          </ac:spMkLst>
        </pc:spChg>
      </pc:sldChg>
      <pc:sldChg chg="modSp mod">
        <pc:chgData name="AYUSH PATEL" userId="6fc73098bcc843c3" providerId="LiveId" clId="{35DB3277-79F3-44E2-BE0E-935FCD62EB48}" dt="2026-09-23T09:54:42.983" v="169" actId="20577"/>
        <pc:sldMkLst>
          <pc:docMk/>
          <pc:sldMk cId="0" sldId="268"/>
        </pc:sldMkLst>
        <pc:spChg chg="mod">
          <ac:chgData name="AYUSH PATEL" userId="6fc73098bcc843c3" providerId="LiveId" clId="{35DB3277-79F3-44E2-BE0E-935FCD62EB48}" dt="2026-09-23T09:54:42.983" v="169" actId="20577"/>
          <ac:spMkLst>
            <pc:docMk/>
            <pc:sldMk cId="0" sldId="268"/>
            <ac:spMk id="4" creationId="{00000000-0000-0000-0000-000000000000}"/>
          </ac:spMkLst>
        </pc:spChg>
      </pc:sldChg>
      <pc:sldChg chg="modSp mod">
        <pc:chgData name="AYUSH PATEL" userId="6fc73098bcc843c3" providerId="LiveId" clId="{35DB3277-79F3-44E2-BE0E-935FCD62EB48}" dt="2026-09-23T09:54:50.150" v="187" actId="20577"/>
        <pc:sldMkLst>
          <pc:docMk/>
          <pc:sldMk cId="0" sldId="269"/>
        </pc:sldMkLst>
        <pc:spChg chg="mod">
          <ac:chgData name="AYUSH PATEL" userId="6fc73098bcc843c3" providerId="LiveId" clId="{35DB3277-79F3-44E2-BE0E-935FCD62EB48}" dt="2026-09-23T09:54:50.150" v="187" actId="20577"/>
          <ac:spMkLst>
            <pc:docMk/>
            <pc:sldMk cId="0" sldId="269"/>
            <ac:spMk id="4" creationId="{00000000-0000-0000-0000-000000000000}"/>
          </ac:spMkLst>
        </pc:spChg>
      </pc:sldChg>
      <pc:sldChg chg="modSp mod">
        <pc:chgData name="AYUSH PATEL" userId="6fc73098bcc843c3" providerId="LiveId" clId="{35DB3277-79F3-44E2-BE0E-935FCD62EB48}" dt="2026-09-23T09:55:03.027" v="205" actId="20577"/>
        <pc:sldMkLst>
          <pc:docMk/>
          <pc:sldMk cId="0" sldId="270"/>
        </pc:sldMkLst>
        <pc:spChg chg="mod">
          <ac:chgData name="AYUSH PATEL" userId="6fc73098bcc843c3" providerId="LiveId" clId="{35DB3277-79F3-44E2-BE0E-935FCD62EB48}" dt="2026-09-23T09:55:03.027" v="205" actId="20577"/>
          <ac:spMkLst>
            <pc:docMk/>
            <pc:sldMk cId="0" sldId="270"/>
            <ac:spMk id="4" creationId="{00000000-0000-0000-0000-000000000000}"/>
          </ac:spMkLst>
        </pc:spChg>
      </pc:sldChg>
      <pc:sldChg chg="modSp mod">
        <pc:chgData name="AYUSH PATEL" userId="6fc73098bcc843c3" providerId="LiveId" clId="{35DB3277-79F3-44E2-BE0E-935FCD62EB48}" dt="2026-09-23T09:55:10.616" v="223" actId="20577"/>
        <pc:sldMkLst>
          <pc:docMk/>
          <pc:sldMk cId="0" sldId="271"/>
        </pc:sldMkLst>
        <pc:spChg chg="mod">
          <ac:chgData name="AYUSH PATEL" userId="6fc73098bcc843c3" providerId="LiveId" clId="{35DB3277-79F3-44E2-BE0E-935FCD62EB48}" dt="2026-09-23T09:55:10.616" v="223" actId="20577"/>
          <ac:spMkLst>
            <pc:docMk/>
            <pc:sldMk cId="0" sldId="271"/>
            <ac:spMk id="4" creationId="{00000000-0000-0000-0000-000000000000}"/>
          </ac:spMkLst>
        </pc:spChg>
      </pc:sldChg>
      <pc:sldChg chg="modSp mod">
        <pc:chgData name="AYUSH PATEL" userId="6fc73098bcc843c3" providerId="LiveId" clId="{35DB3277-79F3-44E2-BE0E-935FCD62EB48}" dt="2026-09-23T09:55:18.240" v="241" actId="20577"/>
        <pc:sldMkLst>
          <pc:docMk/>
          <pc:sldMk cId="0" sldId="272"/>
        </pc:sldMkLst>
        <pc:spChg chg="mod">
          <ac:chgData name="AYUSH PATEL" userId="6fc73098bcc843c3" providerId="LiveId" clId="{35DB3277-79F3-44E2-BE0E-935FCD62EB48}" dt="2026-09-23T09:55:18.240" v="241" actId="20577"/>
          <ac:spMkLst>
            <pc:docMk/>
            <pc:sldMk cId="0" sldId="272"/>
            <ac:spMk id="4" creationId="{00000000-0000-0000-0000-000000000000}"/>
          </ac:spMkLst>
        </pc:spChg>
      </pc:sldChg>
      <pc:sldChg chg="modSp mod">
        <pc:chgData name="AYUSH PATEL" userId="6fc73098bcc843c3" providerId="LiveId" clId="{35DB3277-79F3-44E2-BE0E-935FCD62EB48}" dt="2026-09-23T09:55:25.304" v="259" actId="20577"/>
        <pc:sldMkLst>
          <pc:docMk/>
          <pc:sldMk cId="0" sldId="273"/>
        </pc:sldMkLst>
        <pc:spChg chg="mod">
          <ac:chgData name="AYUSH PATEL" userId="6fc73098bcc843c3" providerId="LiveId" clId="{35DB3277-79F3-44E2-BE0E-935FCD62EB48}" dt="2026-09-23T09:55:25.304" v="259" actId="20577"/>
          <ac:spMkLst>
            <pc:docMk/>
            <pc:sldMk cId="0" sldId="273"/>
            <ac:spMk id="4" creationId="{00000000-0000-0000-0000-000000000000}"/>
          </ac:spMkLst>
        </pc:spChg>
      </pc:sldChg>
      <pc:sldChg chg="modSp mod">
        <pc:chgData name="AYUSH PATEL" userId="6fc73098bcc843c3" providerId="LiveId" clId="{35DB3277-79F3-44E2-BE0E-935FCD62EB48}" dt="2026-09-23T09:55:40.939" v="280" actId="20577"/>
        <pc:sldMkLst>
          <pc:docMk/>
          <pc:sldMk cId="0" sldId="274"/>
        </pc:sldMkLst>
        <pc:spChg chg="mod">
          <ac:chgData name="AYUSH PATEL" userId="6fc73098bcc843c3" providerId="LiveId" clId="{35DB3277-79F3-44E2-BE0E-935FCD62EB48}" dt="2026-09-23T09:55:35.748" v="279" actId="20577"/>
          <ac:spMkLst>
            <pc:docMk/>
            <pc:sldMk cId="0" sldId="274"/>
            <ac:spMk id="4" creationId="{00000000-0000-0000-0000-000000000000}"/>
          </ac:spMkLst>
        </pc:spChg>
        <pc:spChg chg="mod">
          <ac:chgData name="AYUSH PATEL" userId="6fc73098bcc843c3" providerId="LiveId" clId="{35DB3277-79F3-44E2-BE0E-935FCD62EB48}" dt="2026-09-23T09:55:40.939" v="280" actId="20577"/>
          <ac:spMkLst>
            <pc:docMk/>
            <pc:sldMk cId="0" sldId="274"/>
            <ac:spMk id="16" creationId="{00000000-0000-0000-0000-000000000000}"/>
          </ac:spMkLst>
        </pc:spChg>
      </pc:sldChg>
      <pc:sldChg chg="delSp modSp mod">
        <pc:chgData name="AYUSH PATEL" userId="6fc73098bcc843c3" providerId="LiveId" clId="{35DB3277-79F3-44E2-BE0E-935FCD62EB48}" dt="2026-09-23T09:59:36.516" v="311" actId="478"/>
        <pc:sldMkLst>
          <pc:docMk/>
          <pc:sldMk cId="0" sldId="275"/>
        </pc:sldMkLst>
        <pc:spChg chg="mod">
          <ac:chgData name="AYUSH PATEL" userId="6fc73098bcc843c3" providerId="LiveId" clId="{35DB3277-79F3-44E2-BE0E-935FCD62EB48}" dt="2026-09-23T09:59:33.284" v="309" actId="20577"/>
          <ac:spMkLst>
            <pc:docMk/>
            <pc:sldMk cId="0" sldId="275"/>
            <ac:spMk id="4" creationId="{00000000-0000-0000-0000-000000000000}"/>
          </ac:spMkLst>
        </pc:spChg>
        <pc:spChg chg="del">
          <ac:chgData name="AYUSH PATEL" userId="6fc73098bcc843c3" providerId="LiveId" clId="{35DB3277-79F3-44E2-BE0E-935FCD62EB48}" dt="2026-09-23T09:59:36.516" v="311" actId="478"/>
          <ac:spMkLst>
            <pc:docMk/>
            <pc:sldMk cId="0" sldId="275"/>
            <ac:spMk id="7" creationId="{00000000-0000-0000-0000-000000000000}"/>
          </ac:spMkLst>
        </pc:spChg>
        <pc:spChg chg="del">
          <ac:chgData name="AYUSH PATEL" userId="6fc73098bcc843c3" providerId="LiveId" clId="{35DB3277-79F3-44E2-BE0E-935FCD62EB48}" dt="2026-09-23T09:59:35.383" v="310" actId="478"/>
          <ac:spMkLst>
            <pc:docMk/>
            <pc:sldMk cId="0" sldId="275"/>
            <ac:spMk id="8"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Climate</c:v>
                </c:pt>
              </c:strCache>
            </c:strRef>
          </c:tx>
          <c:spPr>
            <a:solidFill>
              <a:srgbClr val="2F7F73"/>
            </a:solidFill>
            <a:effectLst/>
          </c:spPr>
          <c:invertIfNegative val="0"/>
          <c:cat>
            <c:strRef>
              <c:f>Sheet1!$A$2:$A$9</c:f>
              <c:strCache>
                <c:ptCount val="8"/>
                <c:pt idx="0">
                  <c:v>DANN</c:v>
                </c:pt>
                <c:pt idx="1">
                  <c:v>CORAL</c:v>
                </c:pt>
                <c:pt idx="2">
                  <c:v>MMD</c:v>
                </c:pt>
                <c:pt idx="3">
                  <c:v>CARE −align</c:v>
                </c:pt>
                <c:pt idx="4">
                  <c:v>CARE −SSL</c:v>
                </c:pt>
                <c:pt idx="5">
                  <c:v>CARE v1</c:v>
                </c:pt>
                <c:pt idx="6">
                  <c:v>CARE v2</c:v>
                </c:pt>
                <c:pt idx="7">
                  <c:v>Oracle*</c:v>
                </c:pt>
              </c:strCache>
            </c:strRef>
          </c:cat>
          <c:val>
            <c:numRef>
              <c:f>Sheet1!$B$2:$B$9</c:f>
              <c:numCache>
                <c:formatCode>General</c:formatCode>
                <c:ptCount val="8"/>
                <c:pt idx="0">
                  <c:v>-5.5</c:v>
                </c:pt>
                <c:pt idx="1">
                  <c:v>-7.1</c:v>
                </c:pt>
                <c:pt idx="2">
                  <c:v>7.9</c:v>
                </c:pt>
                <c:pt idx="3">
                  <c:v>-5.8</c:v>
                </c:pt>
                <c:pt idx="4">
                  <c:v>7.8</c:v>
                </c:pt>
                <c:pt idx="5">
                  <c:v>3.6</c:v>
                </c:pt>
                <c:pt idx="6">
                  <c:v>6.2</c:v>
                </c:pt>
                <c:pt idx="7">
                  <c:v>8.5</c:v>
                </c:pt>
              </c:numCache>
            </c:numRef>
          </c:val>
          <c:extLst>
            <c:ext xmlns:c16="http://schemas.microsoft.com/office/drawing/2014/chart" uri="{C3380CC4-5D6E-409C-BE32-E72D297353CC}">
              <c16:uniqueId val="{00000000-62AA-44EC-ABA7-7BDBE323FC7B}"/>
            </c:ext>
          </c:extLst>
        </c:ser>
        <c:ser>
          <c:idx val="1"/>
          <c:order val="1"/>
          <c:tx>
            <c:strRef>
              <c:f>Sheet1!$C$1</c:f>
              <c:strCache>
                <c:ptCount val="1"/>
                <c:pt idx="0">
                  <c:v>Energy</c:v>
                </c:pt>
              </c:strCache>
            </c:strRef>
          </c:tx>
          <c:spPr>
            <a:solidFill>
              <a:srgbClr val="D98A1E"/>
            </a:solidFill>
            <a:effectLst/>
          </c:spPr>
          <c:invertIfNegative val="0"/>
          <c:cat>
            <c:strRef>
              <c:f>Sheet1!$A$2:$A$9</c:f>
              <c:strCache>
                <c:ptCount val="8"/>
                <c:pt idx="0">
                  <c:v>DANN</c:v>
                </c:pt>
                <c:pt idx="1">
                  <c:v>CORAL</c:v>
                </c:pt>
                <c:pt idx="2">
                  <c:v>MMD</c:v>
                </c:pt>
                <c:pt idx="3">
                  <c:v>CARE −align</c:v>
                </c:pt>
                <c:pt idx="4">
                  <c:v>CARE −SSL</c:v>
                </c:pt>
                <c:pt idx="5">
                  <c:v>CARE v1</c:v>
                </c:pt>
                <c:pt idx="6">
                  <c:v>CARE v2</c:v>
                </c:pt>
                <c:pt idx="7">
                  <c:v>Oracle*</c:v>
                </c:pt>
              </c:strCache>
            </c:strRef>
          </c:cat>
          <c:val>
            <c:numRef>
              <c:f>Sheet1!$C$2:$C$9</c:f>
              <c:numCache>
                <c:formatCode>General</c:formatCode>
                <c:ptCount val="8"/>
                <c:pt idx="0">
                  <c:v>-12</c:v>
                </c:pt>
                <c:pt idx="1">
                  <c:v>-11.4</c:v>
                </c:pt>
                <c:pt idx="2">
                  <c:v>4.4000000000000004</c:v>
                </c:pt>
                <c:pt idx="3">
                  <c:v>-4.5</c:v>
                </c:pt>
                <c:pt idx="4">
                  <c:v>6.4</c:v>
                </c:pt>
                <c:pt idx="5">
                  <c:v>3.3</c:v>
                </c:pt>
                <c:pt idx="6">
                  <c:v>7.8</c:v>
                </c:pt>
                <c:pt idx="7">
                  <c:v>3</c:v>
                </c:pt>
              </c:numCache>
            </c:numRef>
          </c:val>
          <c:extLst>
            <c:ext xmlns:c16="http://schemas.microsoft.com/office/drawing/2014/chart" uri="{C3380CC4-5D6E-409C-BE32-E72D297353CC}">
              <c16:uniqueId val="{00000001-62AA-44EC-ABA7-7BDBE323FC7B}"/>
            </c:ext>
          </c:extLst>
        </c:ser>
        <c:ser>
          <c:idx val="2"/>
          <c:order val="2"/>
          <c:tx>
            <c:strRef>
              <c:f>Sheet1!$D$1</c:f>
              <c:strCache>
                <c:ptCount val="1"/>
                <c:pt idx="0">
                  <c:v>Finance</c:v>
                </c:pt>
              </c:strCache>
            </c:strRef>
          </c:tx>
          <c:spPr>
            <a:solidFill>
              <a:srgbClr val="8A97A0"/>
            </a:solidFill>
            <a:effectLst/>
          </c:spPr>
          <c:invertIfNegative val="0"/>
          <c:cat>
            <c:strRef>
              <c:f>Sheet1!$A$2:$A$9</c:f>
              <c:strCache>
                <c:ptCount val="8"/>
                <c:pt idx="0">
                  <c:v>DANN</c:v>
                </c:pt>
                <c:pt idx="1">
                  <c:v>CORAL</c:v>
                </c:pt>
                <c:pt idx="2">
                  <c:v>MMD</c:v>
                </c:pt>
                <c:pt idx="3">
                  <c:v>CARE −align</c:v>
                </c:pt>
                <c:pt idx="4">
                  <c:v>CARE −SSL</c:v>
                </c:pt>
                <c:pt idx="5">
                  <c:v>CARE v1</c:v>
                </c:pt>
                <c:pt idx="6">
                  <c:v>CARE v2</c:v>
                </c:pt>
                <c:pt idx="7">
                  <c:v>Oracle*</c:v>
                </c:pt>
              </c:strCache>
            </c:strRef>
          </c:cat>
          <c:val>
            <c:numRef>
              <c:f>Sheet1!$D$2:$D$9</c:f>
              <c:numCache>
                <c:formatCode>General</c:formatCode>
                <c:ptCount val="8"/>
                <c:pt idx="0">
                  <c:v>-2</c:v>
                </c:pt>
                <c:pt idx="1">
                  <c:v>-2</c:v>
                </c:pt>
                <c:pt idx="2">
                  <c:v>0.5</c:v>
                </c:pt>
                <c:pt idx="3">
                  <c:v>-0.6</c:v>
                </c:pt>
                <c:pt idx="4">
                  <c:v>0.6</c:v>
                </c:pt>
                <c:pt idx="5">
                  <c:v>-0.1</c:v>
                </c:pt>
                <c:pt idx="6">
                  <c:v>1.8</c:v>
                </c:pt>
                <c:pt idx="7">
                  <c:v>2.4</c:v>
                </c:pt>
              </c:numCache>
            </c:numRef>
          </c:val>
          <c:extLst>
            <c:ext xmlns:c16="http://schemas.microsoft.com/office/drawing/2014/chart" uri="{C3380CC4-5D6E-409C-BE32-E72D297353CC}">
              <c16:uniqueId val="{00000002-62AA-44EC-ABA7-7BDBE323FC7B}"/>
            </c:ext>
          </c:extLst>
        </c:ser>
        <c:dLbls>
          <c:showLegendKey val="0"/>
          <c:showVal val="0"/>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F5F65"/>
                </a:solidFill>
                <a:latin typeface="Calibri"/>
              </a:defRPr>
            </a:pPr>
            <a:endParaRPr lang="en-US"/>
          </a:p>
        </c:txPr>
        <c:crossAx val="2094734552"/>
        <c:crosses val="autoZero"/>
        <c:auto val="1"/>
        <c:lblAlgn val="ctr"/>
        <c:lblOffset val="100"/>
        <c:noMultiLvlLbl val="1"/>
      </c:catAx>
      <c:valAx>
        <c:axId val="2094734552"/>
        <c:scaling>
          <c:orientation val="minMax"/>
          <c:max val="12"/>
          <c:min val="-12"/>
        </c:scaling>
        <c:delete val="0"/>
        <c:axPos val="l"/>
        <c:majorGridlines>
          <c:spPr>
            <a:ln w="9525" cap="flat">
              <a:solidFill>
                <a:srgbClr val="E3E8E7"/>
              </a:solidFill>
              <a:prstDash val="solid"/>
              <a:round/>
            </a:ln>
          </c:spPr>
        </c:majorGridlines>
        <c:title>
          <c:tx>
            <c:rich>
              <a:bodyPr/>
              <a:lstStyle/>
              <a:p>
                <a:pPr>
                  <a:defRPr sz="1100" b="0" i="0" u="none" strike="noStrike">
                    <a:solidFill>
                      <a:srgbClr val="4F5F65"/>
                    </a:solidFill>
                    <a:latin typeface="Arial"/>
                  </a:defRPr>
                </a:pPr>
                <a:r>
                  <a:rPr lang="en-US" sz="1100" b="0" i="0" u="none" strike="noStrike">
                    <a:solidFill>
                      <a:srgbClr val="4F5F65"/>
                    </a:solidFill>
                    <a:latin typeface="Arial"/>
                  </a:rPr>
                  <a:t>MSE reduction vs source-only (%), higher is better</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5F65"/>
                </a:solidFill>
                <a:latin typeface="Arial"/>
              </a:defRPr>
            </a:pPr>
            <a:endParaRPr lang="en-US"/>
          </a:p>
        </c:txPr>
        <c:crossAx val="2094734554"/>
        <c:crosses val="autoZero"/>
        <c:crossBetween val="between"/>
        <c:majorUnit val="4"/>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8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prep / mid-project talk, not the final. First cycle: data, LiteTCN, first CARE-DA table. Second half is still open. Then the hook: a model trained in the hills does not know the plains.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breath per item. Frame as a first cycle plus a plan: we have data, a model and a first table, but the method is not locked and the report/demo are still mid-way.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the temperature story from the project brief. Stress the constraint: in the target domain we observe inputs but do not use future values for training — that is what makes it UDA. Mention the finance and energy analogues briefly.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histogram: the two domains barely overlap. Then separate three kinds of shift. The first one is easy (normalisation); the second and third are why we need an adaptation strategy.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lightweight: the brief asks for it, and adaptation is repeated per domain, so it must be cheap. DLinear shows simple models are strong; TCN gives a compact nonlinear encoder whose features we can align; RevIN deals with level shift for free.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equation motivates every term of our loss. Walk left to right: source error, divergence, joint error. The third term is the trap: aligning at any cost can make forecasting impossible, so we add a pretext task and an anchor. The strip at the bottom is our map of the literature: we did not invent a family, we composed complementary pieces.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one takeaway per paper: CoDATS = adversarial; SASA = variable relationships; DAF = forecasting but with labels; CLUDA = contrastive; RAINCOAT = frequency. Then state our niche.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public and reproducible with one script. The climate pair maps directly to the brief (hilly -&gt; plain). Finance maps to the IT -&gt; pharma example. ETT is a standard forecasting benchmark with two stations. Datasets to be confirmed with TAs.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The important design choice is step 5: each domain gets its own scaler, and for the target that only needs unlabeled inputs — legitimate under UDA. Then the leakage guards.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window through the model. Two ideas: (1) the latent z is where we align domains; (2) the reconstruction head gives us a label-free task in the target domain. The linear path keeps a strong DLinear-like baseline inside the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name. Be honest that v1 SSL hurt. Do not say the project is finished: v2 is a follow-up experiment we will confirm over 3 seeds.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deliverable 5, the designed loss. Connect each row to the bound. Mention the weights were fixed, not tuned per dataset, which makes the comparison fair.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we measure. MASE makes domains comparable; gap-closure says whether adaptation is worth it compared with just collecting labels; forgetting checks Domain 1 still works. Right: fairness of the protocol — same checkpoint, same budget, and target labels never used to choose a checkpoint.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this a first campaign. Be honest: full v1 is not the best; −SSL is stronger. v2 looks promising on seed 0 but is not confirmed. That is the work of the second half.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First-campaign reading: alignment helps, DANN/CORAL hurt. Climate's best 3-seed method is still MMD. Energy/finance v2 numbers are seed 0 only — say we will confirm them. Finance has little headroom even for the oracle.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adaptation logs required by the brief. Target MSE is plotted for monitoring only, never used to pick a checkpoint. Three messages: alignment works, Domain 1 is not forgotten, but a smaller feature gap does not guarantee better forecasts. The plot on the right is one Domain 2 window: grey input, black actual, orange dashed source-only, blue adapted.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First campaign taught us SSL hurts and alignment is the core. v2 is a probe, not the locked method. End with: that is why the second half exists.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prototype, then say what is still missing. Do not present this as the final interface.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as mid-project: first cycle is real, nothing is locked. Ask the TAs to verify the datasets. Second half = lock v2, write the report, polish the demo.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follow the course-prescribed format. Wrap up in one sentence: a small forecaster, a label-free adaptation loss, honest metrics, and a clear plan for the second half.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2.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7680960" cy="6858000"/>
          </a:xfrm>
          <a:prstGeom prst="rect">
            <a:avLst/>
          </a:prstGeom>
          <a:solidFill>
            <a:srgbClr val="16232A">
              <a:alpha val="88000"/>
            </a:srgbClr>
          </a:solidFill>
          <a:ln w="12700">
            <a:solidFill>
              <a:srgbClr val="16232A">
                <a:alpha val="0"/>
              </a:srgbClr>
            </a:solidFill>
            <a:prstDash val="solid"/>
          </a:ln>
        </p:spPr>
      </p:sp>
      <p:sp>
        <p:nvSpPr>
          <p:cNvPr id="3" name="Text 1"/>
          <p:cNvSpPr txBox="1"/>
          <p:nvPr/>
        </p:nvSpPr>
        <p:spPr>
          <a:xfrm>
            <a:off x="640080" y="685800"/>
            <a:ext cx="6858000" cy="274320"/>
          </a:xfrm>
          <a:prstGeom prst="rect">
            <a:avLst/>
          </a:prstGeom>
          <a:noFill/>
          <a:ln/>
        </p:spPr>
        <p:txBody>
          <a:bodyPr wrap="square" lIns="0" tIns="0" rIns="0" bIns="0" rtlCol="0" anchor="t"/>
          <a:lstStyle/>
          <a:p>
            <a:pPr marL="0" indent="0">
              <a:buNone/>
            </a:pPr>
            <a:r>
              <a:rPr lang="en-US" sz="1200" b="1" kern="0" spc="200" dirty="0">
                <a:solidFill>
                  <a:srgbClr val="6FB3A6"/>
                </a:solidFill>
                <a:latin typeface="Calibri" pitchFamily="34" charset="0"/>
                <a:ea typeface="Calibri" pitchFamily="34" charset="-122"/>
                <a:cs typeface="Calibri" pitchFamily="34" charset="-120"/>
              </a:rPr>
              <a:t>IE 643 COURSE PROJECT  ·  PREP PRESENTATION  ·  MID-PROJECT STATUS</a:t>
            </a:r>
            <a:endParaRPr lang="en-US" sz="1200" dirty="0"/>
          </a:p>
        </p:txBody>
      </p:sp>
      <p:sp>
        <p:nvSpPr>
          <p:cNvPr id="4" name="Text 2"/>
          <p:cNvSpPr txBox="1"/>
          <p:nvPr/>
        </p:nvSpPr>
        <p:spPr>
          <a:xfrm>
            <a:off x="640080" y="1097280"/>
            <a:ext cx="6766560" cy="21031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Unsupervised Domain Adaptation for Forecasting Multivariate Time-Series Data</a:t>
            </a:r>
            <a:endParaRPr lang="en-US" sz="3800" dirty="0"/>
          </a:p>
        </p:txBody>
      </p:sp>
      <p:sp>
        <p:nvSpPr>
          <p:cNvPr id="5" name="Text 3"/>
          <p:cNvSpPr txBox="1"/>
          <p:nvPr/>
        </p:nvSpPr>
        <p:spPr>
          <a:xfrm>
            <a:off x="640080" y="3246120"/>
            <a:ext cx="6583680" cy="868680"/>
          </a:xfrm>
          <a:prstGeom prst="rect">
            <a:avLst/>
          </a:prstGeom>
          <a:noFill/>
          <a:ln/>
        </p:spPr>
        <p:txBody>
          <a:bodyPr wrap="square" lIns="0" tIns="0" rIns="0" bIns="0" rtlCol="0" anchor="t"/>
          <a:lstStyle/>
          <a:p>
            <a:pPr marL="0" indent="0">
              <a:buNone/>
            </a:pPr>
            <a:r>
              <a:rPr lang="en-US" sz="1500" dirty="0">
                <a:solidFill>
                  <a:srgbClr val="E6F0EE"/>
                </a:solidFill>
                <a:latin typeface="Calibri" pitchFamily="34" charset="0"/>
                <a:ea typeface="Calibri" pitchFamily="34" charset="-122"/>
                <a:cs typeface="Calibri" pitchFamily="34" charset="-120"/>
              </a:rPr>
              <a:t>Progress so far: problem, datasets, a first LiteTCN + CARE-DA campaign, and an interface prototype. The second half locks the method, the report and the final demo.</a:t>
            </a:r>
            <a:endParaRPr lang="en-US" sz="1500" dirty="0"/>
          </a:p>
        </p:txBody>
      </p:sp>
      <p:sp>
        <p:nvSpPr>
          <p:cNvPr id="6" name="Text 4"/>
          <p:cNvSpPr txBox="1"/>
          <p:nvPr/>
        </p:nvSpPr>
        <p:spPr>
          <a:xfrm>
            <a:off x="640080" y="4343400"/>
            <a:ext cx="640080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Team: </a:t>
            </a:r>
            <a:r>
              <a:rPr lang="en-US" sz="1600" b="1" dirty="0" err="1">
                <a:solidFill>
                  <a:srgbClr val="FFFFFF"/>
                </a:solidFill>
                <a:latin typeface="Calibri" pitchFamily="34" charset="0"/>
                <a:ea typeface="Calibri" pitchFamily="34" charset="-122"/>
                <a:cs typeface="Calibri" pitchFamily="34" charset="-120"/>
              </a:rPr>
              <a:t>DeepGen</a:t>
            </a:r>
            <a:endParaRPr lang="en-US" sz="1600" dirty="0"/>
          </a:p>
        </p:txBody>
      </p:sp>
      <p:sp>
        <p:nvSpPr>
          <p:cNvPr id="7" name="Text 5"/>
          <p:cNvSpPr txBox="1"/>
          <p:nvPr/>
        </p:nvSpPr>
        <p:spPr>
          <a:xfrm>
            <a:off x="640080" y="4709160"/>
            <a:ext cx="6400800" cy="1143000"/>
          </a:xfrm>
          <a:prstGeom prst="rect">
            <a:avLst/>
          </a:prstGeom>
          <a:noFill/>
          <a:ln/>
        </p:spPr>
        <p:txBody>
          <a:bodyPr wrap="square" lIns="0" tIns="0" rIns="0" bIns="0" rtlCol="0" anchor="t"/>
          <a:lstStyle/>
          <a:p>
            <a:pPr marL="0" indent="0">
              <a:spcAft>
                <a:spcPts val="300"/>
              </a:spcAft>
              <a:buNone/>
            </a:pPr>
            <a:r>
              <a:rPr lang="en-US" sz="1300" dirty="0">
                <a:solidFill>
                  <a:srgbClr val="E6F0EE"/>
                </a:solidFill>
                <a:latin typeface="Calibri" pitchFamily="34" charset="0"/>
                <a:ea typeface="Calibri" pitchFamily="34" charset="-122"/>
                <a:cs typeface="Calibri" pitchFamily="34" charset="-120"/>
              </a:rPr>
              <a:t>Ayush Patel  —  23B0037</a:t>
            </a:r>
            <a:endParaRPr lang="en-US" sz="1300" dirty="0"/>
          </a:p>
          <a:p>
            <a:pPr marL="0" indent="0">
              <a:spcAft>
                <a:spcPts val="300"/>
              </a:spcAft>
              <a:buNone/>
            </a:pPr>
            <a:r>
              <a:rPr lang="en-US" sz="1300" dirty="0">
                <a:solidFill>
                  <a:srgbClr val="E6F0EE"/>
                </a:solidFill>
                <a:latin typeface="Calibri" pitchFamily="34" charset="0"/>
                <a:ea typeface="Calibri" pitchFamily="34" charset="-122"/>
                <a:cs typeface="Calibri" pitchFamily="34" charset="-120"/>
              </a:rPr>
              <a:t>Rishik Yadav  —  23B</a:t>
            </a:r>
            <a:endParaRPr lang="en-US" sz="1300" dirty="0"/>
          </a:p>
        </p:txBody>
      </p:sp>
      <p:sp>
        <p:nvSpPr>
          <p:cNvPr id="8" name="Text 6"/>
          <p:cNvSpPr txBox="1"/>
          <p:nvPr/>
        </p:nvSpPr>
        <p:spPr>
          <a:xfrm>
            <a:off x="640080" y="6080760"/>
            <a:ext cx="3657600" cy="274320"/>
          </a:xfrm>
          <a:prstGeom prst="rect">
            <a:avLst/>
          </a:prstGeom>
          <a:noFill/>
          <a:ln/>
        </p:spPr>
        <p:txBody>
          <a:bodyPr wrap="square" lIns="0" tIns="0" rIns="0" bIns="0" rtlCol="0" anchor="t"/>
          <a:lstStyle/>
          <a:p>
            <a:pPr marL="0" indent="0">
              <a:buNone/>
            </a:pPr>
            <a:r>
              <a:rPr lang="en-US" sz="1100" dirty="0">
                <a:solidFill>
                  <a:srgbClr val="6FB3A6"/>
                </a:solidFill>
                <a:latin typeface="Calibri" pitchFamily="34" charset="0"/>
                <a:ea typeface="Calibri" pitchFamily="34" charset="-122"/>
                <a:cs typeface="Calibri" pitchFamily="34" charset="-120"/>
              </a:rPr>
              <a:t>September 2026</a:t>
            </a:r>
            <a:endParaRPr lang="en-US" sz="1100" dirty="0"/>
          </a:p>
        </p:txBody>
      </p:sp>
      <p:sp>
        <p:nvSpPr>
          <p:cNvPr id="9" name="Shape 7"/>
          <p:cNvSpPr/>
          <p:nvPr/>
        </p:nvSpPr>
        <p:spPr>
          <a:xfrm>
            <a:off x="8366760" y="5989320"/>
            <a:ext cx="1600200" cy="329184"/>
          </a:xfrm>
          <a:prstGeom prst="roundRect">
            <a:avLst>
              <a:gd name="adj" fmla="val 50000"/>
            </a:avLst>
          </a:prstGeom>
          <a:solidFill>
            <a:srgbClr val="2F7F73"/>
          </a:solidFill>
          <a:ln w="12700">
            <a:solidFill>
              <a:srgbClr val="2F7F73"/>
            </a:solidFill>
            <a:prstDash val="solid"/>
          </a:ln>
        </p:spPr>
      </p:sp>
      <p:sp>
        <p:nvSpPr>
          <p:cNvPr id="10" name="Text 8"/>
          <p:cNvSpPr txBox="1"/>
          <p:nvPr/>
        </p:nvSpPr>
        <p:spPr>
          <a:xfrm>
            <a:off x="8366760" y="5989320"/>
            <a:ext cx="16002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DOMAIN 1  ·  source</a:t>
            </a:r>
            <a:endParaRPr lang="en-US" sz="1100" dirty="0"/>
          </a:p>
        </p:txBody>
      </p:sp>
      <p:sp>
        <p:nvSpPr>
          <p:cNvPr id="11" name="Shape 9"/>
          <p:cNvSpPr/>
          <p:nvPr/>
        </p:nvSpPr>
        <p:spPr>
          <a:xfrm>
            <a:off x="10040112" y="6153912"/>
            <a:ext cx="274320" cy="914"/>
          </a:xfrm>
          <a:prstGeom prst="line">
            <a:avLst/>
          </a:prstGeom>
          <a:noFill/>
          <a:ln w="19050">
            <a:solidFill>
              <a:srgbClr val="FFFFFF"/>
            </a:solidFill>
            <a:prstDash val="solid"/>
            <a:tailEnd type="triangle"/>
          </a:ln>
        </p:spPr>
      </p:sp>
      <p:sp>
        <p:nvSpPr>
          <p:cNvPr id="12" name="Shape 10"/>
          <p:cNvSpPr/>
          <p:nvPr/>
        </p:nvSpPr>
        <p:spPr>
          <a:xfrm>
            <a:off x="10378440" y="5989320"/>
            <a:ext cx="1600200" cy="329184"/>
          </a:xfrm>
          <a:prstGeom prst="roundRect">
            <a:avLst>
              <a:gd name="adj" fmla="val 50000"/>
            </a:avLst>
          </a:prstGeom>
          <a:solidFill>
            <a:srgbClr val="D98A1E"/>
          </a:solidFill>
          <a:ln w="12700">
            <a:solidFill>
              <a:srgbClr val="D98A1E"/>
            </a:solidFill>
            <a:prstDash val="solid"/>
          </a:ln>
        </p:spPr>
      </p:sp>
      <p:sp>
        <p:nvSpPr>
          <p:cNvPr id="13" name="Text 11"/>
          <p:cNvSpPr txBox="1"/>
          <p:nvPr/>
        </p:nvSpPr>
        <p:spPr>
          <a:xfrm>
            <a:off x="10378440" y="5989320"/>
            <a:ext cx="1600200" cy="329184"/>
          </a:xfrm>
          <a:prstGeom prst="rect">
            <a:avLst/>
          </a:prstGeom>
          <a:noFill/>
          <a:ln/>
        </p:spPr>
        <p:txBody>
          <a:bodyPr wrap="square" lIns="0" tIns="0" rIns="0" bIns="0" rtlCol="0" anchor="ctr"/>
          <a:lstStyle/>
          <a:p>
            <a:pPr marL="0" indent="0" algn="ctr">
              <a:buNone/>
            </a:pPr>
            <a:r>
              <a:rPr lang="en-US" sz="1100" b="1" dirty="0">
                <a:solidFill>
                  <a:srgbClr val="16232A"/>
                </a:solidFill>
                <a:latin typeface="Calibri" pitchFamily="34" charset="0"/>
                <a:ea typeface="Calibri" pitchFamily="34" charset="-122"/>
                <a:cs typeface="Calibri" pitchFamily="34" charset="-120"/>
              </a:rPr>
              <a:t>DOMAIN 2  ·  target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ROADMAP OF THIS TALK</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Outline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508760"/>
            <a:ext cx="5349240" cy="987552"/>
          </a:xfrm>
          <a:prstGeom prst="roundRect">
            <a:avLst>
              <a:gd name="adj" fmla="val 7407"/>
            </a:avLst>
          </a:prstGeom>
          <a:solidFill>
            <a:srgbClr val="F1F6F5"/>
          </a:solidFill>
          <a:ln w="12700">
            <a:solidFill>
              <a:srgbClr val="F1F6F5"/>
            </a:solidFill>
            <a:prstDash val="solid"/>
          </a:ln>
        </p:spPr>
      </p:sp>
      <p:sp>
        <p:nvSpPr>
          <p:cNvPr id="6" name="Text 4"/>
          <p:cNvSpPr txBox="1"/>
          <p:nvPr/>
        </p:nvSpPr>
        <p:spPr>
          <a:xfrm>
            <a:off x="777240" y="1636776"/>
            <a:ext cx="822960" cy="731520"/>
          </a:xfrm>
          <a:prstGeom prst="rect">
            <a:avLst/>
          </a:prstGeom>
          <a:noFill/>
          <a:ln/>
        </p:spPr>
        <p:txBody>
          <a:bodyPr wrap="square" lIns="0" tIns="0" rIns="0" bIns="0" rtlCol="0" anchor="ctr"/>
          <a:lstStyle/>
          <a:p>
            <a:pPr marL="0" indent="0">
              <a:buNone/>
            </a:pPr>
            <a:r>
              <a:rPr lang="en-US" sz="3400" b="1" dirty="0">
                <a:solidFill>
                  <a:srgbClr val="2F7F73"/>
                </a:solidFill>
                <a:latin typeface="Cambria" pitchFamily="34" charset="0"/>
                <a:ea typeface="Cambria" pitchFamily="34" charset="-122"/>
                <a:cs typeface="Cambria" pitchFamily="34" charset="-120"/>
              </a:rPr>
              <a:t>01</a:t>
            </a:r>
            <a:endParaRPr lang="en-US" sz="3400" dirty="0"/>
          </a:p>
        </p:txBody>
      </p:sp>
      <p:sp>
        <p:nvSpPr>
          <p:cNvPr id="7" name="Text 5"/>
          <p:cNvSpPr txBox="1"/>
          <p:nvPr/>
        </p:nvSpPr>
        <p:spPr>
          <a:xfrm>
            <a:off x="1645920" y="1664208"/>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Problem understanding</a:t>
            </a:r>
            <a:endParaRPr lang="en-US" sz="1700" dirty="0"/>
          </a:p>
        </p:txBody>
      </p:sp>
      <p:sp>
        <p:nvSpPr>
          <p:cNvPr id="8" name="Text 6"/>
          <p:cNvSpPr txBox="1"/>
          <p:nvPr/>
        </p:nvSpPr>
        <p:spPr>
          <a:xfrm>
            <a:off x="1645920" y="2011680"/>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What changes between domains and why forecasts break</a:t>
            </a:r>
            <a:endParaRPr lang="en-US" sz="1250" dirty="0"/>
          </a:p>
        </p:txBody>
      </p:sp>
      <p:sp>
        <p:nvSpPr>
          <p:cNvPr id="9" name="Shape 7"/>
          <p:cNvSpPr/>
          <p:nvPr/>
        </p:nvSpPr>
        <p:spPr>
          <a:xfrm>
            <a:off x="548640" y="2679192"/>
            <a:ext cx="5349240" cy="987552"/>
          </a:xfrm>
          <a:prstGeom prst="roundRect">
            <a:avLst>
              <a:gd name="adj" fmla="val 7407"/>
            </a:avLst>
          </a:prstGeom>
          <a:solidFill>
            <a:srgbClr val="F1F6F5"/>
          </a:solidFill>
          <a:ln w="12700">
            <a:solidFill>
              <a:srgbClr val="F1F6F5"/>
            </a:solidFill>
            <a:prstDash val="solid"/>
          </a:ln>
        </p:spPr>
      </p:sp>
      <p:sp>
        <p:nvSpPr>
          <p:cNvPr id="10" name="Text 8"/>
          <p:cNvSpPr txBox="1"/>
          <p:nvPr/>
        </p:nvSpPr>
        <p:spPr>
          <a:xfrm>
            <a:off x="777240" y="2807208"/>
            <a:ext cx="822960" cy="731520"/>
          </a:xfrm>
          <a:prstGeom prst="rect">
            <a:avLst/>
          </a:prstGeom>
          <a:noFill/>
          <a:ln/>
        </p:spPr>
        <p:txBody>
          <a:bodyPr wrap="square" lIns="0" tIns="0" rIns="0" bIns="0" rtlCol="0" anchor="ctr"/>
          <a:lstStyle/>
          <a:p>
            <a:pPr marL="0" indent="0">
              <a:buNone/>
            </a:pPr>
            <a:r>
              <a:rPr lang="en-US" sz="3400" b="1" dirty="0">
                <a:solidFill>
                  <a:srgbClr val="D98A1E"/>
                </a:solidFill>
                <a:latin typeface="Cambria" pitchFamily="34" charset="0"/>
                <a:ea typeface="Cambria" pitchFamily="34" charset="-122"/>
                <a:cs typeface="Cambria" pitchFamily="34" charset="-120"/>
              </a:rPr>
              <a:t>02</a:t>
            </a:r>
            <a:endParaRPr lang="en-US" sz="3400" dirty="0"/>
          </a:p>
        </p:txBody>
      </p:sp>
      <p:sp>
        <p:nvSpPr>
          <p:cNvPr id="11" name="Text 9"/>
          <p:cNvSpPr txBox="1"/>
          <p:nvPr/>
        </p:nvSpPr>
        <p:spPr>
          <a:xfrm>
            <a:off x="1645920" y="2834640"/>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Background reading</a:t>
            </a:r>
            <a:endParaRPr lang="en-US" sz="1700" dirty="0"/>
          </a:p>
        </p:txBody>
      </p:sp>
      <p:sp>
        <p:nvSpPr>
          <p:cNvPr id="12" name="Text 10"/>
          <p:cNvSpPr txBox="1"/>
          <p:nvPr/>
        </p:nvSpPr>
        <p:spPr>
          <a:xfrm>
            <a:off x="1645920" y="3182112"/>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Forecasting models, domain-adaptation theory and methods</a:t>
            </a:r>
            <a:endParaRPr lang="en-US" sz="1250" dirty="0"/>
          </a:p>
        </p:txBody>
      </p:sp>
      <p:sp>
        <p:nvSpPr>
          <p:cNvPr id="13" name="Shape 11"/>
          <p:cNvSpPr/>
          <p:nvPr/>
        </p:nvSpPr>
        <p:spPr>
          <a:xfrm>
            <a:off x="548640" y="3849624"/>
            <a:ext cx="5349240" cy="987552"/>
          </a:xfrm>
          <a:prstGeom prst="roundRect">
            <a:avLst>
              <a:gd name="adj" fmla="val 7407"/>
            </a:avLst>
          </a:prstGeom>
          <a:solidFill>
            <a:srgbClr val="F1F6F5"/>
          </a:solidFill>
          <a:ln w="12700">
            <a:solidFill>
              <a:srgbClr val="F1F6F5"/>
            </a:solidFill>
            <a:prstDash val="solid"/>
          </a:ln>
        </p:spPr>
      </p:sp>
      <p:sp>
        <p:nvSpPr>
          <p:cNvPr id="14" name="Text 12"/>
          <p:cNvSpPr txBox="1"/>
          <p:nvPr/>
        </p:nvSpPr>
        <p:spPr>
          <a:xfrm>
            <a:off x="777240" y="3977640"/>
            <a:ext cx="822960" cy="731520"/>
          </a:xfrm>
          <a:prstGeom prst="rect">
            <a:avLst/>
          </a:prstGeom>
          <a:noFill/>
          <a:ln/>
        </p:spPr>
        <p:txBody>
          <a:bodyPr wrap="square" lIns="0" tIns="0" rIns="0" bIns="0" rtlCol="0" anchor="ctr"/>
          <a:lstStyle/>
          <a:p>
            <a:pPr marL="0" indent="0">
              <a:buNone/>
            </a:pPr>
            <a:r>
              <a:rPr lang="en-US" sz="3400" b="1" dirty="0">
                <a:solidFill>
                  <a:srgbClr val="2F7F73"/>
                </a:solidFill>
                <a:latin typeface="Cambria" pitchFamily="34" charset="0"/>
                <a:ea typeface="Cambria" pitchFamily="34" charset="-122"/>
                <a:cs typeface="Cambria" pitchFamily="34" charset="-120"/>
              </a:rPr>
              <a:t>03</a:t>
            </a:r>
            <a:endParaRPr lang="en-US" sz="3400" dirty="0"/>
          </a:p>
        </p:txBody>
      </p:sp>
      <p:sp>
        <p:nvSpPr>
          <p:cNvPr id="15" name="Text 13"/>
          <p:cNvSpPr txBox="1"/>
          <p:nvPr/>
        </p:nvSpPr>
        <p:spPr>
          <a:xfrm>
            <a:off x="1645920" y="4005072"/>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Datasets &amp; preparation</a:t>
            </a:r>
            <a:endParaRPr lang="en-US" sz="1700" dirty="0"/>
          </a:p>
        </p:txBody>
      </p:sp>
      <p:sp>
        <p:nvSpPr>
          <p:cNvPr id="16" name="Text 14"/>
          <p:cNvSpPr txBox="1"/>
          <p:nvPr/>
        </p:nvSpPr>
        <p:spPr>
          <a:xfrm>
            <a:off x="1645920" y="4352544"/>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Three source → target pairs; extraction and curation steps</a:t>
            </a:r>
            <a:endParaRPr lang="en-US" sz="1250" dirty="0"/>
          </a:p>
        </p:txBody>
      </p:sp>
      <p:sp>
        <p:nvSpPr>
          <p:cNvPr id="17" name="Shape 15"/>
          <p:cNvSpPr/>
          <p:nvPr/>
        </p:nvSpPr>
        <p:spPr>
          <a:xfrm>
            <a:off x="548640" y="5020056"/>
            <a:ext cx="5349240" cy="987552"/>
          </a:xfrm>
          <a:prstGeom prst="roundRect">
            <a:avLst>
              <a:gd name="adj" fmla="val 7407"/>
            </a:avLst>
          </a:prstGeom>
          <a:solidFill>
            <a:srgbClr val="F1F6F5"/>
          </a:solidFill>
          <a:ln w="12700">
            <a:solidFill>
              <a:srgbClr val="F1F6F5"/>
            </a:solidFill>
            <a:prstDash val="solid"/>
          </a:ln>
        </p:spPr>
      </p:sp>
      <p:sp>
        <p:nvSpPr>
          <p:cNvPr id="18" name="Text 16"/>
          <p:cNvSpPr txBox="1"/>
          <p:nvPr/>
        </p:nvSpPr>
        <p:spPr>
          <a:xfrm>
            <a:off x="777240" y="5148072"/>
            <a:ext cx="822960" cy="731520"/>
          </a:xfrm>
          <a:prstGeom prst="rect">
            <a:avLst/>
          </a:prstGeom>
          <a:noFill/>
          <a:ln/>
        </p:spPr>
        <p:txBody>
          <a:bodyPr wrap="square" lIns="0" tIns="0" rIns="0" bIns="0" rtlCol="0" anchor="ctr"/>
          <a:lstStyle/>
          <a:p>
            <a:pPr marL="0" indent="0">
              <a:buNone/>
            </a:pPr>
            <a:r>
              <a:rPr lang="en-US" sz="3400" b="1" dirty="0">
                <a:solidFill>
                  <a:srgbClr val="D98A1E"/>
                </a:solidFill>
                <a:latin typeface="Cambria" pitchFamily="34" charset="0"/>
                <a:ea typeface="Cambria" pitchFamily="34" charset="-122"/>
                <a:cs typeface="Cambria" pitchFamily="34" charset="-120"/>
              </a:rPr>
              <a:t>04</a:t>
            </a:r>
            <a:endParaRPr lang="en-US" sz="3400" dirty="0"/>
          </a:p>
        </p:txBody>
      </p:sp>
      <p:sp>
        <p:nvSpPr>
          <p:cNvPr id="19" name="Text 17"/>
          <p:cNvSpPr txBox="1"/>
          <p:nvPr/>
        </p:nvSpPr>
        <p:spPr>
          <a:xfrm>
            <a:off x="1645920" y="5175504"/>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Lightweight forecaster</a:t>
            </a:r>
            <a:endParaRPr lang="en-US" sz="1700" dirty="0"/>
          </a:p>
        </p:txBody>
      </p:sp>
      <p:sp>
        <p:nvSpPr>
          <p:cNvPr id="20" name="Text 18"/>
          <p:cNvSpPr txBox="1"/>
          <p:nvPr/>
        </p:nvSpPr>
        <p:spPr>
          <a:xfrm>
            <a:off x="1645920" y="5522976"/>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LiteTCN: RevIN + dilated convolutions + linear path</a:t>
            </a:r>
            <a:endParaRPr lang="en-US" sz="1250" dirty="0"/>
          </a:p>
        </p:txBody>
      </p:sp>
      <p:sp>
        <p:nvSpPr>
          <p:cNvPr id="21" name="Shape 19"/>
          <p:cNvSpPr/>
          <p:nvPr/>
        </p:nvSpPr>
        <p:spPr>
          <a:xfrm>
            <a:off x="6217920" y="1508760"/>
            <a:ext cx="5349240" cy="987552"/>
          </a:xfrm>
          <a:prstGeom prst="roundRect">
            <a:avLst>
              <a:gd name="adj" fmla="val 7407"/>
            </a:avLst>
          </a:prstGeom>
          <a:solidFill>
            <a:srgbClr val="F1F6F5"/>
          </a:solidFill>
          <a:ln w="12700">
            <a:solidFill>
              <a:srgbClr val="F1F6F5"/>
            </a:solidFill>
            <a:prstDash val="solid"/>
          </a:ln>
        </p:spPr>
      </p:sp>
      <p:sp>
        <p:nvSpPr>
          <p:cNvPr id="22" name="Text 20"/>
          <p:cNvSpPr txBox="1"/>
          <p:nvPr/>
        </p:nvSpPr>
        <p:spPr>
          <a:xfrm>
            <a:off x="6446520" y="1636776"/>
            <a:ext cx="822960" cy="731520"/>
          </a:xfrm>
          <a:prstGeom prst="rect">
            <a:avLst/>
          </a:prstGeom>
          <a:noFill/>
          <a:ln/>
        </p:spPr>
        <p:txBody>
          <a:bodyPr wrap="square" lIns="0" tIns="0" rIns="0" bIns="0" rtlCol="0" anchor="ctr"/>
          <a:lstStyle/>
          <a:p>
            <a:pPr marL="0" indent="0">
              <a:buNone/>
            </a:pPr>
            <a:r>
              <a:rPr lang="en-US" sz="3400" b="1" dirty="0">
                <a:solidFill>
                  <a:srgbClr val="2F7F73"/>
                </a:solidFill>
                <a:latin typeface="Cambria" pitchFamily="34" charset="0"/>
                <a:ea typeface="Cambria" pitchFamily="34" charset="-122"/>
                <a:cs typeface="Cambria" pitchFamily="34" charset="-120"/>
              </a:rPr>
              <a:t>05</a:t>
            </a:r>
            <a:endParaRPr lang="en-US" sz="3400" dirty="0"/>
          </a:p>
        </p:txBody>
      </p:sp>
      <p:sp>
        <p:nvSpPr>
          <p:cNvPr id="23" name="Text 21"/>
          <p:cNvSpPr txBox="1"/>
          <p:nvPr/>
        </p:nvSpPr>
        <p:spPr>
          <a:xfrm>
            <a:off x="7315200" y="1664208"/>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CARE-DA strategy &amp; loss</a:t>
            </a:r>
            <a:endParaRPr lang="en-US" sz="1700" dirty="0"/>
          </a:p>
        </p:txBody>
      </p:sp>
      <p:sp>
        <p:nvSpPr>
          <p:cNvPr id="24" name="Text 22"/>
          <p:cNvSpPr txBox="1"/>
          <p:nvPr/>
        </p:nvSpPr>
        <p:spPr>
          <a:xfrm>
            <a:off x="7315200" y="2011680"/>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v1 design; v2 is a first follow-up, not locked</a:t>
            </a:r>
            <a:endParaRPr lang="en-US" sz="1250" dirty="0"/>
          </a:p>
        </p:txBody>
      </p:sp>
      <p:sp>
        <p:nvSpPr>
          <p:cNvPr id="25" name="Shape 23"/>
          <p:cNvSpPr/>
          <p:nvPr/>
        </p:nvSpPr>
        <p:spPr>
          <a:xfrm>
            <a:off x="6217920" y="2679192"/>
            <a:ext cx="5349240" cy="987552"/>
          </a:xfrm>
          <a:prstGeom prst="roundRect">
            <a:avLst>
              <a:gd name="adj" fmla="val 7407"/>
            </a:avLst>
          </a:prstGeom>
          <a:solidFill>
            <a:srgbClr val="F1F6F5"/>
          </a:solidFill>
          <a:ln w="12700">
            <a:solidFill>
              <a:srgbClr val="F1F6F5"/>
            </a:solidFill>
            <a:prstDash val="solid"/>
          </a:ln>
        </p:spPr>
      </p:sp>
      <p:sp>
        <p:nvSpPr>
          <p:cNvPr id="26" name="Text 24"/>
          <p:cNvSpPr txBox="1"/>
          <p:nvPr/>
        </p:nvSpPr>
        <p:spPr>
          <a:xfrm>
            <a:off x="6446520" y="2807208"/>
            <a:ext cx="822960" cy="731520"/>
          </a:xfrm>
          <a:prstGeom prst="rect">
            <a:avLst/>
          </a:prstGeom>
          <a:noFill/>
          <a:ln/>
        </p:spPr>
        <p:txBody>
          <a:bodyPr wrap="square" lIns="0" tIns="0" rIns="0" bIns="0" rtlCol="0" anchor="ctr"/>
          <a:lstStyle/>
          <a:p>
            <a:pPr marL="0" indent="0">
              <a:buNone/>
            </a:pPr>
            <a:r>
              <a:rPr lang="en-US" sz="3400" b="1" dirty="0">
                <a:solidFill>
                  <a:srgbClr val="D98A1E"/>
                </a:solidFill>
                <a:latin typeface="Cambria" pitchFamily="34" charset="0"/>
                <a:ea typeface="Cambria" pitchFamily="34" charset="-122"/>
                <a:cs typeface="Cambria" pitchFamily="34" charset="-120"/>
              </a:rPr>
              <a:t>06</a:t>
            </a:r>
            <a:endParaRPr lang="en-US" sz="3400" dirty="0"/>
          </a:p>
        </p:txBody>
      </p:sp>
      <p:sp>
        <p:nvSpPr>
          <p:cNvPr id="27" name="Text 25"/>
          <p:cNvSpPr txBox="1"/>
          <p:nvPr/>
        </p:nvSpPr>
        <p:spPr>
          <a:xfrm>
            <a:off x="7315200" y="2834640"/>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Metrics &amp; protocol</a:t>
            </a:r>
            <a:endParaRPr lang="en-US" sz="1700" dirty="0"/>
          </a:p>
        </p:txBody>
      </p:sp>
      <p:sp>
        <p:nvSpPr>
          <p:cNvPr id="28" name="Text 26"/>
          <p:cNvSpPr txBox="1"/>
          <p:nvPr/>
        </p:nvSpPr>
        <p:spPr>
          <a:xfrm>
            <a:off x="7315200" y="3182112"/>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What we measure and how the runs were set up</a:t>
            </a:r>
            <a:endParaRPr lang="en-US" sz="1250" dirty="0"/>
          </a:p>
        </p:txBody>
      </p:sp>
      <p:sp>
        <p:nvSpPr>
          <p:cNvPr id="29" name="Shape 27"/>
          <p:cNvSpPr/>
          <p:nvPr/>
        </p:nvSpPr>
        <p:spPr>
          <a:xfrm>
            <a:off x="6217920" y="3849624"/>
            <a:ext cx="5349240" cy="987552"/>
          </a:xfrm>
          <a:prstGeom prst="roundRect">
            <a:avLst>
              <a:gd name="adj" fmla="val 7407"/>
            </a:avLst>
          </a:prstGeom>
          <a:solidFill>
            <a:srgbClr val="F1F6F5"/>
          </a:solidFill>
          <a:ln w="12700">
            <a:solidFill>
              <a:srgbClr val="F1F6F5"/>
            </a:solidFill>
            <a:prstDash val="solid"/>
          </a:ln>
        </p:spPr>
      </p:sp>
      <p:sp>
        <p:nvSpPr>
          <p:cNvPr id="30" name="Text 28"/>
          <p:cNvSpPr txBox="1"/>
          <p:nvPr/>
        </p:nvSpPr>
        <p:spPr>
          <a:xfrm>
            <a:off x="6446520" y="3977640"/>
            <a:ext cx="822960" cy="731520"/>
          </a:xfrm>
          <a:prstGeom prst="rect">
            <a:avLst/>
          </a:prstGeom>
          <a:noFill/>
          <a:ln/>
        </p:spPr>
        <p:txBody>
          <a:bodyPr wrap="square" lIns="0" tIns="0" rIns="0" bIns="0" rtlCol="0" anchor="ctr"/>
          <a:lstStyle/>
          <a:p>
            <a:pPr marL="0" indent="0">
              <a:buNone/>
            </a:pPr>
            <a:r>
              <a:rPr lang="en-US" sz="3400" b="1" dirty="0">
                <a:solidFill>
                  <a:srgbClr val="2F7F73"/>
                </a:solidFill>
                <a:latin typeface="Cambria" pitchFamily="34" charset="0"/>
                <a:ea typeface="Cambria" pitchFamily="34" charset="-122"/>
                <a:cs typeface="Cambria" pitchFamily="34" charset="-120"/>
              </a:rPr>
              <a:t>07</a:t>
            </a:r>
            <a:endParaRPr lang="en-US" sz="3400" dirty="0"/>
          </a:p>
        </p:txBody>
      </p:sp>
      <p:sp>
        <p:nvSpPr>
          <p:cNvPr id="31" name="Text 29"/>
          <p:cNvSpPr txBox="1"/>
          <p:nvPr/>
        </p:nvSpPr>
        <p:spPr>
          <a:xfrm>
            <a:off x="7315200" y="4005072"/>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First experiments</a:t>
            </a:r>
            <a:endParaRPr lang="en-US" sz="1700" dirty="0"/>
          </a:p>
        </p:txBody>
      </p:sp>
      <p:sp>
        <p:nvSpPr>
          <p:cNvPr id="32" name="Text 30"/>
          <p:cNvSpPr txBox="1"/>
          <p:nvPr/>
        </p:nvSpPr>
        <p:spPr>
          <a:xfrm>
            <a:off x="7315200" y="4352544"/>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3-seed v1 campaign + seed-0 v2 probe</a:t>
            </a:r>
            <a:endParaRPr lang="en-US" sz="1250" dirty="0"/>
          </a:p>
        </p:txBody>
      </p:sp>
      <p:sp>
        <p:nvSpPr>
          <p:cNvPr id="33" name="Shape 31"/>
          <p:cNvSpPr/>
          <p:nvPr/>
        </p:nvSpPr>
        <p:spPr>
          <a:xfrm>
            <a:off x="6217920" y="5020056"/>
            <a:ext cx="5349240" cy="987552"/>
          </a:xfrm>
          <a:prstGeom prst="roundRect">
            <a:avLst>
              <a:gd name="adj" fmla="val 7407"/>
            </a:avLst>
          </a:prstGeom>
          <a:solidFill>
            <a:srgbClr val="F1F6F5"/>
          </a:solidFill>
          <a:ln w="12700">
            <a:solidFill>
              <a:srgbClr val="F1F6F5"/>
            </a:solidFill>
            <a:prstDash val="solid"/>
          </a:ln>
        </p:spPr>
      </p:sp>
      <p:sp>
        <p:nvSpPr>
          <p:cNvPr id="34" name="Text 32"/>
          <p:cNvSpPr txBox="1"/>
          <p:nvPr/>
        </p:nvSpPr>
        <p:spPr>
          <a:xfrm>
            <a:off x="6446520" y="5148072"/>
            <a:ext cx="822960" cy="731520"/>
          </a:xfrm>
          <a:prstGeom prst="rect">
            <a:avLst/>
          </a:prstGeom>
          <a:noFill/>
          <a:ln/>
        </p:spPr>
        <p:txBody>
          <a:bodyPr wrap="square" lIns="0" tIns="0" rIns="0" bIns="0" rtlCol="0" anchor="ctr"/>
          <a:lstStyle/>
          <a:p>
            <a:pPr marL="0" indent="0">
              <a:buNone/>
            </a:pPr>
            <a:r>
              <a:rPr lang="en-US" sz="3400" b="1" dirty="0">
                <a:solidFill>
                  <a:srgbClr val="D98A1E"/>
                </a:solidFill>
                <a:latin typeface="Cambria" pitchFamily="34" charset="0"/>
                <a:ea typeface="Cambria" pitchFamily="34" charset="-122"/>
                <a:cs typeface="Cambria" pitchFamily="34" charset="-120"/>
              </a:rPr>
              <a:t>08</a:t>
            </a:r>
            <a:endParaRPr lang="en-US" sz="3400" dirty="0"/>
          </a:p>
        </p:txBody>
      </p:sp>
      <p:sp>
        <p:nvSpPr>
          <p:cNvPr id="35" name="Text 33"/>
          <p:cNvSpPr txBox="1"/>
          <p:nvPr/>
        </p:nvSpPr>
        <p:spPr>
          <a:xfrm>
            <a:off x="7315200" y="5175504"/>
            <a:ext cx="4114800" cy="365760"/>
          </a:xfrm>
          <a:prstGeom prst="rect">
            <a:avLst/>
          </a:prstGeom>
          <a:noFill/>
          <a:ln/>
        </p:spPr>
        <p:txBody>
          <a:bodyPr wrap="square" lIns="0" tIns="0" rIns="0" bIns="0" rtlCol="0" anchor="t"/>
          <a:lstStyle/>
          <a:p>
            <a:pPr marL="0" indent="0">
              <a:buNone/>
            </a:pPr>
            <a:r>
              <a:rPr lang="en-US" sz="1700" b="1" dirty="0">
                <a:solidFill>
                  <a:srgbClr val="1B2B31"/>
                </a:solidFill>
                <a:latin typeface="Calibri" pitchFamily="34" charset="0"/>
                <a:ea typeface="Calibri" pitchFamily="34" charset="-122"/>
                <a:cs typeface="Calibri" pitchFamily="34" charset="-120"/>
              </a:rPr>
              <a:t>Prototype &amp; remaining work</a:t>
            </a:r>
            <a:endParaRPr lang="en-US" sz="1700" dirty="0"/>
          </a:p>
        </p:txBody>
      </p:sp>
      <p:sp>
        <p:nvSpPr>
          <p:cNvPr id="36" name="Text 34"/>
          <p:cNvSpPr txBox="1"/>
          <p:nvPr/>
        </p:nvSpPr>
        <p:spPr>
          <a:xfrm>
            <a:off x="7315200" y="5522976"/>
            <a:ext cx="4114800" cy="36576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Interface v1, open questions, second-half plan</a:t>
            </a:r>
            <a:endParaRPr lang="en-US" sz="1250" dirty="0"/>
          </a:p>
        </p:txBody>
      </p:sp>
      <p:sp>
        <p:nvSpPr>
          <p:cNvPr id="3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01 · PROBLEM UNDERSTANDING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Train on one domain, forecast well in another</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3749040" cy="2651760"/>
          </a:xfrm>
          <a:prstGeom prst="roundRect">
            <a:avLst>
              <a:gd name="adj" fmla="val 2759"/>
            </a:avLst>
          </a:prstGeom>
          <a:solidFill>
            <a:srgbClr val="E6F0EE"/>
          </a:solidFill>
          <a:ln w="12700">
            <a:solidFill>
              <a:srgbClr val="E6F0EE"/>
            </a:solidFill>
            <a:prstDash val="solid"/>
          </a:ln>
        </p:spPr>
      </p:sp>
      <p:sp>
        <p:nvSpPr>
          <p:cNvPr id="6" name="Shape 4"/>
          <p:cNvSpPr/>
          <p:nvPr/>
        </p:nvSpPr>
        <p:spPr>
          <a:xfrm>
            <a:off x="777240" y="1664208"/>
            <a:ext cx="566928" cy="566928"/>
          </a:xfrm>
          <a:prstGeom prst="ellipse">
            <a:avLst/>
          </a:prstGeom>
          <a:solidFill>
            <a:srgbClr val="2F7F73"/>
          </a:solidFill>
          <a:ln w="12700">
            <a:solidFill>
              <a:srgbClr val="2F7F73"/>
            </a:solidFill>
            <a:prstDash val="solid"/>
          </a:ln>
        </p:spPr>
      </p:sp>
      <p:pic>
        <p:nvPicPr>
          <p:cNvPr id="7" name="Image 0" descr="preencoded.png"/>
          <p:cNvPicPr>
            <a:picLocks noChangeAspect="1"/>
          </p:cNvPicPr>
          <p:nvPr/>
        </p:nvPicPr>
        <p:blipFill>
          <a:blip r:embed="rId4"/>
          <a:stretch>
            <a:fillRect/>
          </a:stretch>
        </p:blipFill>
        <p:spPr>
          <a:xfrm>
            <a:off x="924641" y="1811609"/>
            <a:ext cx="272125" cy="272125"/>
          </a:xfrm>
          <a:prstGeom prst="rect">
            <a:avLst/>
          </a:prstGeom>
        </p:spPr>
      </p:pic>
      <p:sp>
        <p:nvSpPr>
          <p:cNvPr id="8" name="Text 5"/>
          <p:cNvSpPr txBox="1"/>
          <p:nvPr/>
        </p:nvSpPr>
        <p:spPr>
          <a:xfrm>
            <a:off x="1481328" y="1691640"/>
            <a:ext cx="2743200" cy="274320"/>
          </a:xfrm>
          <a:prstGeom prst="rect">
            <a:avLst/>
          </a:prstGeom>
          <a:noFill/>
          <a:ln/>
        </p:spPr>
        <p:txBody>
          <a:bodyPr wrap="square" lIns="0" tIns="0" rIns="0" bIns="0" rtlCol="0" anchor="t"/>
          <a:lstStyle/>
          <a:p>
            <a:pPr marL="0" indent="0">
              <a:buNone/>
            </a:pPr>
            <a:r>
              <a:rPr lang="en-US" sz="1200" b="1" dirty="0">
                <a:solidFill>
                  <a:srgbClr val="2F7F73"/>
                </a:solidFill>
                <a:latin typeface="Calibri" pitchFamily="34" charset="0"/>
                <a:ea typeface="Calibri" pitchFamily="34" charset="-122"/>
                <a:cs typeface="Calibri" pitchFamily="34" charset="-120"/>
              </a:rPr>
              <a:t>Domain 1 — source</a:t>
            </a:r>
            <a:endParaRPr lang="en-US" sz="1200" dirty="0"/>
          </a:p>
        </p:txBody>
      </p:sp>
      <p:sp>
        <p:nvSpPr>
          <p:cNvPr id="9" name="Text 6"/>
          <p:cNvSpPr txBox="1"/>
          <p:nvPr/>
        </p:nvSpPr>
        <p:spPr>
          <a:xfrm>
            <a:off x="1481328" y="1947672"/>
            <a:ext cx="2743200" cy="320040"/>
          </a:xfrm>
          <a:prstGeom prst="rect">
            <a:avLst/>
          </a:prstGeom>
          <a:noFill/>
          <a:ln/>
        </p:spPr>
        <p:txBody>
          <a:bodyPr wrap="square" lIns="0" tIns="0" rIns="0" bIns="0" rtlCol="0" anchor="t"/>
          <a:lstStyle/>
          <a:p>
            <a:pPr marL="0" indent="0">
              <a:buNone/>
            </a:pPr>
            <a:r>
              <a:rPr lang="en-US" sz="1600" b="1" dirty="0">
                <a:solidFill>
                  <a:srgbClr val="1B2B31"/>
                </a:solidFill>
                <a:latin typeface="Calibri" pitchFamily="34" charset="0"/>
                <a:ea typeface="Calibri" pitchFamily="34" charset="-122"/>
                <a:cs typeface="Calibri" pitchFamily="34" charset="-120"/>
              </a:rPr>
              <a:t>Hilly region (Shimla)</a:t>
            </a:r>
            <a:endParaRPr lang="en-US" sz="1600" dirty="0"/>
          </a:p>
        </p:txBody>
      </p:sp>
      <p:sp>
        <p:nvSpPr>
          <p:cNvPr id="10" name="Text 7"/>
          <p:cNvSpPr txBox="1"/>
          <p:nvPr/>
        </p:nvSpPr>
        <p:spPr>
          <a:xfrm>
            <a:off x="777240" y="2514600"/>
            <a:ext cx="33832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Past window x and future y both available</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Train forecaster f_θ : x → ŷ</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Years of labeled history</a:t>
            </a:r>
            <a:endParaRPr lang="en-US" sz="1300" dirty="0"/>
          </a:p>
        </p:txBody>
      </p:sp>
      <p:sp>
        <p:nvSpPr>
          <p:cNvPr id="11" name="Shape 8"/>
          <p:cNvSpPr/>
          <p:nvPr/>
        </p:nvSpPr>
        <p:spPr>
          <a:xfrm>
            <a:off x="4434840" y="2788920"/>
            <a:ext cx="914400" cy="914"/>
          </a:xfrm>
          <a:prstGeom prst="line">
            <a:avLst/>
          </a:prstGeom>
          <a:noFill/>
          <a:ln w="25400">
            <a:solidFill>
              <a:srgbClr val="1B2B31"/>
            </a:solidFill>
            <a:prstDash val="solid"/>
            <a:tailEnd type="triangle"/>
          </a:ln>
        </p:spPr>
      </p:sp>
      <p:sp>
        <p:nvSpPr>
          <p:cNvPr id="12" name="Text 9"/>
          <p:cNvSpPr txBox="1"/>
          <p:nvPr/>
        </p:nvSpPr>
        <p:spPr>
          <a:xfrm>
            <a:off x="4297680" y="2926080"/>
            <a:ext cx="1188720" cy="548640"/>
          </a:xfrm>
          <a:prstGeom prst="rect">
            <a:avLst/>
          </a:prstGeom>
          <a:noFill/>
          <a:ln/>
        </p:spPr>
        <p:txBody>
          <a:bodyPr wrap="square" lIns="0" tIns="0" rIns="0" bIns="0" rtlCol="0" anchor="t"/>
          <a:lstStyle/>
          <a:p>
            <a:pPr marL="0" indent="0" algn="ctr">
              <a:buNone/>
            </a:pPr>
            <a:r>
              <a:rPr lang="en-US" sz="1100" dirty="0">
                <a:solidFill>
                  <a:srgbClr val="4F5F65"/>
                </a:solidFill>
                <a:latin typeface="Calibri" pitchFamily="34" charset="0"/>
                <a:ea typeface="Calibri" pitchFamily="34" charset="-122"/>
                <a:cs typeface="Calibri" pitchFamily="34" charset="-120"/>
              </a:rPr>
              <a:t>adapt</a:t>
            </a:r>
            <a:endParaRPr lang="en-US" sz="1100" dirty="0"/>
          </a:p>
          <a:p>
            <a:pPr marL="0" indent="0" algn="ctr">
              <a:buNone/>
            </a:pPr>
            <a:r>
              <a:rPr lang="en-US" sz="1100" dirty="0">
                <a:solidFill>
                  <a:srgbClr val="4F5F65"/>
                </a:solidFill>
                <a:latin typeface="Calibri" pitchFamily="34" charset="0"/>
                <a:ea typeface="Calibri" pitchFamily="34" charset="-122"/>
                <a:cs typeface="Calibri" pitchFamily="34" charset="-120"/>
              </a:rPr>
              <a:t>(no target labels)</a:t>
            </a:r>
            <a:endParaRPr lang="en-US" sz="1100" dirty="0"/>
          </a:p>
        </p:txBody>
      </p:sp>
      <p:sp>
        <p:nvSpPr>
          <p:cNvPr id="13" name="Shape 10"/>
          <p:cNvSpPr/>
          <p:nvPr/>
        </p:nvSpPr>
        <p:spPr>
          <a:xfrm>
            <a:off x="5486400" y="1463040"/>
            <a:ext cx="3749040" cy="2651760"/>
          </a:xfrm>
          <a:prstGeom prst="roundRect">
            <a:avLst>
              <a:gd name="adj" fmla="val 2759"/>
            </a:avLst>
          </a:prstGeom>
          <a:solidFill>
            <a:srgbClr val="FBEBD3"/>
          </a:solidFill>
          <a:ln w="12700">
            <a:solidFill>
              <a:srgbClr val="FBEBD3"/>
            </a:solidFill>
            <a:prstDash val="solid"/>
          </a:ln>
        </p:spPr>
      </p:sp>
      <p:sp>
        <p:nvSpPr>
          <p:cNvPr id="14" name="Shape 11"/>
          <p:cNvSpPr/>
          <p:nvPr/>
        </p:nvSpPr>
        <p:spPr>
          <a:xfrm>
            <a:off x="5715000" y="1664208"/>
            <a:ext cx="566928" cy="566928"/>
          </a:xfrm>
          <a:prstGeom prst="ellipse">
            <a:avLst/>
          </a:prstGeom>
          <a:solidFill>
            <a:srgbClr val="D98A1E"/>
          </a:solidFill>
          <a:ln w="12700">
            <a:solidFill>
              <a:srgbClr val="D98A1E"/>
            </a:solidFill>
            <a:prstDash val="solid"/>
          </a:ln>
        </p:spPr>
      </p:sp>
      <p:pic>
        <p:nvPicPr>
          <p:cNvPr id="15" name="Image 1" descr="preencoded.png"/>
          <p:cNvPicPr>
            <a:picLocks noChangeAspect="1"/>
          </p:cNvPicPr>
          <p:nvPr/>
        </p:nvPicPr>
        <p:blipFill>
          <a:blip r:embed="rId5"/>
          <a:stretch>
            <a:fillRect/>
          </a:stretch>
        </p:blipFill>
        <p:spPr>
          <a:xfrm>
            <a:off x="5862401" y="1811609"/>
            <a:ext cx="272125" cy="272125"/>
          </a:xfrm>
          <a:prstGeom prst="rect">
            <a:avLst/>
          </a:prstGeom>
        </p:spPr>
      </p:pic>
      <p:sp>
        <p:nvSpPr>
          <p:cNvPr id="16" name="Text 12"/>
          <p:cNvSpPr txBox="1"/>
          <p:nvPr/>
        </p:nvSpPr>
        <p:spPr>
          <a:xfrm>
            <a:off x="6419088" y="1691640"/>
            <a:ext cx="2743200" cy="274320"/>
          </a:xfrm>
          <a:prstGeom prst="rect">
            <a:avLst/>
          </a:prstGeom>
          <a:noFill/>
          <a:ln/>
        </p:spPr>
        <p:txBody>
          <a:bodyPr wrap="square" lIns="0" tIns="0" rIns="0" bIns="0" rtlCol="0" anchor="t"/>
          <a:lstStyle/>
          <a:p>
            <a:pPr marL="0" indent="0">
              <a:buNone/>
            </a:pPr>
            <a:r>
              <a:rPr lang="en-US" sz="1200" b="1" dirty="0">
                <a:solidFill>
                  <a:srgbClr val="A5650F"/>
                </a:solidFill>
                <a:latin typeface="Calibri" pitchFamily="34" charset="0"/>
                <a:ea typeface="Calibri" pitchFamily="34" charset="-122"/>
                <a:cs typeface="Calibri" pitchFamily="34" charset="-120"/>
              </a:rPr>
              <a:t>Domain 2 — target</a:t>
            </a:r>
            <a:endParaRPr lang="en-US" sz="1200" dirty="0"/>
          </a:p>
        </p:txBody>
      </p:sp>
      <p:sp>
        <p:nvSpPr>
          <p:cNvPr id="17" name="Text 13"/>
          <p:cNvSpPr txBox="1"/>
          <p:nvPr/>
        </p:nvSpPr>
        <p:spPr>
          <a:xfrm>
            <a:off x="6419088" y="1947672"/>
            <a:ext cx="2743200" cy="320040"/>
          </a:xfrm>
          <a:prstGeom prst="rect">
            <a:avLst/>
          </a:prstGeom>
          <a:noFill/>
          <a:ln/>
        </p:spPr>
        <p:txBody>
          <a:bodyPr wrap="square" lIns="0" tIns="0" rIns="0" bIns="0" rtlCol="0" anchor="t"/>
          <a:lstStyle/>
          <a:p>
            <a:pPr marL="0" indent="0">
              <a:buNone/>
            </a:pPr>
            <a:r>
              <a:rPr lang="en-US" sz="1600" b="1" dirty="0">
                <a:solidFill>
                  <a:srgbClr val="1B2B31"/>
                </a:solidFill>
                <a:latin typeface="Calibri" pitchFamily="34" charset="0"/>
                <a:ea typeface="Calibri" pitchFamily="34" charset="-122"/>
                <a:cs typeface="Calibri" pitchFamily="34" charset="-120"/>
              </a:rPr>
              <a:t>Plain region (Delhi)</a:t>
            </a:r>
            <a:endParaRPr lang="en-US" sz="1600" dirty="0"/>
          </a:p>
        </p:txBody>
      </p:sp>
      <p:sp>
        <p:nvSpPr>
          <p:cNvPr id="18" name="Text 14"/>
          <p:cNvSpPr txBox="1"/>
          <p:nvPr/>
        </p:nvSpPr>
        <p:spPr>
          <a:xfrm>
            <a:off x="5715000" y="2514600"/>
            <a:ext cx="33832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Only input windows x available</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Different level, cycles, correlations</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Goal: adapted f_θ' with low target error</a:t>
            </a:r>
            <a:endParaRPr lang="en-US" sz="1300" dirty="0"/>
          </a:p>
        </p:txBody>
      </p:sp>
      <p:sp>
        <p:nvSpPr>
          <p:cNvPr id="19" name="Shape 15"/>
          <p:cNvSpPr/>
          <p:nvPr/>
        </p:nvSpPr>
        <p:spPr>
          <a:xfrm>
            <a:off x="9509760" y="1463040"/>
            <a:ext cx="2130552" cy="2651760"/>
          </a:xfrm>
          <a:prstGeom prst="roundRect">
            <a:avLst>
              <a:gd name="adj" fmla="val 3433"/>
            </a:avLst>
          </a:prstGeom>
          <a:solidFill>
            <a:srgbClr val="F1F6F5"/>
          </a:solidFill>
          <a:ln w="12700">
            <a:solidFill>
              <a:srgbClr val="F1F6F5"/>
            </a:solidFill>
            <a:prstDash val="solid"/>
          </a:ln>
        </p:spPr>
      </p:sp>
      <p:sp>
        <p:nvSpPr>
          <p:cNvPr id="20" name="Text 16"/>
          <p:cNvSpPr txBox="1"/>
          <p:nvPr/>
        </p:nvSpPr>
        <p:spPr>
          <a:xfrm>
            <a:off x="9674352" y="1627632"/>
            <a:ext cx="1828800" cy="274320"/>
          </a:xfrm>
          <a:prstGeom prst="rect">
            <a:avLst/>
          </a:prstGeom>
          <a:noFill/>
          <a:ln/>
        </p:spPr>
        <p:txBody>
          <a:bodyPr wrap="square" lIns="0" tIns="0" rIns="0" bIns="0" rtlCol="0" anchor="t"/>
          <a:lstStyle/>
          <a:p>
            <a:pPr marL="0" indent="0">
              <a:buNone/>
            </a:pPr>
            <a:r>
              <a:rPr lang="en-US" sz="1200" b="1" dirty="0">
                <a:solidFill>
                  <a:srgbClr val="2F7F73"/>
                </a:solidFill>
                <a:latin typeface="Calibri" pitchFamily="34" charset="0"/>
                <a:ea typeface="Calibri" pitchFamily="34" charset="-122"/>
                <a:cs typeface="Calibri" pitchFamily="34" charset="-120"/>
              </a:rPr>
              <a:t>Same pattern elsewhere</a:t>
            </a:r>
            <a:endParaRPr lang="en-US" sz="1200" dirty="0"/>
          </a:p>
        </p:txBody>
      </p:sp>
      <p:sp>
        <p:nvSpPr>
          <p:cNvPr id="21" name="Shape 17"/>
          <p:cNvSpPr/>
          <p:nvPr/>
        </p:nvSpPr>
        <p:spPr>
          <a:xfrm>
            <a:off x="9692640" y="2057400"/>
            <a:ext cx="420624" cy="420624"/>
          </a:xfrm>
          <a:prstGeom prst="ellipse">
            <a:avLst/>
          </a:prstGeom>
          <a:solidFill>
            <a:srgbClr val="4F5F65"/>
          </a:solidFill>
          <a:ln w="12700">
            <a:solidFill>
              <a:srgbClr val="4F5F65"/>
            </a:solidFill>
            <a:prstDash val="solid"/>
          </a:ln>
        </p:spPr>
      </p:sp>
      <p:pic>
        <p:nvPicPr>
          <p:cNvPr id="22" name="Image 2" descr="preencoded.png"/>
          <p:cNvPicPr>
            <a:picLocks noChangeAspect="1"/>
          </p:cNvPicPr>
          <p:nvPr/>
        </p:nvPicPr>
        <p:blipFill>
          <a:blip r:embed="rId6"/>
          <a:stretch>
            <a:fillRect/>
          </a:stretch>
        </p:blipFill>
        <p:spPr>
          <a:xfrm>
            <a:off x="9802002" y="2166762"/>
            <a:ext cx="201900" cy="201900"/>
          </a:xfrm>
          <a:prstGeom prst="rect">
            <a:avLst/>
          </a:prstGeom>
        </p:spPr>
      </p:pic>
      <p:sp>
        <p:nvSpPr>
          <p:cNvPr id="23" name="Text 18"/>
          <p:cNvSpPr txBox="1"/>
          <p:nvPr/>
        </p:nvSpPr>
        <p:spPr>
          <a:xfrm>
            <a:off x="10195560" y="2057400"/>
            <a:ext cx="1371600" cy="457200"/>
          </a:xfrm>
          <a:prstGeom prst="rect">
            <a:avLst/>
          </a:prstGeom>
          <a:noFill/>
          <a:ln/>
        </p:spPr>
        <p:txBody>
          <a:bodyPr wrap="square" lIns="0" tIns="0" rIns="0" bIns="0" rtlCol="0" anchor="t"/>
          <a:lstStyle/>
          <a:p>
            <a:pPr marL="0" indent="0">
              <a:buNone/>
            </a:pPr>
            <a:r>
              <a:rPr lang="en-US" sz="1150" dirty="0">
                <a:solidFill>
                  <a:srgbClr val="1B2B31"/>
                </a:solidFill>
                <a:latin typeface="Calibri" pitchFamily="34" charset="0"/>
                <a:ea typeface="Calibri" pitchFamily="34" charset="-122"/>
                <a:cs typeface="Calibri" pitchFamily="34" charset="-120"/>
              </a:rPr>
              <a:t>IT stock → Pharma stock</a:t>
            </a:r>
            <a:endParaRPr lang="en-US" sz="1150" dirty="0"/>
          </a:p>
        </p:txBody>
      </p:sp>
      <p:sp>
        <p:nvSpPr>
          <p:cNvPr id="24" name="Shape 19"/>
          <p:cNvSpPr/>
          <p:nvPr/>
        </p:nvSpPr>
        <p:spPr>
          <a:xfrm>
            <a:off x="9692640" y="2788920"/>
            <a:ext cx="420624" cy="420624"/>
          </a:xfrm>
          <a:prstGeom prst="ellipse">
            <a:avLst/>
          </a:prstGeom>
          <a:solidFill>
            <a:srgbClr val="4F5F65"/>
          </a:solidFill>
          <a:ln w="12700">
            <a:solidFill>
              <a:srgbClr val="4F5F65"/>
            </a:solidFill>
            <a:prstDash val="solid"/>
          </a:ln>
        </p:spPr>
      </p:sp>
      <p:pic>
        <p:nvPicPr>
          <p:cNvPr id="25" name="Image 3" descr="preencoded.png"/>
          <p:cNvPicPr>
            <a:picLocks noChangeAspect="1"/>
          </p:cNvPicPr>
          <p:nvPr/>
        </p:nvPicPr>
        <p:blipFill>
          <a:blip r:embed="rId7"/>
          <a:stretch>
            <a:fillRect/>
          </a:stretch>
        </p:blipFill>
        <p:spPr>
          <a:xfrm>
            <a:off x="9802002" y="2898282"/>
            <a:ext cx="201900" cy="201900"/>
          </a:xfrm>
          <a:prstGeom prst="rect">
            <a:avLst/>
          </a:prstGeom>
        </p:spPr>
      </p:pic>
      <p:sp>
        <p:nvSpPr>
          <p:cNvPr id="26" name="Text 20"/>
          <p:cNvSpPr txBox="1"/>
          <p:nvPr/>
        </p:nvSpPr>
        <p:spPr>
          <a:xfrm>
            <a:off x="10195560" y="2788920"/>
            <a:ext cx="1371600" cy="457200"/>
          </a:xfrm>
          <a:prstGeom prst="rect">
            <a:avLst/>
          </a:prstGeom>
          <a:noFill/>
          <a:ln/>
        </p:spPr>
        <p:txBody>
          <a:bodyPr wrap="square" lIns="0" tIns="0" rIns="0" bIns="0" rtlCol="0" anchor="t"/>
          <a:lstStyle/>
          <a:p>
            <a:pPr marL="0" indent="0">
              <a:buNone/>
            </a:pPr>
            <a:r>
              <a:rPr lang="en-US" sz="1150" dirty="0">
                <a:solidFill>
                  <a:srgbClr val="1B2B31"/>
                </a:solidFill>
                <a:latin typeface="Calibri" pitchFamily="34" charset="0"/>
                <a:ea typeface="Calibri" pitchFamily="34" charset="-122"/>
                <a:cs typeface="Calibri" pitchFamily="34" charset="-120"/>
              </a:rPr>
              <a:t>Transformer A → Transformer B</a:t>
            </a:r>
            <a:endParaRPr lang="en-US" sz="1150" dirty="0"/>
          </a:p>
        </p:txBody>
      </p:sp>
      <p:sp>
        <p:nvSpPr>
          <p:cNvPr id="27" name="Shape 21"/>
          <p:cNvSpPr/>
          <p:nvPr/>
        </p:nvSpPr>
        <p:spPr>
          <a:xfrm>
            <a:off x="548640" y="4343400"/>
            <a:ext cx="11091672" cy="1828800"/>
          </a:xfrm>
          <a:prstGeom prst="roundRect">
            <a:avLst>
              <a:gd name="adj" fmla="val 4000"/>
            </a:avLst>
          </a:prstGeom>
          <a:solidFill>
            <a:srgbClr val="FFFFFF"/>
          </a:solidFill>
          <a:ln w="12700">
            <a:solidFill>
              <a:srgbClr val="FFFFFF"/>
            </a:solidFill>
            <a:prstDash val="solid"/>
          </a:ln>
        </p:spPr>
      </p:sp>
      <p:sp>
        <p:nvSpPr>
          <p:cNvPr id="28" name="Shape 22"/>
          <p:cNvSpPr/>
          <p:nvPr/>
        </p:nvSpPr>
        <p:spPr>
          <a:xfrm>
            <a:off x="548640" y="4343400"/>
            <a:ext cx="11091672" cy="1828800"/>
          </a:xfrm>
          <a:prstGeom prst="roundRect">
            <a:avLst>
              <a:gd name="adj" fmla="val 4000"/>
            </a:avLst>
          </a:prstGeom>
          <a:solidFill>
            <a:srgbClr val="FFFFFF"/>
          </a:solidFill>
          <a:ln w="12700">
            <a:solidFill>
              <a:srgbClr val="CFDAD8"/>
            </a:solidFill>
            <a:prstDash val="solid"/>
          </a:ln>
        </p:spPr>
      </p:sp>
      <p:sp>
        <p:nvSpPr>
          <p:cNvPr id="29" name="Text 23"/>
          <p:cNvSpPr txBox="1"/>
          <p:nvPr/>
        </p:nvSpPr>
        <p:spPr>
          <a:xfrm>
            <a:off x="777240" y="4480560"/>
            <a:ext cx="10058400" cy="320040"/>
          </a:xfrm>
          <a:prstGeom prst="rect">
            <a:avLst/>
          </a:prstGeom>
          <a:noFill/>
          <a:ln/>
        </p:spPr>
        <p:txBody>
          <a:bodyPr wrap="square" lIns="0" tIns="0" rIns="0" bIns="0" rtlCol="0" anchor="t"/>
          <a:lstStyle/>
          <a:p>
            <a:pPr marL="0" indent="0">
              <a:buNone/>
            </a:pPr>
            <a:r>
              <a:rPr lang="en-US" sz="1400" b="1" dirty="0">
                <a:solidFill>
                  <a:srgbClr val="2F7F73"/>
                </a:solidFill>
                <a:latin typeface="Calibri" pitchFamily="34" charset="0"/>
                <a:ea typeface="Calibri" pitchFamily="34" charset="-122"/>
                <a:cs typeface="Calibri" pitchFamily="34" charset="-120"/>
              </a:rPr>
              <a:t>Formal setting — unsupervised domain adaptation (UDA) for forecasting</a:t>
            </a:r>
            <a:endParaRPr lang="en-US" sz="1400" dirty="0"/>
          </a:p>
        </p:txBody>
      </p:sp>
      <p:sp>
        <p:nvSpPr>
          <p:cNvPr id="30" name="Text 24"/>
          <p:cNvSpPr txBox="1"/>
          <p:nvPr/>
        </p:nvSpPr>
        <p:spPr>
          <a:xfrm>
            <a:off x="777240" y="4846320"/>
            <a:ext cx="10698480" cy="1234440"/>
          </a:xfrm>
          <a:prstGeom prst="rect">
            <a:avLst/>
          </a:prstGeom>
          <a:noFill/>
          <a:ln/>
        </p:spPr>
        <p:txBody>
          <a:bodyPr wrap="square" lIns="0" tIns="0" rIns="0" bIns="0" rtlCol="0" anchor="t"/>
          <a:lstStyle/>
          <a:p>
            <a:pPr marL="0" indent="0">
              <a:spcAft>
                <a:spcPts val="500"/>
              </a:spcAft>
              <a:buNone/>
            </a:pPr>
            <a:r>
              <a:rPr lang="en-US" sz="1350" b="1" dirty="0">
                <a:solidFill>
                  <a:srgbClr val="1B2B31"/>
                </a:solidFill>
                <a:latin typeface="Calibri" pitchFamily="34" charset="0"/>
                <a:ea typeface="Calibri" pitchFamily="34" charset="-122"/>
                <a:cs typeface="Calibri" pitchFamily="34" charset="-120"/>
              </a:rPr>
              <a:t>Source </a:t>
            </a:r>
            <a:r>
              <a:rPr lang="en-US" sz="1350" dirty="0">
                <a:solidFill>
                  <a:srgbClr val="1B2B31"/>
                </a:solidFill>
                <a:latin typeface="Calibri" pitchFamily="34" charset="0"/>
                <a:ea typeface="Calibri" pitchFamily="34" charset="-122"/>
                <a:cs typeface="Calibri" pitchFamily="34" charset="-120"/>
              </a:rPr>
              <a:t>D_S = {(x_i, y_i)}: look-back x ∈ ℝ^(L×C) and horizon y ∈ ℝ^(H×C) (multivariate, C variables).</a:t>
            </a:r>
            <a:endParaRPr lang="en-US" sz="1350" dirty="0"/>
          </a:p>
          <a:p>
            <a:pPr marL="0" indent="0">
              <a:spcAft>
                <a:spcPts val="500"/>
              </a:spcAft>
              <a:buNone/>
            </a:pPr>
            <a:r>
              <a:rPr lang="en-US" sz="1350" b="1" dirty="0">
                <a:solidFill>
                  <a:srgbClr val="1B2B31"/>
                </a:solidFill>
                <a:latin typeface="Calibri" pitchFamily="34" charset="0"/>
                <a:ea typeface="Calibri" pitchFamily="34" charset="-122"/>
                <a:cs typeface="Calibri" pitchFamily="34" charset="-120"/>
              </a:rPr>
              <a:t>Target </a:t>
            </a:r>
            <a:r>
              <a:rPr lang="en-US" sz="1350" dirty="0">
                <a:solidFill>
                  <a:srgbClr val="1B2B31"/>
                </a:solidFill>
                <a:latin typeface="Calibri" pitchFamily="34" charset="0"/>
                <a:ea typeface="Calibri" pitchFamily="34" charset="-122"/>
                <a:cs typeface="Calibri" pitchFamily="34" charset="-120"/>
              </a:rPr>
              <a:t>D_T = {x_j}: input windows only, and P_T(x, y) ≠ P_S(x, y).</a:t>
            </a:r>
            <a:endParaRPr lang="en-US" sz="1350" dirty="0"/>
          </a:p>
          <a:p>
            <a:pPr marL="0" indent="0">
              <a:spcAft>
                <a:spcPts val="500"/>
              </a:spcAft>
              <a:buNone/>
            </a:pPr>
            <a:r>
              <a:rPr lang="en-US" sz="1350" b="1" dirty="0">
                <a:solidFill>
                  <a:srgbClr val="1B2B31"/>
                </a:solidFill>
                <a:latin typeface="Calibri" pitchFamily="34" charset="0"/>
                <a:ea typeface="Calibri" pitchFamily="34" charset="-122"/>
                <a:cs typeface="Calibri" pitchFamily="34" charset="-120"/>
              </a:rPr>
              <a:t>Goal </a:t>
            </a:r>
            <a:r>
              <a:rPr lang="en-US" sz="1350" dirty="0">
                <a:solidFill>
                  <a:srgbClr val="1B2B31"/>
                </a:solidFill>
                <a:latin typeface="Calibri" pitchFamily="34" charset="0"/>
                <a:ea typeface="Calibri" pitchFamily="34" charset="-122"/>
                <a:cs typeface="Calibri" pitchFamily="34" charset="-120"/>
              </a:rPr>
              <a:t>find f minimising the target risk  E_(x,y)~P_T ‖f(x) − y‖², starting from the source model, with no target future values used for training or model selection.</a:t>
            </a:r>
            <a:endParaRPr lang="en-US" sz="1350" dirty="0"/>
          </a:p>
        </p:txBody>
      </p:sp>
      <p:sp>
        <p:nvSpPr>
          <p:cNvPr id="3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01 · PROBLEM UNDERSTANDING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What actually shifts between hills and plains?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pic>
        <p:nvPicPr>
          <p:cNvPr id="5" name="Image 0" descr="C:\Users\miral\OneDrive\Documents\IE643_project\results\figures\climate_domain_shift.png"/>
          <p:cNvPicPr>
            <a:picLocks noChangeAspect="1"/>
          </p:cNvPicPr>
          <p:nvPr/>
        </p:nvPicPr>
        <p:blipFill>
          <a:blip r:embed="rId4"/>
          <a:stretch>
            <a:fillRect/>
          </a:stretch>
        </p:blipFill>
        <p:spPr>
          <a:xfrm>
            <a:off x="815816" y="1371600"/>
            <a:ext cx="10529888" cy="3017520"/>
          </a:xfrm>
          <a:prstGeom prst="rect">
            <a:avLst/>
          </a:prstGeom>
        </p:spPr>
      </p:pic>
      <p:sp>
        <p:nvSpPr>
          <p:cNvPr id="6" name="Shape 3"/>
          <p:cNvSpPr/>
          <p:nvPr/>
        </p:nvSpPr>
        <p:spPr>
          <a:xfrm>
            <a:off x="548640" y="4572000"/>
            <a:ext cx="3566160" cy="1691640"/>
          </a:xfrm>
          <a:prstGeom prst="roundRect">
            <a:avLst>
              <a:gd name="adj" fmla="val 4324"/>
            </a:avLst>
          </a:prstGeom>
          <a:solidFill>
            <a:srgbClr val="F1F6F5"/>
          </a:solidFill>
          <a:ln w="12700">
            <a:solidFill>
              <a:srgbClr val="F1F6F5"/>
            </a:solidFill>
            <a:prstDash val="solid"/>
          </a:ln>
        </p:spPr>
      </p:sp>
      <p:sp>
        <p:nvSpPr>
          <p:cNvPr id="7" name="Shape 4"/>
          <p:cNvSpPr/>
          <p:nvPr/>
        </p:nvSpPr>
        <p:spPr>
          <a:xfrm>
            <a:off x="731520" y="4736592"/>
            <a:ext cx="457200" cy="457200"/>
          </a:xfrm>
          <a:prstGeom prst="ellipse">
            <a:avLst/>
          </a:prstGeom>
          <a:solidFill>
            <a:srgbClr val="2F7F73"/>
          </a:solidFill>
          <a:ln w="12700">
            <a:solidFill>
              <a:srgbClr val="2F7F73"/>
            </a:solidFill>
            <a:prstDash val="solid"/>
          </a:ln>
        </p:spPr>
      </p:sp>
      <p:pic>
        <p:nvPicPr>
          <p:cNvPr id="8" name="Image 1" descr="preencoded.png"/>
          <p:cNvPicPr>
            <a:picLocks noChangeAspect="1"/>
          </p:cNvPicPr>
          <p:nvPr/>
        </p:nvPicPr>
        <p:blipFill>
          <a:blip r:embed="rId5"/>
          <a:stretch>
            <a:fillRect/>
          </a:stretch>
        </p:blipFill>
        <p:spPr>
          <a:xfrm>
            <a:off x="850392" y="4855464"/>
            <a:ext cx="219456" cy="219456"/>
          </a:xfrm>
          <a:prstGeom prst="rect">
            <a:avLst/>
          </a:prstGeom>
        </p:spPr>
      </p:pic>
      <p:sp>
        <p:nvSpPr>
          <p:cNvPr id="9" name="Text 5"/>
          <p:cNvSpPr txBox="1"/>
          <p:nvPr/>
        </p:nvSpPr>
        <p:spPr>
          <a:xfrm>
            <a:off x="1325880" y="4800600"/>
            <a:ext cx="2651760" cy="365760"/>
          </a:xfrm>
          <a:prstGeom prst="rect">
            <a:avLst/>
          </a:prstGeom>
          <a:noFill/>
          <a:ln/>
        </p:spPr>
        <p:txBody>
          <a:bodyPr wrap="square" lIns="0" tIns="0" rIns="0" bIns="0" rtlCol="0" anchor="t"/>
          <a:lstStyle/>
          <a:p>
            <a:pPr marL="0" indent="0">
              <a:buNone/>
            </a:pPr>
            <a:r>
              <a:rPr lang="en-US" sz="1450" b="1" dirty="0">
                <a:solidFill>
                  <a:srgbClr val="1B2B31"/>
                </a:solidFill>
                <a:latin typeface="Calibri" pitchFamily="34" charset="0"/>
                <a:ea typeface="Calibri" pitchFamily="34" charset="-122"/>
                <a:cs typeface="Calibri" pitchFamily="34" charset="-120"/>
              </a:rPr>
              <a:t>Marginal / level shift</a:t>
            </a:r>
            <a:endParaRPr lang="en-US" sz="1450" dirty="0"/>
          </a:p>
        </p:txBody>
      </p:sp>
      <p:sp>
        <p:nvSpPr>
          <p:cNvPr id="10" name="Text 6"/>
          <p:cNvSpPr txBox="1"/>
          <p:nvPr/>
        </p:nvSpPr>
        <p:spPr>
          <a:xfrm>
            <a:off x="731520" y="5303520"/>
            <a:ext cx="3246120" cy="9144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Mean temperature 11.4 °C vs 24.6 °C; surface pressure 783 vs 984 hPa. Handled by per-domain scaling + RevIN.</a:t>
            </a:r>
            <a:endParaRPr lang="en-US" sz="1150" dirty="0"/>
          </a:p>
        </p:txBody>
      </p:sp>
      <p:sp>
        <p:nvSpPr>
          <p:cNvPr id="11" name="Shape 7"/>
          <p:cNvSpPr/>
          <p:nvPr/>
        </p:nvSpPr>
        <p:spPr>
          <a:xfrm>
            <a:off x="4297680" y="4572000"/>
            <a:ext cx="3566160" cy="1691640"/>
          </a:xfrm>
          <a:prstGeom prst="roundRect">
            <a:avLst>
              <a:gd name="adj" fmla="val 4324"/>
            </a:avLst>
          </a:prstGeom>
          <a:solidFill>
            <a:srgbClr val="F1F6F5"/>
          </a:solidFill>
          <a:ln w="12700">
            <a:solidFill>
              <a:srgbClr val="F1F6F5"/>
            </a:solidFill>
            <a:prstDash val="solid"/>
          </a:ln>
        </p:spPr>
      </p:sp>
      <p:sp>
        <p:nvSpPr>
          <p:cNvPr id="12" name="Shape 8"/>
          <p:cNvSpPr/>
          <p:nvPr/>
        </p:nvSpPr>
        <p:spPr>
          <a:xfrm>
            <a:off x="4480560" y="4736592"/>
            <a:ext cx="457200" cy="457200"/>
          </a:xfrm>
          <a:prstGeom prst="ellipse">
            <a:avLst/>
          </a:prstGeom>
          <a:solidFill>
            <a:srgbClr val="D98A1E"/>
          </a:solidFill>
          <a:ln w="12700">
            <a:solidFill>
              <a:srgbClr val="D98A1E"/>
            </a:solidFill>
            <a:prstDash val="solid"/>
          </a:ln>
        </p:spPr>
      </p:sp>
      <p:pic>
        <p:nvPicPr>
          <p:cNvPr id="13" name="Image 2" descr="preencoded.png"/>
          <p:cNvPicPr>
            <a:picLocks noChangeAspect="1"/>
          </p:cNvPicPr>
          <p:nvPr/>
        </p:nvPicPr>
        <p:blipFill>
          <a:blip r:embed="rId6"/>
          <a:stretch>
            <a:fillRect/>
          </a:stretch>
        </p:blipFill>
        <p:spPr>
          <a:xfrm>
            <a:off x="4599432" y="4855464"/>
            <a:ext cx="219456" cy="219456"/>
          </a:xfrm>
          <a:prstGeom prst="rect">
            <a:avLst/>
          </a:prstGeom>
        </p:spPr>
      </p:pic>
      <p:sp>
        <p:nvSpPr>
          <p:cNvPr id="14" name="Text 9"/>
          <p:cNvSpPr txBox="1"/>
          <p:nvPr/>
        </p:nvSpPr>
        <p:spPr>
          <a:xfrm>
            <a:off x="5074920" y="4800600"/>
            <a:ext cx="2651760" cy="365760"/>
          </a:xfrm>
          <a:prstGeom prst="rect">
            <a:avLst/>
          </a:prstGeom>
          <a:noFill/>
          <a:ln/>
        </p:spPr>
        <p:txBody>
          <a:bodyPr wrap="square" lIns="0" tIns="0" rIns="0" bIns="0" rtlCol="0" anchor="t"/>
          <a:lstStyle/>
          <a:p>
            <a:pPr marL="0" indent="0">
              <a:buNone/>
            </a:pPr>
            <a:r>
              <a:rPr lang="en-US" sz="1450" b="1" dirty="0">
                <a:solidFill>
                  <a:srgbClr val="1B2B31"/>
                </a:solidFill>
                <a:latin typeface="Calibri" pitchFamily="34" charset="0"/>
                <a:ea typeface="Calibri" pitchFamily="34" charset="-122"/>
                <a:cs typeface="Calibri" pitchFamily="34" charset="-120"/>
              </a:rPr>
              <a:t>Dynamics (covariate) shift</a:t>
            </a:r>
            <a:endParaRPr lang="en-US" sz="1450" dirty="0"/>
          </a:p>
        </p:txBody>
      </p:sp>
      <p:sp>
        <p:nvSpPr>
          <p:cNvPr id="15" name="Text 10"/>
          <p:cNvSpPr txBox="1"/>
          <p:nvPr/>
        </p:nvSpPr>
        <p:spPr>
          <a:xfrm>
            <a:off x="4480560" y="5303520"/>
            <a:ext cx="3246120" cy="9144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Different diurnal amplitude, humidity regimes and cross-variable correlations: the encoder sees unfamiliar patterns.</a:t>
            </a:r>
            <a:endParaRPr lang="en-US" sz="1150" dirty="0"/>
          </a:p>
        </p:txBody>
      </p:sp>
      <p:sp>
        <p:nvSpPr>
          <p:cNvPr id="16" name="Shape 11"/>
          <p:cNvSpPr/>
          <p:nvPr/>
        </p:nvSpPr>
        <p:spPr>
          <a:xfrm>
            <a:off x="8046720" y="4572000"/>
            <a:ext cx="3566160" cy="1691640"/>
          </a:xfrm>
          <a:prstGeom prst="roundRect">
            <a:avLst>
              <a:gd name="adj" fmla="val 4324"/>
            </a:avLst>
          </a:prstGeom>
          <a:solidFill>
            <a:srgbClr val="F1F6F5"/>
          </a:solidFill>
          <a:ln w="12700">
            <a:solidFill>
              <a:srgbClr val="F1F6F5"/>
            </a:solidFill>
            <a:prstDash val="solid"/>
          </a:ln>
        </p:spPr>
      </p:sp>
      <p:sp>
        <p:nvSpPr>
          <p:cNvPr id="17" name="Shape 12"/>
          <p:cNvSpPr/>
          <p:nvPr/>
        </p:nvSpPr>
        <p:spPr>
          <a:xfrm>
            <a:off x="8229600" y="4736592"/>
            <a:ext cx="457200" cy="457200"/>
          </a:xfrm>
          <a:prstGeom prst="ellipse">
            <a:avLst/>
          </a:prstGeom>
          <a:solidFill>
            <a:srgbClr val="D98A1E"/>
          </a:solidFill>
          <a:ln w="12700">
            <a:solidFill>
              <a:srgbClr val="D98A1E"/>
            </a:solidFill>
            <a:prstDash val="solid"/>
          </a:ln>
        </p:spPr>
      </p:sp>
      <p:pic>
        <p:nvPicPr>
          <p:cNvPr id="18" name="Image 3" descr="preencoded.png"/>
          <p:cNvPicPr>
            <a:picLocks noChangeAspect="1"/>
          </p:cNvPicPr>
          <p:nvPr/>
        </p:nvPicPr>
        <p:blipFill>
          <a:blip r:embed="rId7"/>
          <a:stretch>
            <a:fillRect/>
          </a:stretch>
        </p:blipFill>
        <p:spPr>
          <a:xfrm>
            <a:off x="8348472" y="4855464"/>
            <a:ext cx="219456" cy="219456"/>
          </a:xfrm>
          <a:prstGeom prst="rect">
            <a:avLst/>
          </a:prstGeom>
        </p:spPr>
      </p:pic>
      <p:sp>
        <p:nvSpPr>
          <p:cNvPr id="19" name="Text 13"/>
          <p:cNvSpPr txBox="1"/>
          <p:nvPr/>
        </p:nvSpPr>
        <p:spPr>
          <a:xfrm>
            <a:off x="8823960" y="4800600"/>
            <a:ext cx="2651760" cy="365760"/>
          </a:xfrm>
          <a:prstGeom prst="rect">
            <a:avLst/>
          </a:prstGeom>
          <a:noFill/>
          <a:ln/>
        </p:spPr>
        <p:txBody>
          <a:bodyPr wrap="square" lIns="0" tIns="0" rIns="0" bIns="0" rtlCol="0" anchor="t"/>
          <a:lstStyle/>
          <a:p>
            <a:pPr marL="0" indent="0">
              <a:buNone/>
            </a:pPr>
            <a:r>
              <a:rPr lang="en-US" sz="1450" b="1" dirty="0">
                <a:solidFill>
                  <a:srgbClr val="1B2B31"/>
                </a:solidFill>
                <a:latin typeface="Calibri" pitchFamily="34" charset="0"/>
                <a:ea typeface="Calibri" pitchFamily="34" charset="-122"/>
                <a:cs typeface="Calibri" pitchFamily="34" charset="-120"/>
              </a:rPr>
              <a:t>Conditional shift</a:t>
            </a:r>
            <a:endParaRPr lang="en-US" sz="1450" dirty="0"/>
          </a:p>
        </p:txBody>
      </p:sp>
      <p:sp>
        <p:nvSpPr>
          <p:cNvPr id="20" name="Text 14"/>
          <p:cNvSpPr txBox="1"/>
          <p:nvPr/>
        </p:nvSpPr>
        <p:spPr>
          <a:xfrm>
            <a:off x="8229600" y="5303520"/>
            <a:ext cx="3246120" cy="9144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The same recent history can lead to a different future (terrain, urban heat, monsoon). Needs adaptation, not rescaling.</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Lightweight forecasting models we studied</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2624328" cy="3977640"/>
          </a:xfrm>
          <a:prstGeom prst="roundRect">
            <a:avLst>
              <a:gd name="adj" fmla="val 2787"/>
            </a:avLst>
          </a:prstGeom>
          <a:solidFill>
            <a:srgbClr val="F1F6F5"/>
          </a:solidFill>
          <a:ln w="12700">
            <a:solidFill>
              <a:srgbClr val="F1F6F5"/>
            </a:solidFill>
            <a:prstDash val="solid"/>
          </a:ln>
        </p:spPr>
      </p:sp>
      <p:sp>
        <p:nvSpPr>
          <p:cNvPr id="6" name="Shape 4"/>
          <p:cNvSpPr/>
          <p:nvPr/>
        </p:nvSpPr>
        <p:spPr>
          <a:xfrm>
            <a:off x="777240" y="1691640"/>
            <a:ext cx="566928" cy="566928"/>
          </a:xfrm>
          <a:prstGeom prst="ellipse">
            <a:avLst/>
          </a:prstGeom>
          <a:solidFill>
            <a:srgbClr val="2F7F73"/>
          </a:solidFill>
          <a:ln w="12700">
            <a:solidFill>
              <a:srgbClr val="2F7F73"/>
            </a:solidFill>
            <a:prstDash val="solid"/>
          </a:ln>
        </p:spPr>
      </p:sp>
      <p:pic>
        <p:nvPicPr>
          <p:cNvPr id="7" name="Image 0" descr="preencoded.png"/>
          <p:cNvPicPr>
            <a:picLocks noChangeAspect="1"/>
          </p:cNvPicPr>
          <p:nvPr/>
        </p:nvPicPr>
        <p:blipFill>
          <a:blip r:embed="rId4"/>
          <a:stretch>
            <a:fillRect/>
          </a:stretch>
        </p:blipFill>
        <p:spPr>
          <a:xfrm>
            <a:off x="924641" y="1839041"/>
            <a:ext cx="272125" cy="272125"/>
          </a:xfrm>
          <a:prstGeom prst="rect">
            <a:avLst/>
          </a:prstGeom>
        </p:spPr>
      </p:pic>
      <p:sp>
        <p:nvSpPr>
          <p:cNvPr id="8" name="Text 5"/>
          <p:cNvSpPr txBox="1"/>
          <p:nvPr/>
        </p:nvSpPr>
        <p:spPr>
          <a:xfrm>
            <a:off x="777240" y="2423160"/>
            <a:ext cx="2194560" cy="411480"/>
          </a:xfrm>
          <a:prstGeom prst="rect">
            <a:avLst/>
          </a:prstGeom>
          <a:noFill/>
          <a:ln/>
        </p:spPr>
        <p:txBody>
          <a:bodyPr wrap="square" lIns="0" tIns="0" rIns="0" bIns="0" rtlCol="0" anchor="t"/>
          <a:lstStyle/>
          <a:p>
            <a:pPr marL="0" indent="0">
              <a:buNone/>
            </a:pPr>
            <a:r>
              <a:rPr lang="en-US" sz="2100" b="1" dirty="0">
                <a:solidFill>
                  <a:srgbClr val="1B2B31"/>
                </a:solidFill>
                <a:latin typeface="Cambria" pitchFamily="34" charset="0"/>
                <a:ea typeface="Cambria" pitchFamily="34" charset="-122"/>
                <a:cs typeface="Cambria" pitchFamily="34" charset="-120"/>
              </a:rPr>
              <a:t>DLinear</a:t>
            </a:r>
            <a:endParaRPr lang="en-US" sz="2100" dirty="0"/>
          </a:p>
        </p:txBody>
      </p:sp>
      <p:sp>
        <p:nvSpPr>
          <p:cNvPr id="9" name="Text 6"/>
          <p:cNvSpPr txBox="1"/>
          <p:nvPr/>
        </p:nvSpPr>
        <p:spPr>
          <a:xfrm>
            <a:off x="777240" y="2834640"/>
            <a:ext cx="2194560" cy="274320"/>
          </a:xfrm>
          <a:prstGeom prst="rect">
            <a:avLst/>
          </a:prstGeom>
          <a:noFill/>
          <a:ln/>
        </p:spPr>
        <p:txBody>
          <a:bodyPr wrap="square" lIns="0" tIns="0" rIns="0" bIns="0" rtlCol="0" anchor="t"/>
          <a:lstStyle/>
          <a:p>
            <a:pPr marL="0" indent="0">
              <a:buNone/>
            </a:pPr>
            <a:r>
              <a:rPr lang="en-US" sz="1100" i="1" dirty="0">
                <a:solidFill>
                  <a:srgbClr val="7C8B90"/>
                </a:solidFill>
                <a:latin typeface="Calibri" pitchFamily="34" charset="0"/>
                <a:ea typeface="Calibri" pitchFamily="34" charset="-122"/>
                <a:cs typeface="Calibri" pitchFamily="34" charset="-120"/>
              </a:rPr>
              <a:t>Zeng et al., AAAI 2023</a:t>
            </a:r>
            <a:endParaRPr lang="en-US" sz="1100" dirty="0"/>
          </a:p>
        </p:txBody>
      </p:sp>
      <p:sp>
        <p:nvSpPr>
          <p:cNvPr id="10" name="Text 7"/>
          <p:cNvSpPr txBox="1"/>
          <p:nvPr/>
        </p:nvSpPr>
        <p:spPr>
          <a:xfrm>
            <a:off x="777240" y="3200400"/>
            <a:ext cx="2240280" cy="14630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A single linear map from look-back to horizon (after trend/seasonal split) rivals Transformers on long-horizon benchmarks.</a:t>
            </a:r>
            <a:endParaRPr lang="en-US" sz="1250" dirty="0"/>
          </a:p>
        </p:txBody>
      </p:sp>
      <p:sp>
        <p:nvSpPr>
          <p:cNvPr id="11" name="Text 8"/>
          <p:cNvSpPr txBox="1"/>
          <p:nvPr/>
        </p:nvSpPr>
        <p:spPr>
          <a:xfrm>
            <a:off x="777240" y="4754880"/>
            <a:ext cx="2240280" cy="548640"/>
          </a:xfrm>
          <a:prstGeom prst="rect">
            <a:avLst/>
          </a:prstGeom>
          <a:noFill/>
          <a:ln/>
        </p:spPr>
        <p:txBody>
          <a:bodyPr wrap="square" lIns="0" tIns="0" rIns="0" bIns="0" rtlCol="0" anchor="t"/>
          <a:lstStyle/>
          <a:p>
            <a:pPr marL="0" indent="0">
              <a:buNone/>
            </a:pPr>
            <a:r>
              <a:rPr lang="en-US" sz="1200" b="1" dirty="0">
                <a:solidFill>
                  <a:srgbClr val="2F7F73"/>
                </a:solidFill>
                <a:latin typeface="Calibri" pitchFamily="34" charset="0"/>
                <a:ea typeface="Calibri" pitchFamily="34" charset="-122"/>
                <a:cs typeface="Calibri" pitchFamily="34" charset="-120"/>
              </a:rPr>
              <a:t>→ Linear temporal path in our model</a:t>
            </a:r>
            <a:endParaRPr lang="en-US" sz="1200" dirty="0"/>
          </a:p>
        </p:txBody>
      </p:sp>
      <p:sp>
        <p:nvSpPr>
          <p:cNvPr id="12" name="Shape 9"/>
          <p:cNvSpPr/>
          <p:nvPr/>
        </p:nvSpPr>
        <p:spPr>
          <a:xfrm>
            <a:off x="3355848" y="1463040"/>
            <a:ext cx="2624328" cy="3977640"/>
          </a:xfrm>
          <a:prstGeom prst="roundRect">
            <a:avLst>
              <a:gd name="adj" fmla="val 2787"/>
            </a:avLst>
          </a:prstGeom>
          <a:solidFill>
            <a:srgbClr val="F1F6F5"/>
          </a:solidFill>
          <a:ln w="12700">
            <a:solidFill>
              <a:srgbClr val="F1F6F5"/>
            </a:solidFill>
            <a:prstDash val="solid"/>
          </a:ln>
        </p:spPr>
      </p:sp>
      <p:sp>
        <p:nvSpPr>
          <p:cNvPr id="13" name="Shape 10"/>
          <p:cNvSpPr/>
          <p:nvPr/>
        </p:nvSpPr>
        <p:spPr>
          <a:xfrm>
            <a:off x="3584448" y="1691640"/>
            <a:ext cx="566928" cy="566928"/>
          </a:xfrm>
          <a:prstGeom prst="ellipse">
            <a:avLst/>
          </a:prstGeom>
          <a:solidFill>
            <a:srgbClr val="D98A1E"/>
          </a:solidFill>
          <a:ln w="12700">
            <a:solidFill>
              <a:srgbClr val="D98A1E"/>
            </a:solidFill>
            <a:prstDash val="solid"/>
          </a:ln>
        </p:spPr>
      </p:sp>
      <p:pic>
        <p:nvPicPr>
          <p:cNvPr id="14" name="Image 1" descr="preencoded.png"/>
          <p:cNvPicPr>
            <a:picLocks noChangeAspect="1"/>
          </p:cNvPicPr>
          <p:nvPr/>
        </p:nvPicPr>
        <p:blipFill>
          <a:blip r:embed="rId5"/>
          <a:stretch>
            <a:fillRect/>
          </a:stretch>
        </p:blipFill>
        <p:spPr>
          <a:xfrm>
            <a:off x="3731849" y="1839041"/>
            <a:ext cx="272125" cy="272125"/>
          </a:xfrm>
          <a:prstGeom prst="rect">
            <a:avLst/>
          </a:prstGeom>
        </p:spPr>
      </p:pic>
      <p:sp>
        <p:nvSpPr>
          <p:cNvPr id="15" name="Text 11"/>
          <p:cNvSpPr txBox="1"/>
          <p:nvPr/>
        </p:nvSpPr>
        <p:spPr>
          <a:xfrm>
            <a:off x="3584448" y="2423160"/>
            <a:ext cx="2194560" cy="411480"/>
          </a:xfrm>
          <a:prstGeom prst="rect">
            <a:avLst/>
          </a:prstGeom>
          <a:noFill/>
          <a:ln/>
        </p:spPr>
        <p:txBody>
          <a:bodyPr wrap="square" lIns="0" tIns="0" rIns="0" bIns="0" rtlCol="0" anchor="t"/>
          <a:lstStyle/>
          <a:p>
            <a:pPr marL="0" indent="0">
              <a:buNone/>
            </a:pPr>
            <a:r>
              <a:rPr lang="en-US" sz="2100" b="1" dirty="0">
                <a:solidFill>
                  <a:srgbClr val="1B2B31"/>
                </a:solidFill>
                <a:latin typeface="Cambria" pitchFamily="34" charset="0"/>
                <a:ea typeface="Cambria" pitchFamily="34" charset="-122"/>
                <a:cs typeface="Cambria" pitchFamily="34" charset="-120"/>
              </a:rPr>
              <a:t>TCN</a:t>
            </a:r>
            <a:endParaRPr lang="en-US" sz="2100" dirty="0"/>
          </a:p>
        </p:txBody>
      </p:sp>
      <p:sp>
        <p:nvSpPr>
          <p:cNvPr id="16" name="Text 12"/>
          <p:cNvSpPr txBox="1"/>
          <p:nvPr/>
        </p:nvSpPr>
        <p:spPr>
          <a:xfrm>
            <a:off x="3584448" y="2834640"/>
            <a:ext cx="2194560" cy="274320"/>
          </a:xfrm>
          <a:prstGeom prst="rect">
            <a:avLst/>
          </a:prstGeom>
          <a:noFill/>
          <a:ln/>
        </p:spPr>
        <p:txBody>
          <a:bodyPr wrap="square" lIns="0" tIns="0" rIns="0" bIns="0" rtlCol="0" anchor="t"/>
          <a:lstStyle/>
          <a:p>
            <a:pPr marL="0" indent="0">
              <a:buNone/>
            </a:pPr>
            <a:r>
              <a:rPr lang="en-US" sz="1100" i="1" dirty="0">
                <a:solidFill>
                  <a:srgbClr val="7C8B90"/>
                </a:solidFill>
                <a:latin typeface="Calibri" pitchFamily="34" charset="0"/>
                <a:ea typeface="Calibri" pitchFamily="34" charset="-122"/>
                <a:cs typeface="Calibri" pitchFamily="34" charset="-120"/>
              </a:rPr>
              <a:t>Bai et al., 2018</a:t>
            </a:r>
            <a:endParaRPr lang="en-US" sz="1100" dirty="0"/>
          </a:p>
        </p:txBody>
      </p:sp>
      <p:sp>
        <p:nvSpPr>
          <p:cNvPr id="17" name="Text 13"/>
          <p:cNvSpPr txBox="1"/>
          <p:nvPr/>
        </p:nvSpPr>
        <p:spPr>
          <a:xfrm>
            <a:off x="3584448" y="3200400"/>
            <a:ext cx="2240280" cy="14630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Stacked dilated 1-D convolutions: large receptive field, parallel training, few parameters.</a:t>
            </a:r>
            <a:endParaRPr lang="en-US" sz="1250" dirty="0"/>
          </a:p>
        </p:txBody>
      </p:sp>
      <p:sp>
        <p:nvSpPr>
          <p:cNvPr id="18" name="Text 14"/>
          <p:cNvSpPr txBox="1"/>
          <p:nvPr/>
        </p:nvSpPr>
        <p:spPr>
          <a:xfrm>
            <a:off x="3584448" y="4754880"/>
            <a:ext cx="2240280" cy="548640"/>
          </a:xfrm>
          <a:prstGeom prst="rect">
            <a:avLst/>
          </a:prstGeom>
          <a:noFill/>
          <a:ln/>
        </p:spPr>
        <p:txBody>
          <a:bodyPr wrap="square" lIns="0" tIns="0" rIns="0" bIns="0" rtlCol="0" anchor="t"/>
          <a:lstStyle/>
          <a:p>
            <a:pPr marL="0" indent="0">
              <a:buNone/>
            </a:pPr>
            <a:r>
              <a:rPr lang="en-US" sz="1200" b="1" dirty="0">
                <a:solidFill>
                  <a:srgbClr val="2F7F73"/>
                </a:solidFill>
                <a:latin typeface="Calibri" pitchFamily="34" charset="0"/>
                <a:ea typeface="Calibri" pitchFamily="34" charset="-122"/>
                <a:cs typeface="Calibri" pitchFamily="34" charset="-120"/>
              </a:rPr>
              <a:t>→ Strided, dilated conv encoder</a:t>
            </a:r>
            <a:endParaRPr lang="en-US" sz="1200" dirty="0"/>
          </a:p>
        </p:txBody>
      </p:sp>
      <p:sp>
        <p:nvSpPr>
          <p:cNvPr id="19" name="Shape 15"/>
          <p:cNvSpPr/>
          <p:nvPr/>
        </p:nvSpPr>
        <p:spPr>
          <a:xfrm>
            <a:off x="6163056" y="1463040"/>
            <a:ext cx="2624328" cy="3977640"/>
          </a:xfrm>
          <a:prstGeom prst="roundRect">
            <a:avLst>
              <a:gd name="adj" fmla="val 2787"/>
            </a:avLst>
          </a:prstGeom>
          <a:solidFill>
            <a:srgbClr val="F1F6F5"/>
          </a:solidFill>
          <a:ln w="12700">
            <a:solidFill>
              <a:srgbClr val="F1F6F5"/>
            </a:solidFill>
            <a:prstDash val="solid"/>
          </a:ln>
        </p:spPr>
      </p:sp>
      <p:sp>
        <p:nvSpPr>
          <p:cNvPr id="20" name="Shape 16"/>
          <p:cNvSpPr/>
          <p:nvPr/>
        </p:nvSpPr>
        <p:spPr>
          <a:xfrm>
            <a:off x="6391656" y="1691640"/>
            <a:ext cx="566928" cy="566928"/>
          </a:xfrm>
          <a:prstGeom prst="ellipse">
            <a:avLst/>
          </a:prstGeom>
          <a:solidFill>
            <a:srgbClr val="2F7F73"/>
          </a:solidFill>
          <a:ln w="12700">
            <a:solidFill>
              <a:srgbClr val="2F7F73"/>
            </a:solidFill>
            <a:prstDash val="solid"/>
          </a:ln>
        </p:spPr>
      </p:sp>
      <p:pic>
        <p:nvPicPr>
          <p:cNvPr id="21" name="Image 2" descr="preencoded.png"/>
          <p:cNvPicPr>
            <a:picLocks noChangeAspect="1"/>
          </p:cNvPicPr>
          <p:nvPr/>
        </p:nvPicPr>
        <p:blipFill>
          <a:blip r:embed="rId6"/>
          <a:stretch>
            <a:fillRect/>
          </a:stretch>
        </p:blipFill>
        <p:spPr>
          <a:xfrm>
            <a:off x="6539057" y="1839041"/>
            <a:ext cx="272125" cy="272125"/>
          </a:xfrm>
          <a:prstGeom prst="rect">
            <a:avLst/>
          </a:prstGeom>
        </p:spPr>
      </p:pic>
      <p:sp>
        <p:nvSpPr>
          <p:cNvPr id="22" name="Text 17"/>
          <p:cNvSpPr txBox="1"/>
          <p:nvPr/>
        </p:nvSpPr>
        <p:spPr>
          <a:xfrm>
            <a:off x="6391656" y="2423160"/>
            <a:ext cx="2194560" cy="411480"/>
          </a:xfrm>
          <a:prstGeom prst="rect">
            <a:avLst/>
          </a:prstGeom>
          <a:noFill/>
          <a:ln/>
        </p:spPr>
        <p:txBody>
          <a:bodyPr wrap="square" lIns="0" tIns="0" rIns="0" bIns="0" rtlCol="0" anchor="t"/>
          <a:lstStyle/>
          <a:p>
            <a:pPr marL="0" indent="0">
              <a:buNone/>
            </a:pPr>
            <a:r>
              <a:rPr lang="en-US" sz="2100" b="1" dirty="0">
                <a:solidFill>
                  <a:srgbClr val="1B2B31"/>
                </a:solidFill>
                <a:latin typeface="Cambria" pitchFamily="34" charset="0"/>
                <a:ea typeface="Cambria" pitchFamily="34" charset="-122"/>
                <a:cs typeface="Cambria" pitchFamily="34" charset="-120"/>
              </a:rPr>
              <a:t>PatchTST</a:t>
            </a:r>
            <a:endParaRPr lang="en-US" sz="2100" dirty="0"/>
          </a:p>
        </p:txBody>
      </p:sp>
      <p:sp>
        <p:nvSpPr>
          <p:cNvPr id="23" name="Text 18"/>
          <p:cNvSpPr txBox="1"/>
          <p:nvPr/>
        </p:nvSpPr>
        <p:spPr>
          <a:xfrm>
            <a:off x="6391656" y="2834640"/>
            <a:ext cx="2194560" cy="274320"/>
          </a:xfrm>
          <a:prstGeom prst="rect">
            <a:avLst/>
          </a:prstGeom>
          <a:noFill/>
          <a:ln/>
        </p:spPr>
        <p:txBody>
          <a:bodyPr wrap="square" lIns="0" tIns="0" rIns="0" bIns="0" rtlCol="0" anchor="t"/>
          <a:lstStyle/>
          <a:p>
            <a:pPr marL="0" indent="0">
              <a:buNone/>
            </a:pPr>
            <a:r>
              <a:rPr lang="en-US" sz="1100" i="1" dirty="0">
                <a:solidFill>
                  <a:srgbClr val="7C8B90"/>
                </a:solidFill>
                <a:latin typeface="Calibri" pitchFamily="34" charset="0"/>
                <a:ea typeface="Calibri" pitchFamily="34" charset="-122"/>
                <a:cs typeface="Calibri" pitchFamily="34" charset="-120"/>
              </a:rPr>
              <a:t>Nie et al., ICLR 2023</a:t>
            </a:r>
            <a:endParaRPr lang="en-US" sz="1100" dirty="0"/>
          </a:p>
        </p:txBody>
      </p:sp>
      <p:sp>
        <p:nvSpPr>
          <p:cNvPr id="24" name="Text 19"/>
          <p:cNvSpPr txBox="1"/>
          <p:nvPr/>
        </p:nvSpPr>
        <p:spPr>
          <a:xfrm>
            <a:off x="6391656" y="3200400"/>
            <a:ext cx="2240280" cy="14630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Patches of the series as tokens + channel independence; state of the art but heavier.</a:t>
            </a:r>
            <a:endParaRPr lang="en-US" sz="1250" dirty="0"/>
          </a:p>
        </p:txBody>
      </p:sp>
      <p:sp>
        <p:nvSpPr>
          <p:cNvPr id="25" name="Text 20"/>
          <p:cNvSpPr txBox="1"/>
          <p:nvPr/>
        </p:nvSpPr>
        <p:spPr>
          <a:xfrm>
            <a:off x="6391656" y="4754880"/>
            <a:ext cx="2240280" cy="548640"/>
          </a:xfrm>
          <a:prstGeom prst="rect">
            <a:avLst/>
          </a:prstGeom>
          <a:noFill/>
          <a:ln/>
        </p:spPr>
        <p:txBody>
          <a:bodyPr wrap="square" lIns="0" tIns="0" rIns="0" bIns="0" rtlCol="0" anchor="t"/>
          <a:lstStyle/>
          <a:p>
            <a:pPr marL="0" indent="0">
              <a:buNone/>
            </a:pPr>
            <a:r>
              <a:rPr lang="en-US" sz="1200" b="1" dirty="0">
                <a:solidFill>
                  <a:srgbClr val="2F7F73"/>
                </a:solidFill>
                <a:latin typeface="Calibri" pitchFamily="34" charset="0"/>
                <a:ea typeface="Calibri" pitchFamily="34" charset="-122"/>
                <a:cs typeface="Calibri" pitchFamily="34" charset="-120"/>
              </a:rPr>
              <a:t>→ Candidate encoder for later stages</a:t>
            </a:r>
            <a:endParaRPr lang="en-US" sz="1200" dirty="0"/>
          </a:p>
        </p:txBody>
      </p:sp>
      <p:sp>
        <p:nvSpPr>
          <p:cNvPr id="26" name="Shape 21"/>
          <p:cNvSpPr/>
          <p:nvPr/>
        </p:nvSpPr>
        <p:spPr>
          <a:xfrm>
            <a:off x="8970264" y="1463040"/>
            <a:ext cx="2624328" cy="3977640"/>
          </a:xfrm>
          <a:prstGeom prst="roundRect">
            <a:avLst>
              <a:gd name="adj" fmla="val 2787"/>
            </a:avLst>
          </a:prstGeom>
          <a:solidFill>
            <a:srgbClr val="F1F6F5"/>
          </a:solidFill>
          <a:ln w="12700">
            <a:solidFill>
              <a:srgbClr val="F1F6F5"/>
            </a:solidFill>
            <a:prstDash val="solid"/>
          </a:ln>
        </p:spPr>
      </p:sp>
      <p:sp>
        <p:nvSpPr>
          <p:cNvPr id="27" name="Shape 22"/>
          <p:cNvSpPr/>
          <p:nvPr/>
        </p:nvSpPr>
        <p:spPr>
          <a:xfrm>
            <a:off x="9198864" y="1691640"/>
            <a:ext cx="566928" cy="566928"/>
          </a:xfrm>
          <a:prstGeom prst="ellipse">
            <a:avLst/>
          </a:prstGeom>
          <a:solidFill>
            <a:srgbClr val="D98A1E"/>
          </a:solidFill>
          <a:ln w="12700">
            <a:solidFill>
              <a:srgbClr val="D98A1E"/>
            </a:solidFill>
            <a:prstDash val="solid"/>
          </a:ln>
        </p:spPr>
      </p:sp>
      <p:pic>
        <p:nvPicPr>
          <p:cNvPr id="28" name="Image 3" descr="preencoded.png"/>
          <p:cNvPicPr>
            <a:picLocks noChangeAspect="1"/>
          </p:cNvPicPr>
          <p:nvPr/>
        </p:nvPicPr>
        <p:blipFill>
          <a:blip r:embed="rId7"/>
          <a:stretch>
            <a:fillRect/>
          </a:stretch>
        </p:blipFill>
        <p:spPr>
          <a:xfrm>
            <a:off x="9346265" y="1839041"/>
            <a:ext cx="272125" cy="272125"/>
          </a:xfrm>
          <a:prstGeom prst="rect">
            <a:avLst/>
          </a:prstGeom>
        </p:spPr>
      </p:pic>
      <p:sp>
        <p:nvSpPr>
          <p:cNvPr id="29" name="Text 23"/>
          <p:cNvSpPr txBox="1"/>
          <p:nvPr/>
        </p:nvSpPr>
        <p:spPr>
          <a:xfrm>
            <a:off x="9198864" y="2423160"/>
            <a:ext cx="2194560" cy="411480"/>
          </a:xfrm>
          <a:prstGeom prst="rect">
            <a:avLst/>
          </a:prstGeom>
          <a:noFill/>
          <a:ln/>
        </p:spPr>
        <p:txBody>
          <a:bodyPr wrap="square" lIns="0" tIns="0" rIns="0" bIns="0" rtlCol="0" anchor="t"/>
          <a:lstStyle/>
          <a:p>
            <a:pPr marL="0" indent="0">
              <a:buNone/>
            </a:pPr>
            <a:r>
              <a:rPr lang="en-US" sz="2100" b="1" dirty="0">
                <a:solidFill>
                  <a:srgbClr val="1B2B31"/>
                </a:solidFill>
                <a:latin typeface="Cambria" pitchFamily="34" charset="0"/>
                <a:ea typeface="Cambria" pitchFamily="34" charset="-122"/>
                <a:cs typeface="Cambria" pitchFamily="34" charset="-120"/>
              </a:rPr>
              <a:t>RevIN</a:t>
            </a:r>
            <a:endParaRPr lang="en-US" sz="2100" dirty="0"/>
          </a:p>
        </p:txBody>
      </p:sp>
      <p:sp>
        <p:nvSpPr>
          <p:cNvPr id="30" name="Text 24"/>
          <p:cNvSpPr txBox="1"/>
          <p:nvPr/>
        </p:nvSpPr>
        <p:spPr>
          <a:xfrm>
            <a:off x="9198864" y="2834640"/>
            <a:ext cx="2194560" cy="274320"/>
          </a:xfrm>
          <a:prstGeom prst="rect">
            <a:avLst/>
          </a:prstGeom>
          <a:noFill/>
          <a:ln/>
        </p:spPr>
        <p:txBody>
          <a:bodyPr wrap="square" lIns="0" tIns="0" rIns="0" bIns="0" rtlCol="0" anchor="t"/>
          <a:lstStyle/>
          <a:p>
            <a:pPr marL="0" indent="0">
              <a:buNone/>
            </a:pPr>
            <a:r>
              <a:rPr lang="en-US" sz="1100" i="1" dirty="0">
                <a:solidFill>
                  <a:srgbClr val="7C8B90"/>
                </a:solidFill>
                <a:latin typeface="Calibri" pitchFamily="34" charset="0"/>
                <a:ea typeface="Calibri" pitchFamily="34" charset="-122"/>
                <a:cs typeface="Calibri" pitchFamily="34" charset="-120"/>
              </a:rPr>
              <a:t>Kim et al., ICLR 2022</a:t>
            </a:r>
            <a:endParaRPr lang="en-US" sz="1100" dirty="0"/>
          </a:p>
        </p:txBody>
      </p:sp>
      <p:sp>
        <p:nvSpPr>
          <p:cNvPr id="31" name="Text 25"/>
          <p:cNvSpPr txBox="1"/>
          <p:nvPr/>
        </p:nvSpPr>
        <p:spPr>
          <a:xfrm>
            <a:off x="9198864" y="3200400"/>
            <a:ext cx="2240280" cy="14630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Normalise each input window by its own mean/std, then de-normalise the output: removes per-window level/scale shift.</a:t>
            </a:r>
            <a:endParaRPr lang="en-US" sz="1250" dirty="0"/>
          </a:p>
        </p:txBody>
      </p:sp>
      <p:sp>
        <p:nvSpPr>
          <p:cNvPr id="32" name="Text 26"/>
          <p:cNvSpPr txBox="1"/>
          <p:nvPr/>
        </p:nvSpPr>
        <p:spPr>
          <a:xfrm>
            <a:off x="9198864" y="4754880"/>
            <a:ext cx="2240280" cy="548640"/>
          </a:xfrm>
          <a:prstGeom prst="rect">
            <a:avLst/>
          </a:prstGeom>
          <a:noFill/>
          <a:ln/>
        </p:spPr>
        <p:txBody>
          <a:bodyPr wrap="square" lIns="0" tIns="0" rIns="0" bIns="0" rtlCol="0" anchor="t"/>
          <a:lstStyle/>
          <a:p>
            <a:pPr marL="0" indent="0">
              <a:buNone/>
            </a:pPr>
            <a:r>
              <a:rPr lang="en-US" sz="1200" b="1" dirty="0">
                <a:solidFill>
                  <a:srgbClr val="2F7F73"/>
                </a:solidFill>
                <a:latin typeface="Calibri" pitchFamily="34" charset="0"/>
                <a:ea typeface="Calibri" pitchFamily="34" charset="-122"/>
                <a:cs typeface="Calibri" pitchFamily="34" charset="-120"/>
              </a:rPr>
              <a:t>→ Built in: handles marginal shift</a:t>
            </a:r>
            <a:endParaRPr lang="en-US" sz="1200" dirty="0"/>
          </a:p>
        </p:txBody>
      </p:sp>
      <p:sp>
        <p:nvSpPr>
          <p:cNvPr id="33" name="Shape 27"/>
          <p:cNvSpPr/>
          <p:nvPr/>
        </p:nvSpPr>
        <p:spPr>
          <a:xfrm>
            <a:off x="548640" y="5623560"/>
            <a:ext cx="11091672" cy="603504"/>
          </a:xfrm>
          <a:prstGeom prst="roundRect">
            <a:avLst>
              <a:gd name="adj" fmla="val 12121"/>
            </a:avLst>
          </a:prstGeom>
          <a:solidFill>
            <a:srgbClr val="16232A"/>
          </a:solidFill>
          <a:ln w="12700">
            <a:solidFill>
              <a:srgbClr val="16232A"/>
            </a:solidFill>
            <a:prstDash val="solid"/>
          </a:ln>
        </p:spPr>
      </p:sp>
      <p:sp>
        <p:nvSpPr>
          <p:cNvPr id="34" name="Text 28"/>
          <p:cNvSpPr txBox="1"/>
          <p:nvPr/>
        </p:nvSpPr>
        <p:spPr>
          <a:xfrm>
            <a:off x="777240" y="5623560"/>
            <a:ext cx="10698480" cy="6035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Design decision: combine a TCN encoder, a DLinear-style linear path and RevIN in one small model (381,606 parameters), so adaptation stays cheap enough to run on a laptop CPU.</a:t>
            </a:r>
            <a:endParaRPr lang="en-US" sz="130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Why aligning features can work, and what we borrow</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371600"/>
            <a:ext cx="11091672" cy="1280160"/>
          </a:xfrm>
          <a:prstGeom prst="roundRect">
            <a:avLst>
              <a:gd name="adj" fmla="val 5714"/>
            </a:avLst>
          </a:prstGeom>
          <a:solidFill>
            <a:srgbClr val="16232A"/>
          </a:solidFill>
          <a:ln w="12700">
            <a:solidFill>
              <a:srgbClr val="16232A"/>
            </a:solidFill>
            <a:prstDash val="solid"/>
          </a:ln>
        </p:spPr>
      </p:sp>
      <p:sp>
        <p:nvSpPr>
          <p:cNvPr id="6" name="Text 4"/>
          <p:cNvSpPr txBox="1"/>
          <p:nvPr/>
        </p:nvSpPr>
        <p:spPr>
          <a:xfrm>
            <a:off x="548640" y="1371600"/>
            <a:ext cx="11091672" cy="914400"/>
          </a:xfrm>
          <a:prstGeom prst="rect">
            <a:avLst/>
          </a:prstGeom>
          <a:noFill/>
          <a:ln/>
        </p:spPr>
        <p:txBody>
          <a:bodyPr wrap="square" lIns="0" tIns="0" rIns="0" bIns="0" rtlCol="0" anchor="ctr"/>
          <a:lstStyle/>
          <a:p>
            <a:pPr marL="0" indent="0" algn="ctr">
              <a:buNone/>
            </a:pPr>
            <a:r>
              <a:rPr lang="en-US" sz="3200" dirty="0">
                <a:solidFill>
                  <a:srgbClr val="FFFFFF"/>
                </a:solidFill>
                <a:latin typeface="Cambria" pitchFamily="34" charset="0"/>
                <a:ea typeface="Cambria" pitchFamily="34" charset="-122"/>
                <a:cs typeface="Cambria" pitchFamily="34" charset="-120"/>
              </a:rPr>
              <a:t>ε</a:t>
            </a:r>
            <a:r>
              <a:rPr lang="en-US" sz="3200" baseline="-40000" dirty="0">
                <a:solidFill>
                  <a:srgbClr val="FFFFFF"/>
                </a:solidFill>
                <a:latin typeface="Cambria" pitchFamily="34" charset="0"/>
                <a:ea typeface="Cambria" pitchFamily="34" charset="-122"/>
                <a:cs typeface="Cambria" pitchFamily="34" charset="-120"/>
              </a:rPr>
              <a:t>T</a:t>
            </a:r>
            <a:r>
              <a:rPr lang="en-US" sz="3200" dirty="0">
                <a:solidFill>
                  <a:srgbClr val="FFFFFF"/>
                </a:solidFill>
                <a:latin typeface="Cambria" pitchFamily="34" charset="0"/>
                <a:ea typeface="Cambria" pitchFamily="34" charset="-122"/>
                <a:cs typeface="Cambria" pitchFamily="34" charset="-120"/>
              </a:rPr>
              <a:t>(h)  ≤  </a:t>
            </a:r>
            <a:r>
              <a:rPr lang="en-US" sz="3200" dirty="0">
                <a:solidFill>
                  <a:srgbClr val="6FB3A6"/>
                </a:solidFill>
                <a:latin typeface="Cambria" pitchFamily="34" charset="0"/>
                <a:ea typeface="Cambria" pitchFamily="34" charset="-122"/>
                <a:cs typeface="Cambria" pitchFamily="34" charset="-120"/>
              </a:rPr>
              <a:t>ε</a:t>
            </a:r>
            <a:r>
              <a:rPr lang="en-US" sz="3200" baseline="-40000" dirty="0">
                <a:solidFill>
                  <a:srgbClr val="6FB3A6"/>
                </a:solidFill>
                <a:latin typeface="Cambria" pitchFamily="34" charset="0"/>
                <a:ea typeface="Cambria" pitchFamily="34" charset="-122"/>
                <a:cs typeface="Cambria" pitchFamily="34" charset="-120"/>
              </a:rPr>
              <a:t>S</a:t>
            </a:r>
            <a:r>
              <a:rPr lang="en-US" sz="3200" dirty="0">
                <a:solidFill>
                  <a:srgbClr val="6FB3A6"/>
                </a:solidFill>
                <a:latin typeface="Cambria" pitchFamily="34" charset="0"/>
                <a:ea typeface="Cambria" pitchFamily="34" charset="-122"/>
                <a:cs typeface="Cambria" pitchFamily="34" charset="-120"/>
              </a:rPr>
              <a:t>(h)</a:t>
            </a:r>
            <a:r>
              <a:rPr lang="en-US" sz="3200" dirty="0">
                <a:solidFill>
                  <a:srgbClr val="FFFFFF"/>
                </a:solidFill>
                <a:latin typeface="Cambria" pitchFamily="34" charset="0"/>
                <a:ea typeface="Cambria" pitchFamily="34" charset="-122"/>
                <a:cs typeface="Cambria" pitchFamily="34" charset="-120"/>
              </a:rPr>
              <a:t>  +  </a:t>
            </a:r>
            <a:r>
              <a:rPr lang="en-US" sz="3200" dirty="0">
                <a:solidFill>
                  <a:srgbClr val="F2B45C"/>
                </a:solidFill>
                <a:latin typeface="Cambria" pitchFamily="34" charset="0"/>
                <a:ea typeface="Cambria" pitchFamily="34" charset="-122"/>
                <a:cs typeface="Cambria" pitchFamily="34" charset="-120"/>
              </a:rPr>
              <a:t>½ d</a:t>
            </a:r>
            <a:r>
              <a:rPr lang="en-US" sz="3200" baseline="-40000" dirty="0">
                <a:solidFill>
                  <a:srgbClr val="F2B45C"/>
                </a:solidFill>
                <a:latin typeface="Cambria" pitchFamily="34" charset="0"/>
                <a:ea typeface="Cambria" pitchFamily="34" charset="-122"/>
                <a:cs typeface="Cambria" pitchFamily="34" charset="-120"/>
              </a:rPr>
              <a:t>HΔH</a:t>
            </a:r>
            <a:r>
              <a:rPr lang="en-US" sz="3200" dirty="0">
                <a:solidFill>
                  <a:srgbClr val="F2B45C"/>
                </a:solidFill>
                <a:latin typeface="Cambria" pitchFamily="34" charset="0"/>
                <a:ea typeface="Cambria" pitchFamily="34" charset="-122"/>
                <a:cs typeface="Cambria" pitchFamily="34" charset="-120"/>
              </a:rPr>
              <a:t>(D</a:t>
            </a:r>
            <a:r>
              <a:rPr lang="en-US" sz="3200" baseline="-40000" dirty="0">
                <a:solidFill>
                  <a:srgbClr val="F2B45C"/>
                </a:solidFill>
                <a:latin typeface="Cambria" pitchFamily="34" charset="0"/>
                <a:ea typeface="Cambria" pitchFamily="34" charset="-122"/>
                <a:cs typeface="Cambria" pitchFamily="34" charset="-120"/>
              </a:rPr>
              <a:t>S</a:t>
            </a:r>
            <a:r>
              <a:rPr lang="en-US" sz="3200" dirty="0">
                <a:solidFill>
                  <a:srgbClr val="F2B45C"/>
                </a:solidFill>
                <a:latin typeface="Cambria" pitchFamily="34" charset="0"/>
                <a:ea typeface="Cambria" pitchFamily="34" charset="-122"/>
                <a:cs typeface="Cambria" pitchFamily="34" charset="-120"/>
              </a:rPr>
              <a:t>, D</a:t>
            </a:r>
            <a:r>
              <a:rPr lang="en-US" sz="3200" baseline="-40000" dirty="0">
                <a:solidFill>
                  <a:srgbClr val="F2B45C"/>
                </a:solidFill>
                <a:latin typeface="Cambria" pitchFamily="34" charset="0"/>
                <a:ea typeface="Cambria" pitchFamily="34" charset="-122"/>
                <a:cs typeface="Cambria" pitchFamily="34" charset="-120"/>
              </a:rPr>
              <a:t>T</a:t>
            </a:r>
            <a:r>
              <a:rPr lang="en-US" sz="3200" dirty="0">
                <a:solidFill>
                  <a:srgbClr val="F2B45C"/>
                </a:solidFill>
                <a:latin typeface="Cambria" pitchFamily="34" charset="0"/>
                <a:ea typeface="Cambria" pitchFamily="34" charset="-122"/>
                <a:cs typeface="Cambria" pitchFamily="34" charset="-120"/>
              </a:rPr>
              <a:t>)</a:t>
            </a:r>
            <a:r>
              <a:rPr lang="en-US" sz="3200" dirty="0">
                <a:solidFill>
                  <a:srgbClr val="FFFFFF"/>
                </a:solidFill>
                <a:latin typeface="Cambria" pitchFamily="34" charset="0"/>
                <a:ea typeface="Cambria" pitchFamily="34" charset="-122"/>
                <a:cs typeface="Cambria" pitchFamily="34" charset="-120"/>
              </a:rPr>
              <a:t>  +  </a:t>
            </a:r>
            <a:r>
              <a:rPr lang="en-US" sz="3200" dirty="0">
                <a:solidFill>
                  <a:srgbClr val="E8A7A0"/>
                </a:solidFill>
                <a:latin typeface="Cambria" pitchFamily="34" charset="0"/>
                <a:ea typeface="Cambria" pitchFamily="34" charset="-122"/>
                <a:cs typeface="Cambria" pitchFamily="34" charset="-120"/>
              </a:rPr>
              <a:t>λ*</a:t>
            </a:r>
            <a:endParaRPr lang="en-US" sz="3200" dirty="0"/>
          </a:p>
        </p:txBody>
      </p:sp>
      <p:sp>
        <p:nvSpPr>
          <p:cNvPr id="7" name="Text 5"/>
          <p:cNvSpPr txBox="1"/>
          <p:nvPr/>
        </p:nvSpPr>
        <p:spPr>
          <a:xfrm>
            <a:off x="548640" y="2267712"/>
            <a:ext cx="11091672" cy="320040"/>
          </a:xfrm>
          <a:prstGeom prst="rect">
            <a:avLst/>
          </a:prstGeom>
          <a:noFill/>
          <a:ln/>
        </p:spPr>
        <p:txBody>
          <a:bodyPr wrap="square" lIns="0" tIns="0" rIns="0" bIns="0" rtlCol="0" anchor="t"/>
          <a:lstStyle/>
          <a:p>
            <a:pPr marL="0" indent="0" algn="ctr">
              <a:buNone/>
            </a:pPr>
            <a:r>
              <a:rPr lang="en-US" sz="1150" dirty="0">
                <a:solidFill>
                  <a:srgbClr val="E6F0EE"/>
                </a:solidFill>
                <a:latin typeface="Calibri" pitchFamily="34" charset="0"/>
                <a:ea typeface="Calibri" pitchFamily="34" charset="-122"/>
                <a:cs typeface="Calibri" pitchFamily="34" charset="-120"/>
              </a:rPr>
              <a:t>Ben-David et al., Machine Learning 2010: target error ≤ source error + domain divergence + error of the best joint hypothesis.</a:t>
            </a:r>
            <a:endParaRPr lang="en-US" sz="1150" dirty="0"/>
          </a:p>
        </p:txBody>
      </p:sp>
      <p:sp>
        <p:nvSpPr>
          <p:cNvPr id="8" name="Shape 6"/>
          <p:cNvSpPr/>
          <p:nvPr/>
        </p:nvSpPr>
        <p:spPr>
          <a:xfrm>
            <a:off x="548640" y="2926080"/>
            <a:ext cx="3566160" cy="2240280"/>
          </a:xfrm>
          <a:prstGeom prst="roundRect">
            <a:avLst>
              <a:gd name="adj" fmla="val 3265"/>
            </a:avLst>
          </a:prstGeom>
          <a:solidFill>
            <a:srgbClr val="F1F6F5"/>
          </a:solidFill>
          <a:ln w="12700">
            <a:solidFill>
              <a:srgbClr val="F1F6F5"/>
            </a:solidFill>
            <a:prstDash val="solid"/>
          </a:ln>
        </p:spPr>
      </p:sp>
      <p:sp>
        <p:nvSpPr>
          <p:cNvPr id="9" name="Shape 7"/>
          <p:cNvSpPr/>
          <p:nvPr/>
        </p:nvSpPr>
        <p:spPr>
          <a:xfrm>
            <a:off x="777240" y="3127248"/>
            <a:ext cx="310896" cy="310896"/>
          </a:xfrm>
          <a:prstGeom prst="ellipse">
            <a:avLst/>
          </a:prstGeom>
          <a:solidFill>
            <a:srgbClr val="2F7F73"/>
          </a:solidFill>
          <a:ln w="12700">
            <a:solidFill>
              <a:srgbClr val="2F7F73"/>
            </a:solidFill>
            <a:prstDash val="solid"/>
          </a:ln>
        </p:spPr>
      </p:sp>
      <p:sp>
        <p:nvSpPr>
          <p:cNvPr id="10" name="Text 8"/>
          <p:cNvSpPr txBox="1"/>
          <p:nvPr/>
        </p:nvSpPr>
        <p:spPr>
          <a:xfrm>
            <a:off x="1207008" y="3108960"/>
            <a:ext cx="2743200" cy="365760"/>
          </a:xfrm>
          <a:prstGeom prst="rect">
            <a:avLst/>
          </a:prstGeom>
          <a:noFill/>
          <a:ln/>
        </p:spPr>
        <p:txBody>
          <a:bodyPr wrap="square" lIns="0" tIns="0" rIns="0" bIns="0" rtlCol="0" anchor="t"/>
          <a:lstStyle/>
          <a:p>
            <a:pPr marL="0" indent="0">
              <a:buNone/>
            </a:pPr>
            <a:r>
              <a:rPr lang="en-US" sz="1650" b="1" dirty="0">
                <a:solidFill>
                  <a:srgbClr val="1B2B31"/>
                </a:solidFill>
                <a:latin typeface="Calibri" pitchFamily="34" charset="0"/>
                <a:ea typeface="Calibri" pitchFamily="34" charset="-122"/>
                <a:cs typeface="Calibri" pitchFamily="34" charset="-120"/>
              </a:rPr>
              <a:t>Source error</a:t>
            </a:r>
            <a:endParaRPr lang="en-US" sz="1650" dirty="0"/>
          </a:p>
        </p:txBody>
      </p:sp>
      <p:sp>
        <p:nvSpPr>
          <p:cNvPr id="11" name="Text 9"/>
          <p:cNvSpPr txBox="1"/>
          <p:nvPr/>
        </p:nvSpPr>
        <p:spPr>
          <a:xfrm>
            <a:off x="777240" y="3611880"/>
            <a:ext cx="3154680" cy="12344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Keep minimising the supervised forecasting loss on Domain 1 while adapting.</a:t>
            </a:r>
            <a:endParaRPr lang="en-US" sz="1250" dirty="0"/>
          </a:p>
        </p:txBody>
      </p:sp>
      <p:sp>
        <p:nvSpPr>
          <p:cNvPr id="12" name="Text 10"/>
          <p:cNvSpPr txBox="1"/>
          <p:nvPr/>
        </p:nvSpPr>
        <p:spPr>
          <a:xfrm>
            <a:off x="777240" y="4754880"/>
            <a:ext cx="3154680" cy="347472"/>
          </a:xfrm>
          <a:prstGeom prst="rect">
            <a:avLst/>
          </a:prstGeom>
          <a:noFill/>
          <a:ln/>
        </p:spPr>
        <p:txBody>
          <a:bodyPr wrap="square" lIns="0" tIns="0" rIns="0" bIns="0" rtlCol="0" anchor="t"/>
          <a:lstStyle/>
          <a:p>
            <a:pPr marL="0" indent="0">
              <a:buNone/>
            </a:pPr>
            <a:r>
              <a:rPr lang="en-US" sz="1300" b="1" dirty="0">
                <a:solidFill>
                  <a:srgbClr val="1B2B31"/>
                </a:solidFill>
                <a:latin typeface="Consolas" pitchFamily="34" charset="0"/>
                <a:ea typeface="Consolas" pitchFamily="34" charset="-122"/>
                <a:cs typeface="Consolas" pitchFamily="34" charset="-120"/>
              </a:rPr>
              <a:t>→ L_fcst</a:t>
            </a:r>
            <a:endParaRPr lang="en-US" sz="1300" dirty="0"/>
          </a:p>
        </p:txBody>
      </p:sp>
      <p:sp>
        <p:nvSpPr>
          <p:cNvPr id="13" name="Shape 11"/>
          <p:cNvSpPr/>
          <p:nvPr/>
        </p:nvSpPr>
        <p:spPr>
          <a:xfrm>
            <a:off x="4297680" y="2926080"/>
            <a:ext cx="3566160" cy="2240280"/>
          </a:xfrm>
          <a:prstGeom prst="roundRect">
            <a:avLst>
              <a:gd name="adj" fmla="val 3265"/>
            </a:avLst>
          </a:prstGeom>
          <a:solidFill>
            <a:srgbClr val="F1F6F5"/>
          </a:solidFill>
          <a:ln w="12700">
            <a:solidFill>
              <a:srgbClr val="F1F6F5"/>
            </a:solidFill>
            <a:prstDash val="solid"/>
          </a:ln>
        </p:spPr>
      </p:sp>
      <p:sp>
        <p:nvSpPr>
          <p:cNvPr id="14" name="Shape 12"/>
          <p:cNvSpPr/>
          <p:nvPr/>
        </p:nvSpPr>
        <p:spPr>
          <a:xfrm>
            <a:off x="4526280" y="3127248"/>
            <a:ext cx="310896" cy="310896"/>
          </a:xfrm>
          <a:prstGeom prst="ellipse">
            <a:avLst/>
          </a:prstGeom>
          <a:solidFill>
            <a:srgbClr val="D98A1E"/>
          </a:solidFill>
          <a:ln w="12700">
            <a:solidFill>
              <a:srgbClr val="D98A1E"/>
            </a:solidFill>
            <a:prstDash val="solid"/>
          </a:ln>
        </p:spPr>
      </p:sp>
      <p:sp>
        <p:nvSpPr>
          <p:cNvPr id="15" name="Text 13"/>
          <p:cNvSpPr txBox="1"/>
          <p:nvPr/>
        </p:nvSpPr>
        <p:spPr>
          <a:xfrm>
            <a:off x="4956048" y="3108960"/>
            <a:ext cx="2743200" cy="365760"/>
          </a:xfrm>
          <a:prstGeom prst="rect">
            <a:avLst/>
          </a:prstGeom>
          <a:noFill/>
          <a:ln/>
        </p:spPr>
        <p:txBody>
          <a:bodyPr wrap="square" lIns="0" tIns="0" rIns="0" bIns="0" rtlCol="0" anchor="t"/>
          <a:lstStyle/>
          <a:p>
            <a:pPr marL="0" indent="0">
              <a:buNone/>
            </a:pPr>
            <a:r>
              <a:rPr lang="en-US" sz="1650" b="1" dirty="0">
                <a:solidFill>
                  <a:srgbClr val="1B2B31"/>
                </a:solidFill>
                <a:latin typeface="Calibri" pitchFamily="34" charset="0"/>
                <a:ea typeface="Calibri" pitchFamily="34" charset="-122"/>
                <a:cs typeface="Calibri" pitchFamily="34" charset="-120"/>
              </a:rPr>
              <a:t>Domain divergence</a:t>
            </a:r>
            <a:endParaRPr lang="en-US" sz="1650" dirty="0"/>
          </a:p>
        </p:txBody>
      </p:sp>
      <p:sp>
        <p:nvSpPr>
          <p:cNvPr id="16" name="Text 14"/>
          <p:cNvSpPr txBox="1"/>
          <p:nvPr/>
        </p:nvSpPr>
        <p:spPr>
          <a:xfrm>
            <a:off x="4526280" y="3611880"/>
            <a:ext cx="3154680" cy="12344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Make source and target feature distributions look alike (MMD, CORAL, adversarial).</a:t>
            </a:r>
            <a:endParaRPr lang="en-US" sz="1250" dirty="0"/>
          </a:p>
        </p:txBody>
      </p:sp>
      <p:sp>
        <p:nvSpPr>
          <p:cNvPr id="17" name="Text 15"/>
          <p:cNvSpPr txBox="1"/>
          <p:nvPr/>
        </p:nvSpPr>
        <p:spPr>
          <a:xfrm>
            <a:off x="4526280" y="4754880"/>
            <a:ext cx="3154680" cy="347472"/>
          </a:xfrm>
          <a:prstGeom prst="rect">
            <a:avLst/>
          </a:prstGeom>
          <a:noFill/>
          <a:ln/>
        </p:spPr>
        <p:txBody>
          <a:bodyPr wrap="square" lIns="0" tIns="0" rIns="0" bIns="0" rtlCol="0" anchor="t"/>
          <a:lstStyle/>
          <a:p>
            <a:pPr marL="0" indent="0">
              <a:buNone/>
            </a:pPr>
            <a:r>
              <a:rPr lang="en-US" sz="1300" b="1" dirty="0">
                <a:solidFill>
                  <a:srgbClr val="1B2B31"/>
                </a:solidFill>
                <a:latin typeface="Consolas" pitchFamily="34" charset="0"/>
                <a:ea typeface="Consolas" pitchFamily="34" charset="-122"/>
                <a:cs typeface="Consolas" pitchFamily="34" charset="-120"/>
              </a:rPr>
              <a:t>→ L_MMD + L_CORAL</a:t>
            </a:r>
            <a:endParaRPr lang="en-US" sz="1300" dirty="0"/>
          </a:p>
        </p:txBody>
      </p:sp>
      <p:sp>
        <p:nvSpPr>
          <p:cNvPr id="18" name="Shape 16"/>
          <p:cNvSpPr/>
          <p:nvPr/>
        </p:nvSpPr>
        <p:spPr>
          <a:xfrm>
            <a:off x="8046720" y="2926080"/>
            <a:ext cx="3566160" cy="2240280"/>
          </a:xfrm>
          <a:prstGeom prst="roundRect">
            <a:avLst>
              <a:gd name="adj" fmla="val 3265"/>
            </a:avLst>
          </a:prstGeom>
          <a:solidFill>
            <a:srgbClr val="F1F6F5"/>
          </a:solidFill>
          <a:ln w="12700">
            <a:solidFill>
              <a:srgbClr val="F1F6F5"/>
            </a:solidFill>
            <a:prstDash val="solid"/>
          </a:ln>
        </p:spPr>
      </p:sp>
      <p:sp>
        <p:nvSpPr>
          <p:cNvPr id="19" name="Shape 17"/>
          <p:cNvSpPr/>
          <p:nvPr/>
        </p:nvSpPr>
        <p:spPr>
          <a:xfrm>
            <a:off x="8275320" y="3127248"/>
            <a:ext cx="310896" cy="310896"/>
          </a:xfrm>
          <a:prstGeom prst="ellipse">
            <a:avLst/>
          </a:prstGeom>
          <a:solidFill>
            <a:srgbClr val="B5473A"/>
          </a:solidFill>
          <a:ln w="12700">
            <a:solidFill>
              <a:srgbClr val="B5473A"/>
            </a:solidFill>
            <a:prstDash val="solid"/>
          </a:ln>
        </p:spPr>
      </p:sp>
      <p:sp>
        <p:nvSpPr>
          <p:cNvPr id="20" name="Text 18"/>
          <p:cNvSpPr txBox="1"/>
          <p:nvPr/>
        </p:nvSpPr>
        <p:spPr>
          <a:xfrm>
            <a:off x="8705088" y="3108960"/>
            <a:ext cx="2743200" cy="365760"/>
          </a:xfrm>
          <a:prstGeom prst="rect">
            <a:avLst/>
          </a:prstGeom>
          <a:noFill/>
          <a:ln/>
        </p:spPr>
        <p:txBody>
          <a:bodyPr wrap="square" lIns="0" tIns="0" rIns="0" bIns="0" rtlCol="0" anchor="t"/>
          <a:lstStyle/>
          <a:p>
            <a:pPr marL="0" indent="0">
              <a:buNone/>
            </a:pPr>
            <a:r>
              <a:rPr lang="en-US" sz="1650" b="1" dirty="0">
                <a:solidFill>
                  <a:srgbClr val="1B2B31"/>
                </a:solidFill>
                <a:latin typeface="Calibri" pitchFamily="34" charset="0"/>
                <a:ea typeface="Calibri" pitchFamily="34" charset="-122"/>
                <a:cs typeface="Calibri" pitchFamily="34" charset="-120"/>
              </a:rPr>
              <a:t>Joint error λ*</a:t>
            </a:r>
            <a:endParaRPr lang="en-US" sz="1650" dirty="0"/>
          </a:p>
        </p:txBody>
      </p:sp>
      <p:sp>
        <p:nvSpPr>
          <p:cNvPr id="21" name="Text 19"/>
          <p:cNvSpPr txBox="1"/>
          <p:nvPr/>
        </p:nvSpPr>
        <p:spPr>
          <a:xfrm>
            <a:off x="8275320" y="3611880"/>
            <a:ext cx="3154680" cy="1234440"/>
          </a:xfrm>
          <a:prstGeom prst="rect">
            <a:avLst/>
          </a:prstGeom>
          <a:noFill/>
          <a:ln/>
        </p:spPr>
        <p:txBody>
          <a:bodyPr wrap="square" lIns="0" tIns="0" rIns="0" bIns="0" rtlCol="0" anchor="t"/>
          <a:lstStyle/>
          <a:p>
            <a:pPr marL="0" indent="0">
              <a:buNone/>
            </a:pPr>
            <a:r>
              <a:rPr lang="en-US" sz="1250" dirty="0">
                <a:solidFill>
                  <a:srgbClr val="4F5F65"/>
                </a:solidFill>
                <a:latin typeface="Calibri" pitchFamily="34" charset="0"/>
                <a:ea typeface="Calibri" pitchFamily="34" charset="-122"/>
                <a:cs typeface="Calibri" pitchFamily="34" charset="-120"/>
              </a:rPr>
              <a:t>Unmeasurable without labels. Aligning at any cost destroys forecast-relevant features, so keep a pretext task and stay near the source weights.</a:t>
            </a:r>
            <a:endParaRPr lang="en-US" sz="1250" dirty="0"/>
          </a:p>
        </p:txBody>
      </p:sp>
      <p:sp>
        <p:nvSpPr>
          <p:cNvPr id="22" name="Text 20"/>
          <p:cNvSpPr txBox="1"/>
          <p:nvPr/>
        </p:nvSpPr>
        <p:spPr>
          <a:xfrm>
            <a:off x="8275320" y="4754880"/>
            <a:ext cx="3154680" cy="347472"/>
          </a:xfrm>
          <a:prstGeom prst="rect">
            <a:avLst/>
          </a:prstGeom>
          <a:noFill/>
          <a:ln/>
        </p:spPr>
        <p:txBody>
          <a:bodyPr wrap="square" lIns="0" tIns="0" rIns="0" bIns="0" rtlCol="0" anchor="t"/>
          <a:lstStyle/>
          <a:p>
            <a:pPr marL="0" indent="0">
              <a:buNone/>
            </a:pPr>
            <a:r>
              <a:rPr lang="en-US" sz="1300" b="1" dirty="0">
                <a:solidFill>
                  <a:srgbClr val="1B2B31"/>
                </a:solidFill>
                <a:latin typeface="Consolas" pitchFamily="34" charset="0"/>
                <a:ea typeface="Consolas" pitchFamily="34" charset="-122"/>
                <a:cs typeface="Consolas" pitchFamily="34" charset="-120"/>
              </a:rPr>
              <a:t>→ L_pretext + L_anchor</a:t>
            </a:r>
            <a:endParaRPr lang="en-US" sz="1300" dirty="0"/>
          </a:p>
        </p:txBody>
      </p:sp>
      <p:sp>
        <p:nvSpPr>
          <p:cNvPr id="23" name="Shape 21"/>
          <p:cNvSpPr/>
          <p:nvPr/>
        </p:nvSpPr>
        <p:spPr>
          <a:xfrm>
            <a:off x="548640" y="5349240"/>
            <a:ext cx="11091672" cy="914400"/>
          </a:xfrm>
          <a:prstGeom prst="roundRect">
            <a:avLst>
              <a:gd name="adj" fmla="val 8000"/>
            </a:avLst>
          </a:prstGeom>
          <a:solidFill>
            <a:srgbClr val="F1F6F5"/>
          </a:solidFill>
          <a:ln w="12700">
            <a:solidFill>
              <a:srgbClr val="F1F6F5"/>
            </a:solidFill>
            <a:prstDash val="solid"/>
          </a:ln>
        </p:spPr>
      </p:sp>
      <p:sp>
        <p:nvSpPr>
          <p:cNvPr id="24" name="Text 22"/>
          <p:cNvSpPr txBox="1"/>
          <p:nvPr/>
        </p:nvSpPr>
        <p:spPr>
          <a:xfrm>
            <a:off x="777240" y="5440680"/>
            <a:ext cx="10607040" cy="274320"/>
          </a:xfrm>
          <a:prstGeom prst="rect">
            <a:avLst/>
          </a:prstGeom>
          <a:noFill/>
          <a:ln/>
        </p:spPr>
        <p:txBody>
          <a:bodyPr wrap="square" lIns="0" tIns="0" rIns="0" bIns="0" rtlCol="0" anchor="t"/>
          <a:lstStyle/>
          <a:p>
            <a:pPr marL="0" indent="0">
              <a:buNone/>
            </a:pPr>
            <a:r>
              <a:rPr lang="en-US" sz="1250" b="1" dirty="0">
                <a:solidFill>
                  <a:srgbClr val="2F7F73"/>
                </a:solidFill>
                <a:latin typeface="Calibri" pitchFamily="34" charset="0"/>
                <a:ea typeface="Calibri" pitchFamily="34" charset="-122"/>
                <a:cs typeface="Calibri" pitchFamily="34" charset="-120"/>
              </a:rPr>
              <a:t>Five method families we read, and where each one lands in our design</a:t>
            </a:r>
            <a:endParaRPr lang="en-US" sz="1250" dirty="0"/>
          </a:p>
        </p:txBody>
      </p:sp>
      <p:sp>
        <p:nvSpPr>
          <p:cNvPr id="25" name="Text 23"/>
          <p:cNvSpPr txBox="1"/>
          <p:nvPr/>
        </p:nvSpPr>
        <p:spPr>
          <a:xfrm>
            <a:off x="777240" y="5742432"/>
            <a:ext cx="10607040" cy="4572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Discrepancy (MMD/DAN, Deep CORAL) → our alignment terms and baselines  ·  Adversarial (DANN, CoDATS) → baseline  ·  Self-supervised / test-time training (TTT) → pretext term  ·  Parameter regularisation (L2-SP) → elastic anchor  ·  Normalisation (RevIN, AdaBN) → inside the model</a:t>
            </a:r>
            <a:endParaRPr lang="en-US" sz="1150" dirty="0"/>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Domain adaptation for time series: prior work</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6949440" cy="804672"/>
          </a:xfrm>
          <a:prstGeom prst="roundRect">
            <a:avLst>
              <a:gd name="adj" fmla="val 9091"/>
            </a:avLst>
          </a:prstGeom>
          <a:solidFill>
            <a:srgbClr val="F1F6F5"/>
          </a:solidFill>
          <a:ln w="12700">
            <a:solidFill>
              <a:srgbClr val="F1F6F5"/>
            </a:solidFill>
            <a:prstDash val="solid"/>
          </a:ln>
        </p:spPr>
      </p:sp>
      <p:sp>
        <p:nvSpPr>
          <p:cNvPr id="6" name="Text 4"/>
          <p:cNvSpPr txBox="1"/>
          <p:nvPr/>
        </p:nvSpPr>
        <p:spPr>
          <a:xfrm>
            <a:off x="777240" y="1554480"/>
            <a:ext cx="1463040" cy="365760"/>
          </a:xfrm>
          <a:prstGeom prst="rect">
            <a:avLst/>
          </a:prstGeom>
          <a:noFill/>
          <a:ln/>
        </p:spPr>
        <p:txBody>
          <a:bodyPr wrap="square" lIns="0" tIns="0" rIns="0" bIns="0" rtlCol="0" anchor="t"/>
          <a:lstStyle/>
          <a:p>
            <a:pPr marL="0" indent="0">
              <a:buNone/>
            </a:pPr>
            <a:r>
              <a:rPr lang="en-US" sz="1800" b="1" dirty="0">
                <a:solidFill>
                  <a:srgbClr val="2F7F73"/>
                </a:solidFill>
                <a:latin typeface="Cambria" pitchFamily="34" charset="0"/>
                <a:ea typeface="Cambria" pitchFamily="34" charset="-122"/>
                <a:cs typeface="Cambria" pitchFamily="34" charset="-120"/>
              </a:rPr>
              <a:t>CoDATS</a:t>
            </a:r>
            <a:endParaRPr lang="en-US" sz="1800" dirty="0"/>
          </a:p>
        </p:txBody>
      </p:sp>
      <p:sp>
        <p:nvSpPr>
          <p:cNvPr id="7" name="Text 5"/>
          <p:cNvSpPr txBox="1"/>
          <p:nvPr/>
        </p:nvSpPr>
        <p:spPr>
          <a:xfrm>
            <a:off x="777240" y="1920240"/>
            <a:ext cx="1463040" cy="274320"/>
          </a:xfrm>
          <a:prstGeom prst="rect">
            <a:avLst/>
          </a:prstGeom>
          <a:noFill/>
          <a:ln/>
        </p:spPr>
        <p:txBody>
          <a:bodyPr wrap="square" lIns="0" tIns="0" rIns="0" bIns="0" rtlCol="0" anchor="t"/>
          <a:lstStyle/>
          <a:p>
            <a:pPr marL="0" indent="0">
              <a:buNone/>
            </a:pPr>
            <a:r>
              <a:rPr lang="en-US" sz="1050" dirty="0">
                <a:solidFill>
                  <a:srgbClr val="7C8B90"/>
                </a:solidFill>
                <a:latin typeface="Calibri" pitchFamily="34" charset="0"/>
                <a:ea typeface="Calibri" pitchFamily="34" charset="-122"/>
                <a:cs typeface="Calibri" pitchFamily="34" charset="-120"/>
              </a:rPr>
              <a:t>KDD 2020</a:t>
            </a:r>
            <a:endParaRPr lang="en-US" sz="1050" dirty="0"/>
          </a:p>
        </p:txBody>
      </p:sp>
      <p:sp>
        <p:nvSpPr>
          <p:cNvPr id="8" name="Text 6"/>
          <p:cNvSpPr txBox="1"/>
          <p:nvPr/>
        </p:nvSpPr>
        <p:spPr>
          <a:xfrm>
            <a:off x="2331720" y="1554480"/>
            <a:ext cx="5029200" cy="640080"/>
          </a:xfrm>
          <a:prstGeom prst="rect">
            <a:avLst/>
          </a:prstGeom>
          <a:noFill/>
          <a:ln/>
        </p:spPr>
        <p:txBody>
          <a:bodyPr wrap="square" lIns="0" tIns="0" rIns="0" bIns="0" rtlCol="0" anchor="ctr"/>
          <a:lstStyle/>
          <a:p>
            <a:pPr marL="0" indent="0">
              <a:buNone/>
            </a:pPr>
            <a:r>
              <a:rPr lang="en-US" sz="1300" dirty="0">
                <a:solidFill>
                  <a:srgbClr val="4F5F65"/>
                </a:solidFill>
                <a:latin typeface="Calibri" pitchFamily="34" charset="0"/>
                <a:ea typeface="Calibri" pitchFamily="34" charset="-122"/>
                <a:cs typeface="Calibri" pitchFamily="34" charset="-120"/>
              </a:rPr>
              <a:t>Adversarial 1-D CNN adaptation for multi-source sensor classification.</a:t>
            </a:r>
            <a:endParaRPr lang="en-US" sz="1300" dirty="0"/>
          </a:p>
        </p:txBody>
      </p:sp>
      <p:sp>
        <p:nvSpPr>
          <p:cNvPr id="9" name="Shape 7"/>
          <p:cNvSpPr/>
          <p:nvPr/>
        </p:nvSpPr>
        <p:spPr>
          <a:xfrm>
            <a:off x="548640" y="2404872"/>
            <a:ext cx="6949440" cy="804672"/>
          </a:xfrm>
          <a:prstGeom prst="roundRect">
            <a:avLst>
              <a:gd name="adj" fmla="val 9091"/>
            </a:avLst>
          </a:prstGeom>
          <a:solidFill>
            <a:srgbClr val="F1F6F5"/>
          </a:solidFill>
          <a:ln w="12700">
            <a:solidFill>
              <a:srgbClr val="F1F6F5"/>
            </a:solidFill>
            <a:prstDash val="solid"/>
          </a:ln>
        </p:spPr>
      </p:sp>
      <p:sp>
        <p:nvSpPr>
          <p:cNvPr id="10" name="Text 8"/>
          <p:cNvSpPr txBox="1"/>
          <p:nvPr/>
        </p:nvSpPr>
        <p:spPr>
          <a:xfrm>
            <a:off x="777240" y="2496312"/>
            <a:ext cx="1463040" cy="365760"/>
          </a:xfrm>
          <a:prstGeom prst="rect">
            <a:avLst/>
          </a:prstGeom>
          <a:noFill/>
          <a:ln/>
        </p:spPr>
        <p:txBody>
          <a:bodyPr wrap="square" lIns="0" tIns="0" rIns="0" bIns="0" rtlCol="0" anchor="t"/>
          <a:lstStyle/>
          <a:p>
            <a:pPr marL="0" indent="0">
              <a:buNone/>
            </a:pPr>
            <a:r>
              <a:rPr lang="en-US" sz="1800" b="1" dirty="0">
                <a:solidFill>
                  <a:srgbClr val="2F7F73"/>
                </a:solidFill>
                <a:latin typeface="Cambria" pitchFamily="34" charset="0"/>
                <a:ea typeface="Cambria" pitchFamily="34" charset="-122"/>
                <a:cs typeface="Cambria" pitchFamily="34" charset="-120"/>
              </a:rPr>
              <a:t>SASA</a:t>
            </a:r>
            <a:endParaRPr lang="en-US" sz="1800" dirty="0"/>
          </a:p>
        </p:txBody>
      </p:sp>
      <p:sp>
        <p:nvSpPr>
          <p:cNvPr id="11" name="Text 9"/>
          <p:cNvSpPr txBox="1"/>
          <p:nvPr/>
        </p:nvSpPr>
        <p:spPr>
          <a:xfrm>
            <a:off x="777240" y="2862072"/>
            <a:ext cx="1463040" cy="274320"/>
          </a:xfrm>
          <a:prstGeom prst="rect">
            <a:avLst/>
          </a:prstGeom>
          <a:noFill/>
          <a:ln/>
        </p:spPr>
        <p:txBody>
          <a:bodyPr wrap="square" lIns="0" tIns="0" rIns="0" bIns="0" rtlCol="0" anchor="t"/>
          <a:lstStyle/>
          <a:p>
            <a:pPr marL="0" indent="0">
              <a:buNone/>
            </a:pPr>
            <a:r>
              <a:rPr lang="en-US" sz="1050" dirty="0">
                <a:solidFill>
                  <a:srgbClr val="7C8B90"/>
                </a:solidFill>
                <a:latin typeface="Calibri" pitchFamily="34" charset="0"/>
                <a:ea typeface="Calibri" pitchFamily="34" charset="-122"/>
                <a:cs typeface="Calibri" pitchFamily="34" charset="-120"/>
              </a:rPr>
              <a:t>AAAI 2021</a:t>
            </a:r>
            <a:endParaRPr lang="en-US" sz="1050" dirty="0"/>
          </a:p>
        </p:txBody>
      </p:sp>
      <p:sp>
        <p:nvSpPr>
          <p:cNvPr id="12" name="Text 10"/>
          <p:cNvSpPr txBox="1"/>
          <p:nvPr/>
        </p:nvSpPr>
        <p:spPr>
          <a:xfrm>
            <a:off x="2331720" y="2496312"/>
            <a:ext cx="5029200" cy="640080"/>
          </a:xfrm>
          <a:prstGeom prst="rect">
            <a:avLst/>
          </a:prstGeom>
          <a:noFill/>
          <a:ln/>
        </p:spPr>
        <p:txBody>
          <a:bodyPr wrap="square" lIns="0" tIns="0" rIns="0" bIns="0" rtlCol="0" anchor="ctr"/>
          <a:lstStyle/>
          <a:p>
            <a:pPr marL="0" indent="0">
              <a:buNone/>
            </a:pPr>
            <a:r>
              <a:rPr lang="en-US" sz="1300" dirty="0">
                <a:solidFill>
                  <a:srgbClr val="4F5F65"/>
                </a:solidFill>
                <a:latin typeface="Calibri" pitchFamily="34" charset="0"/>
                <a:ea typeface="Calibri" pitchFamily="34" charset="-122"/>
                <a:cs typeface="Calibri" pitchFamily="34" charset="-120"/>
              </a:rPr>
              <a:t>Aligns sparse associative structure between variables (inter-channel dependencies).</a:t>
            </a:r>
            <a:endParaRPr lang="en-US" sz="1300" dirty="0"/>
          </a:p>
        </p:txBody>
      </p:sp>
      <p:sp>
        <p:nvSpPr>
          <p:cNvPr id="13" name="Shape 11"/>
          <p:cNvSpPr/>
          <p:nvPr/>
        </p:nvSpPr>
        <p:spPr>
          <a:xfrm>
            <a:off x="548640" y="3346704"/>
            <a:ext cx="6949440" cy="804672"/>
          </a:xfrm>
          <a:prstGeom prst="roundRect">
            <a:avLst>
              <a:gd name="adj" fmla="val 9091"/>
            </a:avLst>
          </a:prstGeom>
          <a:solidFill>
            <a:srgbClr val="F1F6F5"/>
          </a:solidFill>
          <a:ln w="12700">
            <a:solidFill>
              <a:srgbClr val="F1F6F5"/>
            </a:solidFill>
            <a:prstDash val="solid"/>
          </a:ln>
        </p:spPr>
      </p:sp>
      <p:sp>
        <p:nvSpPr>
          <p:cNvPr id="14" name="Text 12"/>
          <p:cNvSpPr txBox="1"/>
          <p:nvPr/>
        </p:nvSpPr>
        <p:spPr>
          <a:xfrm>
            <a:off x="777240" y="3438144"/>
            <a:ext cx="1463040" cy="365760"/>
          </a:xfrm>
          <a:prstGeom prst="rect">
            <a:avLst/>
          </a:prstGeom>
          <a:noFill/>
          <a:ln/>
        </p:spPr>
        <p:txBody>
          <a:bodyPr wrap="square" lIns="0" tIns="0" rIns="0" bIns="0" rtlCol="0" anchor="t"/>
          <a:lstStyle/>
          <a:p>
            <a:pPr marL="0" indent="0">
              <a:buNone/>
            </a:pPr>
            <a:r>
              <a:rPr lang="en-US" sz="1800" b="1" dirty="0">
                <a:solidFill>
                  <a:srgbClr val="2F7F73"/>
                </a:solidFill>
                <a:latin typeface="Cambria" pitchFamily="34" charset="0"/>
                <a:ea typeface="Cambria" pitchFamily="34" charset="-122"/>
                <a:cs typeface="Cambria" pitchFamily="34" charset="-120"/>
              </a:rPr>
              <a:t>DAF</a:t>
            </a:r>
            <a:endParaRPr lang="en-US" sz="1800" dirty="0"/>
          </a:p>
        </p:txBody>
      </p:sp>
      <p:sp>
        <p:nvSpPr>
          <p:cNvPr id="15" name="Text 13"/>
          <p:cNvSpPr txBox="1"/>
          <p:nvPr/>
        </p:nvSpPr>
        <p:spPr>
          <a:xfrm>
            <a:off x="777240" y="3803904"/>
            <a:ext cx="1463040" cy="274320"/>
          </a:xfrm>
          <a:prstGeom prst="rect">
            <a:avLst/>
          </a:prstGeom>
          <a:noFill/>
          <a:ln/>
        </p:spPr>
        <p:txBody>
          <a:bodyPr wrap="square" lIns="0" tIns="0" rIns="0" bIns="0" rtlCol="0" anchor="t"/>
          <a:lstStyle/>
          <a:p>
            <a:pPr marL="0" indent="0">
              <a:buNone/>
            </a:pPr>
            <a:r>
              <a:rPr lang="en-US" sz="1050" dirty="0">
                <a:solidFill>
                  <a:srgbClr val="7C8B90"/>
                </a:solidFill>
                <a:latin typeface="Calibri" pitchFamily="34" charset="0"/>
                <a:ea typeface="Calibri" pitchFamily="34" charset="-122"/>
                <a:cs typeface="Calibri" pitchFamily="34" charset="-120"/>
              </a:rPr>
              <a:t>ICML 2022</a:t>
            </a:r>
            <a:endParaRPr lang="en-US" sz="1050" dirty="0"/>
          </a:p>
        </p:txBody>
      </p:sp>
      <p:sp>
        <p:nvSpPr>
          <p:cNvPr id="16" name="Text 14"/>
          <p:cNvSpPr txBox="1"/>
          <p:nvPr/>
        </p:nvSpPr>
        <p:spPr>
          <a:xfrm>
            <a:off x="2331720" y="3438144"/>
            <a:ext cx="5029200" cy="640080"/>
          </a:xfrm>
          <a:prstGeom prst="rect">
            <a:avLst/>
          </a:prstGeom>
          <a:noFill/>
          <a:ln/>
        </p:spPr>
        <p:txBody>
          <a:bodyPr wrap="square" lIns="0" tIns="0" rIns="0" bIns="0" rtlCol="0" anchor="ctr"/>
          <a:lstStyle/>
          <a:p>
            <a:pPr marL="0" indent="0">
              <a:buNone/>
            </a:pPr>
            <a:r>
              <a:rPr lang="en-US" sz="1300" dirty="0">
                <a:solidFill>
                  <a:srgbClr val="4F5F65"/>
                </a:solidFill>
                <a:latin typeface="Calibri" pitchFamily="34" charset="0"/>
                <a:ea typeface="Calibri" pitchFamily="34" charset="-122"/>
                <a:cs typeface="Calibri" pitchFamily="34" charset="-120"/>
              </a:rPr>
              <a:t>Attention-sharing Transformer for forecasting; needs some labeled target data.</a:t>
            </a:r>
            <a:endParaRPr lang="en-US" sz="1300" dirty="0"/>
          </a:p>
        </p:txBody>
      </p:sp>
      <p:sp>
        <p:nvSpPr>
          <p:cNvPr id="17" name="Shape 15"/>
          <p:cNvSpPr/>
          <p:nvPr/>
        </p:nvSpPr>
        <p:spPr>
          <a:xfrm>
            <a:off x="548640" y="4288536"/>
            <a:ext cx="6949440" cy="804672"/>
          </a:xfrm>
          <a:prstGeom prst="roundRect">
            <a:avLst>
              <a:gd name="adj" fmla="val 9091"/>
            </a:avLst>
          </a:prstGeom>
          <a:solidFill>
            <a:srgbClr val="F1F6F5"/>
          </a:solidFill>
          <a:ln w="12700">
            <a:solidFill>
              <a:srgbClr val="F1F6F5"/>
            </a:solidFill>
            <a:prstDash val="solid"/>
          </a:ln>
        </p:spPr>
      </p:sp>
      <p:sp>
        <p:nvSpPr>
          <p:cNvPr id="18" name="Text 16"/>
          <p:cNvSpPr txBox="1"/>
          <p:nvPr/>
        </p:nvSpPr>
        <p:spPr>
          <a:xfrm>
            <a:off x="777240" y="4379976"/>
            <a:ext cx="1463040" cy="365760"/>
          </a:xfrm>
          <a:prstGeom prst="rect">
            <a:avLst/>
          </a:prstGeom>
          <a:noFill/>
          <a:ln/>
        </p:spPr>
        <p:txBody>
          <a:bodyPr wrap="square" lIns="0" tIns="0" rIns="0" bIns="0" rtlCol="0" anchor="t"/>
          <a:lstStyle/>
          <a:p>
            <a:pPr marL="0" indent="0">
              <a:buNone/>
            </a:pPr>
            <a:r>
              <a:rPr lang="en-US" sz="1800" b="1" dirty="0">
                <a:solidFill>
                  <a:srgbClr val="2F7F73"/>
                </a:solidFill>
                <a:latin typeface="Cambria" pitchFamily="34" charset="0"/>
                <a:ea typeface="Cambria" pitchFamily="34" charset="-122"/>
                <a:cs typeface="Cambria" pitchFamily="34" charset="-120"/>
              </a:rPr>
              <a:t>CLUDA</a:t>
            </a:r>
            <a:endParaRPr lang="en-US" sz="1800" dirty="0"/>
          </a:p>
        </p:txBody>
      </p:sp>
      <p:sp>
        <p:nvSpPr>
          <p:cNvPr id="19" name="Text 17"/>
          <p:cNvSpPr txBox="1"/>
          <p:nvPr/>
        </p:nvSpPr>
        <p:spPr>
          <a:xfrm>
            <a:off x="777240" y="4745736"/>
            <a:ext cx="1463040" cy="274320"/>
          </a:xfrm>
          <a:prstGeom prst="rect">
            <a:avLst/>
          </a:prstGeom>
          <a:noFill/>
          <a:ln/>
        </p:spPr>
        <p:txBody>
          <a:bodyPr wrap="square" lIns="0" tIns="0" rIns="0" bIns="0" rtlCol="0" anchor="t"/>
          <a:lstStyle/>
          <a:p>
            <a:pPr marL="0" indent="0">
              <a:buNone/>
            </a:pPr>
            <a:r>
              <a:rPr lang="en-US" sz="1050" dirty="0">
                <a:solidFill>
                  <a:srgbClr val="7C8B90"/>
                </a:solidFill>
                <a:latin typeface="Calibri" pitchFamily="34" charset="0"/>
                <a:ea typeface="Calibri" pitchFamily="34" charset="-122"/>
                <a:cs typeface="Calibri" pitchFamily="34" charset="-120"/>
              </a:rPr>
              <a:t>ICLR 2023</a:t>
            </a:r>
            <a:endParaRPr lang="en-US" sz="1050" dirty="0"/>
          </a:p>
        </p:txBody>
      </p:sp>
      <p:sp>
        <p:nvSpPr>
          <p:cNvPr id="20" name="Text 18"/>
          <p:cNvSpPr txBox="1"/>
          <p:nvPr/>
        </p:nvSpPr>
        <p:spPr>
          <a:xfrm>
            <a:off x="2331720" y="4379976"/>
            <a:ext cx="5029200" cy="640080"/>
          </a:xfrm>
          <a:prstGeom prst="rect">
            <a:avLst/>
          </a:prstGeom>
          <a:noFill/>
          <a:ln/>
        </p:spPr>
        <p:txBody>
          <a:bodyPr wrap="square" lIns="0" tIns="0" rIns="0" bIns="0" rtlCol="0" anchor="ctr"/>
          <a:lstStyle/>
          <a:p>
            <a:pPr marL="0" indent="0">
              <a:buNone/>
            </a:pPr>
            <a:r>
              <a:rPr lang="en-US" sz="1300" dirty="0">
                <a:solidFill>
                  <a:srgbClr val="4F5F65"/>
                </a:solidFill>
                <a:latin typeface="Calibri" pitchFamily="34" charset="0"/>
                <a:ea typeface="Calibri" pitchFamily="34" charset="-122"/>
                <a:cs typeface="Calibri" pitchFamily="34" charset="-120"/>
              </a:rPr>
              <a:t>Contrastive learning + nearest-neighbour alignment for time-series UDA.</a:t>
            </a:r>
            <a:endParaRPr lang="en-US" sz="1300" dirty="0"/>
          </a:p>
        </p:txBody>
      </p:sp>
      <p:sp>
        <p:nvSpPr>
          <p:cNvPr id="21" name="Shape 19"/>
          <p:cNvSpPr/>
          <p:nvPr/>
        </p:nvSpPr>
        <p:spPr>
          <a:xfrm>
            <a:off x="548640" y="5230368"/>
            <a:ext cx="6949440" cy="804672"/>
          </a:xfrm>
          <a:prstGeom prst="roundRect">
            <a:avLst>
              <a:gd name="adj" fmla="val 9091"/>
            </a:avLst>
          </a:prstGeom>
          <a:solidFill>
            <a:srgbClr val="F1F6F5"/>
          </a:solidFill>
          <a:ln w="12700">
            <a:solidFill>
              <a:srgbClr val="F1F6F5"/>
            </a:solidFill>
            <a:prstDash val="solid"/>
          </a:ln>
        </p:spPr>
      </p:sp>
      <p:sp>
        <p:nvSpPr>
          <p:cNvPr id="22" name="Text 20"/>
          <p:cNvSpPr txBox="1"/>
          <p:nvPr/>
        </p:nvSpPr>
        <p:spPr>
          <a:xfrm>
            <a:off x="777240" y="5321808"/>
            <a:ext cx="1463040" cy="365760"/>
          </a:xfrm>
          <a:prstGeom prst="rect">
            <a:avLst/>
          </a:prstGeom>
          <a:noFill/>
          <a:ln/>
        </p:spPr>
        <p:txBody>
          <a:bodyPr wrap="square" lIns="0" tIns="0" rIns="0" bIns="0" rtlCol="0" anchor="t"/>
          <a:lstStyle/>
          <a:p>
            <a:pPr marL="0" indent="0">
              <a:buNone/>
            </a:pPr>
            <a:r>
              <a:rPr lang="en-US" sz="1800" b="1" dirty="0">
                <a:solidFill>
                  <a:srgbClr val="2F7F73"/>
                </a:solidFill>
                <a:latin typeface="Cambria" pitchFamily="34" charset="0"/>
                <a:ea typeface="Cambria" pitchFamily="34" charset="-122"/>
                <a:cs typeface="Cambria" pitchFamily="34" charset="-120"/>
              </a:rPr>
              <a:t>RAINCOAT</a:t>
            </a:r>
            <a:endParaRPr lang="en-US" sz="1800" dirty="0"/>
          </a:p>
        </p:txBody>
      </p:sp>
      <p:sp>
        <p:nvSpPr>
          <p:cNvPr id="23" name="Text 21"/>
          <p:cNvSpPr txBox="1"/>
          <p:nvPr/>
        </p:nvSpPr>
        <p:spPr>
          <a:xfrm>
            <a:off x="777240" y="5687568"/>
            <a:ext cx="1463040" cy="274320"/>
          </a:xfrm>
          <a:prstGeom prst="rect">
            <a:avLst/>
          </a:prstGeom>
          <a:noFill/>
          <a:ln/>
        </p:spPr>
        <p:txBody>
          <a:bodyPr wrap="square" lIns="0" tIns="0" rIns="0" bIns="0" rtlCol="0" anchor="t"/>
          <a:lstStyle/>
          <a:p>
            <a:pPr marL="0" indent="0">
              <a:buNone/>
            </a:pPr>
            <a:r>
              <a:rPr lang="en-US" sz="1050" dirty="0">
                <a:solidFill>
                  <a:srgbClr val="7C8B90"/>
                </a:solidFill>
                <a:latin typeface="Calibri" pitchFamily="34" charset="0"/>
                <a:ea typeface="Calibri" pitchFamily="34" charset="-122"/>
                <a:cs typeface="Calibri" pitchFamily="34" charset="-120"/>
              </a:rPr>
              <a:t>ICML 2023</a:t>
            </a:r>
            <a:endParaRPr lang="en-US" sz="1050" dirty="0"/>
          </a:p>
        </p:txBody>
      </p:sp>
      <p:sp>
        <p:nvSpPr>
          <p:cNvPr id="24" name="Text 22"/>
          <p:cNvSpPr txBox="1"/>
          <p:nvPr/>
        </p:nvSpPr>
        <p:spPr>
          <a:xfrm>
            <a:off x="2331720" y="5321808"/>
            <a:ext cx="5029200" cy="640080"/>
          </a:xfrm>
          <a:prstGeom prst="rect">
            <a:avLst/>
          </a:prstGeom>
          <a:noFill/>
          <a:ln/>
        </p:spPr>
        <p:txBody>
          <a:bodyPr wrap="square" lIns="0" tIns="0" rIns="0" bIns="0" rtlCol="0" anchor="ctr"/>
          <a:lstStyle/>
          <a:p>
            <a:pPr marL="0" indent="0">
              <a:buNone/>
            </a:pPr>
            <a:r>
              <a:rPr lang="en-US" sz="1300" dirty="0">
                <a:solidFill>
                  <a:srgbClr val="4F5F65"/>
                </a:solidFill>
                <a:latin typeface="Calibri" pitchFamily="34" charset="0"/>
                <a:ea typeface="Calibri" pitchFamily="34" charset="-122"/>
                <a:cs typeface="Calibri" pitchFamily="34" charset="-120"/>
              </a:rPr>
              <a:t>Aligns time- and frequency-domain features under feature and label shift.</a:t>
            </a:r>
            <a:endParaRPr lang="en-US" sz="1300" dirty="0"/>
          </a:p>
        </p:txBody>
      </p:sp>
      <p:sp>
        <p:nvSpPr>
          <p:cNvPr id="25" name="Shape 23"/>
          <p:cNvSpPr/>
          <p:nvPr/>
        </p:nvSpPr>
        <p:spPr>
          <a:xfrm>
            <a:off x="7772400" y="1463040"/>
            <a:ext cx="3867912" cy="4599432"/>
          </a:xfrm>
          <a:prstGeom prst="roundRect">
            <a:avLst>
              <a:gd name="adj" fmla="val 1891"/>
            </a:avLst>
          </a:prstGeom>
          <a:solidFill>
            <a:srgbClr val="16232A"/>
          </a:solidFill>
          <a:ln w="12700">
            <a:solidFill>
              <a:srgbClr val="16232A"/>
            </a:solidFill>
            <a:prstDash val="solid"/>
          </a:ln>
        </p:spPr>
      </p:sp>
      <p:sp>
        <p:nvSpPr>
          <p:cNvPr id="26" name="Text 24"/>
          <p:cNvSpPr txBox="1"/>
          <p:nvPr/>
        </p:nvSpPr>
        <p:spPr>
          <a:xfrm>
            <a:off x="8046720" y="1691640"/>
            <a:ext cx="3383280" cy="36576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The gap we target</a:t>
            </a:r>
            <a:endParaRPr lang="en-US" sz="2000" dirty="0"/>
          </a:p>
        </p:txBody>
      </p:sp>
      <p:sp>
        <p:nvSpPr>
          <p:cNvPr id="27" name="Text 25"/>
          <p:cNvSpPr txBox="1"/>
          <p:nvPr/>
        </p:nvSpPr>
        <p:spPr>
          <a:xfrm>
            <a:off x="8046720" y="2194560"/>
            <a:ext cx="3383280" cy="3749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E6F0EE"/>
                </a:solidFill>
                <a:latin typeface="Calibri" pitchFamily="34" charset="0"/>
                <a:ea typeface="Calibri" pitchFamily="34" charset="-122"/>
                <a:cs typeface="Calibri" pitchFamily="34" charset="-120"/>
              </a:rPr>
              <a:t>Most time-series UDA work is for classification, not forecasting.</a:t>
            </a:r>
            <a:endParaRPr lang="en-US" sz="1350" dirty="0"/>
          </a:p>
          <a:p>
            <a:pPr marL="342900" indent="-342900">
              <a:spcAft>
                <a:spcPts val="800"/>
              </a:spcAft>
              <a:buSzPct val="100000"/>
              <a:buChar char="•"/>
            </a:pPr>
            <a:r>
              <a:rPr lang="en-US" sz="1350" dirty="0">
                <a:solidFill>
                  <a:srgbClr val="E6F0EE"/>
                </a:solidFill>
                <a:latin typeface="Calibri" pitchFamily="34" charset="0"/>
                <a:ea typeface="Calibri" pitchFamily="34" charset="-122"/>
                <a:cs typeface="Calibri" pitchFamily="34" charset="-120"/>
              </a:rPr>
              <a:t>Forecasting DA (e.g. DAF) usually assumes some labeled target data.</a:t>
            </a:r>
            <a:endParaRPr lang="en-US" sz="1350" dirty="0"/>
          </a:p>
          <a:p>
            <a:pPr marL="342900" indent="-342900">
              <a:spcAft>
                <a:spcPts val="800"/>
              </a:spcAft>
              <a:buSzPct val="100000"/>
              <a:buChar char="•"/>
            </a:pPr>
            <a:r>
              <a:rPr lang="en-US" sz="1350" dirty="0">
                <a:solidFill>
                  <a:srgbClr val="E6F0EE"/>
                </a:solidFill>
                <a:latin typeface="Calibri" pitchFamily="34" charset="0"/>
                <a:ea typeface="Calibri" pitchFamily="34" charset="-122"/>
                <a:cs typeface="Calibri" pitchFamily="34" charset="-120"/>
              </a:rPr>
              <a:t>Heavy backbones are costly to adapt for every new domain.</a:t>
            </a:r>
            <a:endParaRPr lang="en-US" sz="1350" dirty="0"/>
          </a:p>
          <a:p>
            <a:pPr marL="342900" indent="-342900">
              <a:spcAft>
                <a:spcPts val="800"/>
              </a:spcAft>
              <a:buSzPct val="100000"/>
              <a:buChar char="•"/>
            </a:pPr>
            <a:r>
              <a:rPr lang="en-US" sz="1350" b="1" dirty="0">
                <a:solidFill>
                  <a:srgbClr val="F2B45C"/>
                </a:solidFill>
                <a:latin typeface="Calibri" pitchFamily="34" charset="0"/>
                <a:ea typeface="Calibri" pitchFamily="34" charset="-122"/>
                <a:cs typeface="Calibri" pitchFamily="34" charset="-120"/>
              </a:rPr>
              <a:t>Our aim: label-free adaptation of a lightweight multivariate forecaster, measured by how much of the supervised gap it closes.</a:t>
            </a:r>
            <a:endParaRPr lang="en-US" sz="1350" dirty="0"/>
          </a:p>
        </p:txBody>
      </p:sp>
      <p:sp>
        <p:nvSpPr>
          <p:cNvPr id="2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03 · DATASETS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Three benchmarks, each with two distinct domains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713232">
                  <a:extLst>
                    <a:ext uri="{9D8B030D-6E8A-4147-A177-3AD203B41FA5}">
                      <a16:colId xmlns:a16="http://schemas.microsoft.com/office/drawing/2014/main" val="20005"/>
                    </a:ext>
                  </a:extLst>
                </a:gridCol>
                <a:gridCol w="2057400">
                  <a:extLst>
                    <a:ext uri="{9D8B030D-6E8A-4147-A177-3AD203B41FA5}">
                      <a16:colId xmlns:a16="http://schemas.microsoft.com/office/drawing/2014/main" val="20006"/>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Domain 1 (source)</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Domain 2 (target)</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Variables</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Frequency &amp; span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 → H</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is a real domain shift</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extLst>
                  <a:ext uri="{0D108BD9-81ED-4DB2-BD59-A6C34878D82A}">
                    <a16:rowId xmlns:a16="http://schemas.microsoft.com/office/drawing/2014/main" val="10000"/>
                  </a:ext>
                </a:extLst>
              </a:tr>
              <a:tr h="10972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Climate</a:t>
                      </a:r>
                      <a:endParaRPr lang="en-US" sz="1200" dirty="0">
                        <a:latin typeface="Calibri" charset="0"/>
                        <a:ea typeface="Calibri" charset="0"/>
                        <a:cs typeface="Calibri" charset="0"/>
                      </a:endParaRPr>
                    </a:p>
                    <a:p>
                      <a:pPr marL="0" indent="0">
                        <a:buNone/>
                      </a:pPr>
                      <a:r>
                        <a:rPr lang="en-US" sz="1200" b="1" dirty="0">
                          <a:solidFill>
                            <a:srgbClr val="000000"/>
                          </a:solidFill>
                          <a:latin typeface="Calibri" pitchFamily="34" charset="0"/>
                          <a:ea typeface="Calibri" pitchFamily="34" charset="-122"/>
                          <a:cs typeface="Calibri" pitchFamily="34" charset="-120"/>
                        </a:rPr>
                        <a:t>(Open-Meteo ERA5)</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Shimla, 2195 m</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(hilly)</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New Delhi, 214 m</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(plain)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 vars: temperature_2m, relative_humidity_2m, dew_point_2m, surface_pressure, wind_speed_10m, cloud_cover, shortwave_radiation</a:t>
                      </a:r>
                      <a:endParaRPr lang="en-US" sz="105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Hourly</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2021-01-01 → 2024-12-31</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168 → 24</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Elevation, pressure, diurnal cycle and monsoon response differ</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972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Finance</a:t>
                      </a:r>
                      <a:endParaRPr lang="en-US" sz="1200" dirty="0">
                        <a:latin typeface="Calibri" charset="0"/>
                        <a:ea typeface="Calibri" charset="0"/>
                        <a:cs typeface="Calibri" charset="0"/>
                      </a:endParaRPr>
                    </a:p>
                    <a:p>
                      <a:pPr marL="0" indent="0">
                        <a:buNone/>
                      </a:pPr>
                      <a:r>
                        <a:rPr lang="en-US" sz="1200" b="1" dirty="0">
                          <a:solidFill>
                            <a:srgbClr val="000000"/>
                          </a:solidFill>
                          <a:latin typeface="Calibri" pitchFamily="34" charset="0"/>
                          <a:ea typeface="Calibri" pitchFamily="34" charset="-122"/>
                          <a:cs typeface="Calibri" pitchFamily="34" charset="-120"/>
                        </a:rPr>
                        <a:t>(Yahoo Finance, NSE)</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IT basket: TCS, INFY, WIPRO, HCLTECH, TECHM</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Pharma basket: SUNPHARMA, DRREDDY, CIPLA, DIVISLAB, LUPIN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 vars: log_return, hl_range, gap, log_volume</a:t>
                      </a:r>
                      <a:endParaRPr lang="en-US" sz="105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Daily (trading)</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2012-01-03 → 2025-06-27</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60 → 5</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Sector-specific volatility, news and regulation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972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Energy</a:t>
                      </a:r>
                      <a:endParaRPr lang="en-US" sz="1200" dirty="0">
                        <a:latin typeface="Calibri" charset="0"/>
                        <a:ea typeface="Calibri" charset="0"/>
                        <a:cs typeface="Calibri" charset="0"/>
                      </a:endParaRPr>
                    </a:p>
                    <a:p>
                      <a:pPr marL="0" indent="0">
                        <a:buNone/>
                      </a:pPr>
                      <a:r>
                        <a:rPr lang="en-US" sz="1200" b="1" dirty="0">
                          <a:solidFill>
                            <a:srgbClr val="000000"/>
                          </a:solidFill>
                          <a:latin typeface="Calibri" pitchFamily="34" charset="0"/>
                          <a:ea typeface="Calibri" pitchFamily="34" charset="-122"/>
                          <a:cs typeface="Calibri" pitchFamily="34" charset="-120"/>
                        </a:rPr>
                        <a:t>(ETT benchmark)</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ETTh1: transformer, county 1</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ETTh2: transformer, county 2</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 vars: HUFL, HULL, MUFL, MULL, LUFL, LULL, OT</a:t>
                      </a:r>
                      <a:endParaRPr lang="en-US" sz="105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Hourly</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2016-07-01 → 2018-06-26</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168 → 24</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Different load profiles and oil-temperature dynamics</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48640" y="5394960"/>
            <a:ext cx="1600200" cy="731520"/>
          </a:xfrm>
          <a:prstGeom prst="rect">
            <a:avLst/>
          </a:prstGeom>
          <a:noFill/>
          <a:ln/>
        </p:spPr>
        <p:txBody>
          <a:bodyPr wrap="square" lIns="0" tIns="0" rIns="0" bIns="0" rtlCol="0" anchor="ctr"/>
          <a:lstStyle/>
          <a:p>
            <a:pPr marL="0" indent="0">
              <a:buNone/>
            </a:pPr>
            <a:r>
              <a:rPr lang="en-US" sz="3600" b="1" dirty="0">
                <a:solidFill>
                  <a:srgbClr val="2F7F73"/>
                </a:solidFill>
                <a:latin typeface="Cambria" pitchFamily="34" charset="0"/>
                <a:ea typeface="Cambria" pitchFamily="34" charset="-122"/>
                <a:cs typeface="Cambria" pitchFamily="34" charset="-120"/>
              </a:rPr>
              <a:t>35.1k</a:t>
            </a:r>
            <a:endParaRPr lang="en-US" sz="3600" dirty="0"/>
          </a:p>
        </p:txBody>
      </p:sp>
      <p:sp>
        <p:nvSpPr>
          <p:cNvPr id="7" name="Text 4"/>
          <p:cNvSpPr txBox="1"/>
          <p:nvPr/>
        </p:nvSpPr>
        <p:spPr>
          <a:xfrm>
            <a:off x="2194560" y="5440680"/>
            <a:ext cx="2011680" cy="640080"/>
          </a:xfrm>
          <a:prstGeom prst="rect">
            <a:avLst/>
          </a:prstGeom>
          <a:noFill/>
          <a:ln/>
        </p:spPr>
        <p:txBody>
          <a:bodyPr wrap="square" lIns="0" tIns="0" rIns="0" bIns="0" rtlCol="0" anchor="ctr"/>
          <a:lstStyle/>
          <a:p>
            <a:pPr marL="0" indent="0">
              <a:buNone/>
            </a:pPr>
            <a:r>
              <a:rPr lang="en-US" sz="1200" dirty="0">
                <a:solidFill>
                  <a:srgbClr val="4F5F65"/>
                </a:solidFill>
                <a:latin typeface="Calibri" pitchFamily="34" charset="0"/>
                <a:ea typeface="Calibri" pitchFamily="34" charset="-122"/>
                <a:cs typeface="Calibri" pitchFamily="34" charset="-120"/>
              </a:rPr>
              <a:t>hourly records per climate site (4 years)</a:t>
            </a:r>
            <a:endParaRPr lang="en-US" sz="1200" dirty="0"/>
          </a:p>
        </p:txBody>
      </p:sp>
      <p:sp>
        <p:nvSpPr>
          <p:cNvPr id="8" name="Text 5"/>
          <p:cNvSpPr txBox="1"/>
          <p:nvPr/>
        </p:nvSpPr>
        <p:spPr>
          <a:xfrm>
            <a:off x="4297680" y="5394960"/>
            <a:ext cx="1600200" cy="731520"/>
          </a:xfrm>
          <a:prstGeom prst="rect">
            <a:avLst/>
          </a:prstGeom>
          <a:noFill/>
          <a:ln/>
        </p:spPr>
        <p:txBody>
          <a:bodyPr wrap="square" lIns="0" tIns="0" rIns="0" bIns="0" rtlCol="0" anchor="ctr"/>
          <a:lstStyle/>
          <a:p>
            <a:pPr marL="0" indent="0">
              <a:buNone/>
            </a:pPr>
            <a:r>
              <a:rPr lang="en-US" sz="3600" b="1" dirty="0">
                <a:solidFill>
                  <a:srgbClr val="D98A1E"/>
                </a:solidFill>
                <a:latin typeface="Cambria" pitchFamily="34" charset="0"/>
                <a:ea typeface="Cambria" pitchFamily="34" charset="-122"/>
                <a:cs typeface="Cambria" pitchFamily="34" charset="-120"/>
              </a:rPr>
              <a:t>3322</a:t>
            </a:r>
            <a:endParaRPr lang="en-US" sz="3600" dirty="0"/>
          </a:p>
        </p:txBody>
      </p:sp>
      <p:sp>
        <p:nvSpPr>
          <p:cNvPr id="5" name="Text 6"/>
          <p:cNvSpPr txBox="1"/>
          <p:nvPr/>
        </p:nvSpPr>
        <p:spPr>
          <a:xfrm>
            <a:off x="5943600" y="5440680"/>
            <a:ext cx="2011680" cy="640080"/>
          </a:xfrm>
          <a:prstGeom prst="rect">
            <a:avLst/>
          </a:prstGeom>
          <a:noFill/>
          <a:ln/>
        </p:spPr>
        <p:txBody>
          <a:bodyPr wrap="square" lIns="0" tIns="0" rIns="0" bIns="0" rtlCol="0" anchor="ctr"/>
          <a:lstStyle/>
          <a:p>
            <a:pPr marL="0" indent="0">
              <a:buNone/>
            </a:pPr>
            <a:r>
              <a:rPr lang="en-US" sz="1200" dirty="0">
                <a:solidFill>
                  <a:srgbClr val="4F5F65"/>
                </a:solidFill>
                <a:latin typeface="Calibri" pitchFamily="34" charset="0"/>
                <a:ea typeface="Calibri" pitchFamily="34" charset="-122"/>
                <a:cs typeface="Calibri" pitchFamily="34" charset="-120"/>
              </a:rPr>
              <a:t>trading days per stock (5 stocks per sector)</a:t>
            </a:r>
            <a:endParaRPr lang="en-US" sz="1200" dirty="0"/>
          </a:p>
        </p:txBody>
      </p:sp>
      <p:sp>
        <p:nvSpPr>
          <p:cNvPr id="10" name="Text 7"/>
          <p:cNvSpPr txBox="1"/>
          <p:nvPr/>
        </p:nvSpPr>
        <p:spPr>
          <a:xfrm>
            <a:off x="8046720" y="5394960"/>
            <a:ext cx="1600200" cy="731520"/>
          </a:xfrm>
          <a:prstGeom prst="rect">
            <a:avLst/>
          </a:prstGeom>
          <a:noFill/>
          <a:ln/>
        </p:spPr>
        <p:txBody>
          <a:bodyPr wrap="square" lIns="0" tIns="0" rIns="0" bIns="0" rtlCol="0" anchor="ctr"/>
          <a:lstStyle/>
          <a:p>
            <a:pPr marL="0" indent="0">
              <a:buNone/>
            </a:pPr>
            <a:r>
              <a:rPr lang="en-US" sz="3600" b="1" dirty="0">
                <a:solidFill>
                  <a:srgbClr val="2F7F73"/>
                </a:solidFill>
                <a:latin typeface="Cambria" pitchFamily="34" charset="0"/>
                <a:ea typeface="Cambria" pitchFamily="34" charset="-122"/>
                <a:cs typeface="Cambria" pitchFamily="34" charset="-120"/>
              </a:rPr>
              <a:t>17.4k</a:t>
            </a:r>
            <a:endParaRPr lang="en-US" sz="3600" dirty="0"/>
          </a:p>
        </p:txBody>
      </p:sp>
      <p:sp>
        <p:nvSpPr>
          <p:cNvPr id="11" name="Text 8"/>
          <p:cNvSpPr txBox="1"/>
          <p:nvPr/>
        </p:nvSpPr>
        <p:spPr>
          <a:xfrm>
            <a:off x="9692640" y="5440680"/>
            <a:ext cx="2011680" cy="640080"/>
          </a:xfrm>
          <a:prstGeom prst="rect">
            <a:avLst/>
          </a:prstGeom>
          <a:noFill/>
          <a:ln/>
        </p:spPr>
        <p:txBody>
          <a:bodyPr wrap="square" lIns="0" tIns="0" rIns="0" bIns="0" rtlCol="0" anchor="ctr"/>
          <a:lstStyle/>
          <a:p>
            <a:pPr marL="0" indent="0">
              <a:buNone/>
            </a:pPr>
            <a:r>
              <a:rPr lang="en-US" sz="1200" dirty="0">
                <a:solidFill>
                  <a:srgbClr val="4F5F65"/>
                </a:solidFill>
                <a:latin typeface="Calibri" pitchFamily="34" charset="0"/>
                <a:ea typeface="Calibri" pitchFamily="34" charset="-122"/>
                <a:cs typeface="Calibri" pitchFamily="34" charset="-120"/>
              </a:rPr>
              <a:t>hourly records per transformer (2 years)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03 · DATA EXTRACTION &amp; CURATION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From raw APIs to leakage-free training windows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508760"/>
            <a:ext cx="1691640" cy="2834640"/>
          </a:xfrm>
          <a:prstGeom prst="roundRect">
            <a:avLst>
              <a:gd name="adj" fmla="val 4324"/>
            </a:avLst>
          </a:prstGeom>
          <a:solidFill>
            <a:srgbClr val="F1F6F5"/>
          </a:solidFill>
          <a:ln w="12700">
            <a:solidFill>
              <a:srgbClr val="F1F6F5"/>
            </a:solidFill>
            <a:prstDash val="solid"/>
          </a:ln>
        </p:spPr>
      </p:sp>
      <p:sp>
        <p:nvSpPr>
          <p:cNvPr id="6" name="Shape 4"/>
          <p:cNvSpPr/>
          <p:nvPr/>
        </p:nvSpPr>
        <p:spPr>
          <a:xfrm>
            <a:off x="1097280" y="1691640"/>
            <a:ext cx="566928" cy="566928"/>
          </a:xfrm>
          <a:prstGeom prst="ellipse">
            <a:avLst/>
          </a:prstGeom>
          <a:solidFill>
            <a:srgbClr val="2F7F73"/>
          </a:solidFill>
          <a:ln w="12700">
            <a:solidFill>
              <a:srgbClr val="2F7F73"/>
            </a:solidFill>
            <a:prstDash val="solid"/>
          </a:ln>
        </p:spPr>
      </p:sp>
      <p:pic>
        <p:nvPicPr>
          <p:cNvPr id="7" name="Image 0" descr="preencoded.png"/>
          <p:cNvPicPr>
            <a:picLocks noChangeAspect="1"/>
          </p:cNvPicPr>
          <p:nvPr/>
        </p:nvPicPr>
        <p:blipFill>
          <a:blip r:embed="rId4"/>
          <a:stretch>
            <a:fillRect/>
          </a:stretch>
        </p:blipFill>
        <p:spPr>
          <a:xfrm>
            <a:off x="1244681" y="1839041"/>
            <a:ext cx="272125" cy="272125"/>
          </a:xfrm>
          <a:prstGeom prst="rect">
            <a:avLst/>
          </a:prstGeom>
        </p:spPr>
      </p:pic>
      <p:sp>
        <p:nvSpPr>
          <p:cNvPr id="8" name="Text 5"/>
          <p:cNvSpPr txBox="1"/>
          <p:nvPr/>
        </p:nvSpPr>
        <p:spPr>
          <a:xfrm>
            <a:off x="658368" y="2377440"/>
            <a:ext cx="1481328" cy="365760"/>
          </a:xfrm>
          <a:prstGeom prst="rect">
            <a:avLst/>
          </a:prstGeom>
          <a:noFill/>
          <a:ln/>
        </p:spPr>
        <p:txBody>
          <a:bodyPr wrap="square" lIns="0" tIns="0" rIns="0" bIns="0" rtlCol="0" anchor="t"/>
          <a:lstStyle/>
          <a:p>
            <a:pPr marL="0" indent="0" algn="ctr">
              <a:buNone/>
            </a:pPr>
            <a:r>
              <a:rPr lang="en-US" sz="1500" b="1" dirty="0">
                <a:solidFill>
                  <a:srgbClr val="1B2B31"/>
                </a:solidFill>
                <a:latin typeface="Calibri" pitchFamily="34" charset="0"/>
                <a:ea typeface="Calibri" pitchFamily="34" charset="-122"/>
                <a:cs typeface="Calibri" pitchFamily="34" charset="-120"/>
              </a:rPr>
              <a:t>1. Extract</a:t>
            </a:r>
            <a:endParaRPr lang="en-US" sz="1500" dirty="0"/>
          </a:p>
        </p:txBody>
      </p:sp>
      <p:sp>
        <p:nvSpPr>
          <p:cNvPr id="9" name="Text 6"/>
          <p:cNvSpPr txBox="1"/>
          <p:nvPr/>
        </p:nvSpPr>
        <p:spPr>
          <a:xfrm>
            <a:off x="685800" y="2788920"/>
            <a:ext cx="1444752" cy="1508760"/>
          </a:xfrm>
          <a:prstGeom prst="rect">
            <a:avLst/>
          </a:prstGeom>
          <a:noFill/>
          <a:ln/>
        </p:spPr>
        <p:txBody>
          <a:bodyPr wrap="square" lIns="0" tIns="0" rIns="0" bIns="0" rtlCol="0" anchor="t"/>
          <a:lstStyle/>
          <a:p>
            <a:pPr marL="0" indent="0" algn="ctr">
              <a:buNone/>
            </a:pPr>
            <a:r>
              <a:rPr lang="en-US" sz="1200" dirty="0">
                <a:solidFill>
                  <a:srgbClr val="4F5F65"/>
                </a:solidFill>
                <a:latin typeface="Calibri" pitchFamily="34" charset="0"/>
                <a:ea typeface="Calibri" pitchFamily="34" charset="-122"/>
                <a:cs typeface="Calibri" pitchFamily="34" charset="-120"/>
              </a:rPr>
              <a:t>Open-Meteo archive API (7 hourly vars, IST); yfinance OHLCV; ETT CSVs from GitHub</a:t>
            </a:r>
            <a:endParaRPr lang="en-US" sz="1200" dirty="0"/>
          </a:p>
        </p:txBody>
      </p:sp>
      <p:sp>
        <p:nvSpPr>
          <p:cNvPr id="10" name="Shape 7"/>
          <p:cNvSpPr/>
          <p:nvPr/>
        </p:nvSpPr>
        <p:spPr>
          <a:xfrm>
            <a:off x="2258568" y="1975104"/>
            <a:ext cx="146304" cy="914"/>
          </a:xfrm>
          <a:prstGeom prst="line">
            <a:avLst/>
          </a:prstGeom>
          <a:noFill/>
          <a:ln w="19050">
            <a:solidFill>
              <a:srgbClr val="4F5F65"/>
            </a:solidFill>
            <a:prstDash val="solid"/>
            <a:tailEnd type="triangle"/>
          </a:ln>
        </p:spPr>
      </p:sp>
      <p:sp>
        <p:nvSpPr>
          <p:cNvPr id="11" name="Shape 8"/>
          <p:cNvSpPr/>
          <p:nvPr/>
        </p:nvSpPr>
        <p:spPr>
          <a:xfrm>
            <a:off x="2423160" y="1508760"/>
            <a:ext cx="1691640" cy="2834640"/>
          </a:xfrm>
          <a:prstGeom prst="roundRect">
            <a:avLst>
              <a:gd name="adj" fmla="val 4324"/>
            </a:avLst>
          </a:prstGeom>
          <a:solidFill>
            <a:srgbClr val="F1F6F5"/>
          </a:solidFill>
          <a:ln w="12700">
            <a:solidFill>
              <a:srgbClr val="F1F6F5"/>
            </a:solidFill>
            <a:prstDash val="solid"/>
          </a:ln>
        </p:spPr>
      </p:sp>
      <p:sp>
        <p:nvSpPr>
          <p:cNvPr id="12" name="Shape 9"/>
          <p:cNvSpPr/>
          <p:nvPr/>
        </p:nvSpPr>
        <p:spPr>
          <a:xfrm>
            <a:off x="2971800" y="1691640"/>
            <a:ext cx="566928" cy="566928"/>
          </a:xfrm>
          <a:prstGeom prst="ellipse">
            <a:avLst/>
          </a:prstGeom>
          <a:solidFill>
            <a:srgbClr val="2F7F73"/>
          </a:solidFill>
          <a:ln w="12700">
            <a:solidFill>
              <a:srgbClr val="2F7F73"/>
            </a:solidFill>
            <a:prstDash val="solid"/>
          </a:ln>
        </p:spPr>
      </p:sp>
      <p:pic>
        <p:nvPicPr>
          <p:cNvPr id="13" name="Image 1" descr="preencoded.png"/>
          <p:cNvPicPr>
            <a:picLocks noChangeAspect="1"/>
          </p:cNvPicPr>
          <p:nvPr/>
        </p:nvPicPr>
        <p:blipFill>
          <a:blip r:embed="rId5"/>
          <a:stretch>
            <a:fillRect/>
          </a:stretch>
        </p:blipFill>
        <p:spPr>
          <a:xfrm>
            <a:off x="3119201" y="1839041"/>
            <a:ext cx="272125" cy="272125"/>
          </a:xfrm>
          <a:prstGeom prst="rect">
            <a:avLst/>
          </a:prstGeom>
        </p:spPr>
      </p:pic>
      <p:sp>
        <p:nvSpPr>
          <p:cNvPr id="14" name="Text 10"/>
          <p:cNvSpPr txBox="1"/>
          <p:nvPr/>
        </p:nvSpPr>
        <p:spPr>
          <a:xfrm>
            <a:off x="2532888" y="2377440"/>
            <a:ext cx="1481328" cy="365760"/>
          </a:xfrm>
          <a:prstGeom prst="rect">
            <a:avLst/>
          </a:prstGeom>
          <a:noFill/>
          <a:ln/>
        </p:spPr>
        <p:txBody>
          <a:bodyPr wrap="square" lIns="0" tIns="0" rIns="0" bIns="0" rtlCol="0" anchor="t"/>
          <a:lstStyle/>
          <a:p>
            <a:pPr marL="0" indent="0" algn="ctr">
              <a:buNone/>
            </a:pPr>
            <a:r>
              <a:rPr lang="en-US" sz="1500" b="1" dirty="0">
                <a:solidFill>
                  <a:srgbClr val="1B2B31"/>
                </a:solidFill>
                <a:latin typeface="Calibri" pitchFamily="34" charset="0"/>
                <a:ea typeface="Calibri" pitchFamily="34" charset="-122"/>
                <a:cs typeface="Calibri" pitchFamily="34" charset="-120"/>
              </a:rPr>
              <a:t>2. Clean</a:t>
            </a:r>
            <a:endParaRPr lang="en-US" sz="1500" dirty="0"/>
          </a:p>
        </p:txBody>
      </p:sp>
      <p:sp>
        <p:nvSpPr>
          <p:cNvPr id="15" name="Text 11"/>
          <p:cNvSpPr txBox="1"/>
          <p:nvPr/>
        </p:nvSpPr>
        <p:spPr>
          <a:xfrm>
            <a:off x="2560320" y="2788920"/>
            <a:ext cx="1444752" cy="1508760"/>
          </a:xfrm>
          <a:prstGeom prst="rect">
            <a:avLst/>
          </a:prstGeom>
          <a:noFill/>
          <a:ln/>
        </p:spPr>
        <p:txBody>
          <a:bodyPr wrap="square" lIns="0" tIns="0" rIns="0" bIns="0" rtlCol="0" anchor="t"/>
          <a:lstStyle/>
          <a:p>
            <a:pPr marL="0" indent="0" algn="ctr">
              <a:buNone/>
            </a:pPr>
            <a:r>
              <a:rPr lang="en-US" sz="1200" dirty="0">
                <a:solidFill>
                  <a:srgbClr val="4F5F65"/>
                </a:solidFill>
                <a:latin typeface="Calibri" pitchFamily="34" charset="0"/>
                <a:ea typeface="Calibri" pitchFamily="34" charset="-122"/>
                <a:cs typeface="Calibri" pitchFamily="34" charset="-120"/>
              </a:rPr>
              <a:t>Linear interpolation of gaps; drop zero-volume / invalid trading days</a:t>
            </a:r>
            <a:endParaRPr lang="en-US" sz="1200" dirty="0"/>
          </a:p>
        </p:txBody>
      </p:sp>
      <p:sp>
        <p:nvSpPr>
          <p:cNvPr id="16" name="Shape 12"/>
          <p:cNvSpPr/>
          <p:nvPr/>
        </p:nvSpPr>
        <p:spPr>
          <a:xfrm>
            <a:off x="4133088" y="1975104"/>
            <a:ext cx="146304" cy="914"/>
          </a:xfrm>
          <a:prstGeom prst="line">
            <a:avLst/>
          </a:prstGeom>
          <a:noFill/>
          <a:ln w="19050">
            <a:solidFill>
              <a:srgbClr val="4F5F65"/>
            </a:solidFill>
            <a:prstDash val="solid"/>
            <a:tailEnd type="triangle"/>
          </a:ln>
        </p:spPr>
      </p:sp>
      <p:sp>
        <p:nvSpPr>
          <p:cNvPr id="17" name="Shape 13"/>
          <p:cNvSpPr/>
          <p:nvPr/>
        </p:nvSpPr>
        <p:spPr>
          <a:xfrm>
            <a:off x="4297680" y="1508760"/>
            <a:ext cx="1691640" cy="2834640"/>
          </a:xfrm>
          <a:prstGeom prst="roundRect">
            <a:avLst>
              <a:gd name="adj" fmla="val 4324"/>
            </a:avLst>
          </a:prstGeom>
          <a:solidFill>
            <a:srgbClr val="F1F6F5"/>
          </a:solidFill>
          <a:ln w="12700">
            <a:solidFill>
              <a:srgbClr val="F1F6F5"/>
            </a:solidFill>
            <a:prstDash val="solid"/>
          </a:ln>
        </p:spPr>
      </p:sp>
      <p:sp>
        <p:nvSpPr>
          <p:cNvPr id="18" name="Shape 14"/>
          <p:cNvSpPr/>
          <p:nvPr/>
        </p:nvSpPr>
        <p:spPr>
          <a:xfrm>
            <a:off x="4846320" y="1691640"/>
            <a:ext cx="566928" cy="566928"/>
          </a:xfrm>
          <a:prstGeom prst="ellipse">
            <a:avLst/>
          </a:prstGeom>
          <a:solidFill>
            <a:srgbClr val="2F7F73"/>
          </a:solidFill>
          <a:ln w="12700">
            <a:solidFill>
              <a:srgbClr val="2F7F73"/>
            </a:solidFill>
            <a:prstDash val="solid"/>
          </a:ln>
        </p:spPr>
      </p:sp>
      <p:pic>
        <p:nvPicPr>
          <p:cNvPr id="19" name="Image 2" descr="preencoded.png"/>
          <p:cNvPicPr>
            <a:picLocks noChangeAspect="1"/>
          </p:cNvPicPr>
          <p:nvPr/>
        </p:nvPicPr>
        <p:blipFill>
          <a:blip r:embed="rId6"/>
          <a:stretch>
            <a:fillRect/>
          </a:stretch>
        </p:blipFill>
        <p:spPr>
          <a:xfrm>
            <a:off x="4993721" y="1839041"/>
            <a:ext cx="272125" cy="272125"/>
          </a:xfrm>
          <a:prstGeom prst="rect">
            <a:avLst/>
          </a:prstGeom>
        </p:spPr>
      </p:pic>
      <p:sp>
        <p:nvSpPr>
          <p:cNvPr id="20" name="Text 15"/>
          <p:cNvSpPr txBox="1"/>
          <p:nvPr/>
        </p:nvSpPr>
        <p:spPr>
          <a:xfrm>
            <a:off x="4407408" y="2377440"/>
            <a:ext cx="1481328" cy="365760"/>
          </a:xfrm>
          <a:prstGeom prst="rect">
            <a:avLst/>
          </a:prstGeom>
          <a:noFill/>
          <a:ln/>
        </p:spPr>
        <p:txBody>
          <a:bodyPr wrap="square" lIns="0" tIns="0" rIns="0" bIns="0" rtlCol="0" anchor="t"/>
          <a:lstStyle/>
          <a:p>
            <a:pPr marL="0" indent="0" algn="ctr">
              <a:buNone/>
            </a:pPr>
            <a:r>
              <a:rPr lang="en-US" sz="1500" b="1" dirty="0">
                <a:solidFill>
                  <a:srgbClr val="1B2B31"/>
                </a:solidFill>
                <a:latin typeface="Calibri" pitchFamily="34" charset="0"/>
                <a:ea typeface="Calibri" pitchFamily="34" charset="-122"/>
                <a:cs typeface="Calibri" pitchFamily="34" charset="-120"/>
              </a:rPr>
              <a:t>3. Engineer</a:t>
            </a:r>
            <a:endParaRPr lang="en-US" sz="1500" dirty="0"/>
          </a:p>
        </p:txBody>
      </p:sp>
      <p:sp>
        <p:nvSpPr>
          <p:cNvPr id="21" name="Text 16"/>
          <p:cNvSpPr txBox="1"/>
          <p:nvPr/>
        </p:nvSpPr>
        <p:spPr>
          <a:xfrm>
            <a:off x="4434840" y="2788920"/>
            <a:ext cx="1444752" cy="1508760"/>
          </a:xfrm>
          <a:prstGeom prst="rect">
            <a:avLst/>
          </a:prstGeom>
          <a:noFill/>
          <a:ln/>
        </p:spPr>
        <p:txBody>
          <a:bodyPr wrap="square" lIns="0" tIns="0" rIns="0" bIns="0" rtlCol="0" anchor="t"/>
          <a:lstStyle/>
          <a:p>
            <a:pPr marL="0" indent="0" algn="ctr">
              <a:buNone/>
            </a:pPr>
            <a:r>
              <a:rPr lang="en-US" sz="1200" dirty="0">
                <a:solidFill>
                  <a:srgbClr val="4F5F65"/>
                </a:solidFill>
                <a:latin typeface="Calibri" pitchFamily="34" charset="0"/>
                <a:ea typeface="Calibri" pitchFamily="34" charset="-122"/>
                <a:cs typeface="Calibri" pitchFamily="34" charset="-120"/>
              </a:rPr>
              <a:t>Finance: log-return, high-low range, overnight gap, log-volume (stationary)</a:t>
            </a:r>
            <a:endParaRPr lang="en-US" sz="1200" dirty="0"/>
          </a:p>
        </p:txBody>
      </p:sp>
      <p:sp>
        <p:nvSpPr>
          <p:cNvPr id="22" name="Shape 17"/>
          <p:cNvSpPr/>
          <p:nvPr/>
        </p:nvSpPr>
        <p:spPr>
          <a:xfrm>
            <a:off x="6007608" y="1975104"/>
            <a:ext cx="146304" cy="914"/>
          </a:xfrm>
          <a:prstGeom prst="line">
            <a:avLst/>
          </a:prstGeom>
          <a:noFill/>
          <a:ln w="19050">
            <a:solidFill>
              <a:srgbClr val="4F5F65"/>
            </a:solidFill>
            <a:prstDash val="solid"/>
            <a:tailEnd type="triangle"/>
          </a:ln>
        </p:spPr>
      </p:sp>
      <p:sp>
        <p:nvSpPr>
          <p:cNvPr id="23" name="Shape 18"/>
          <p:cNvSpPr/>
          <p:nvPr/>
        </p:nvSpPr>
        <p:spPr>
          <a:xfrm>
            <a:off x="6172200" y="1508760"/>
            <a:ext cx="1691640" cy="2834640"/>
          </a:xfrm>
          <a:prstGeom prst="roundRect">
            <a:avLst>
              <a:gd name="adj" fmla="val 4324"/>
            </a:avLst>
          </a:prstGeom>
          <a:solidFill>
            <a:srgbClr val="F1F6F5"/>
          </a:solidFill>
          <a:ln w="12700">
            <a:solidFill>
              <a:srgbClr val="F1F6F5"/>
            </a:solidFill>
            <a:prstDash val="solid"/>
          </a:ln>
        </p:spPr>
      </p:sp>
      <p:sp>
        <p:nvSpPr>
          <p:cNvPr id="24" name="Shape 19"/>
          <p:cNvSpPr/>
          <p:nvPr/>
        </p:nvSpPr>
        <p:spPr>
          <a:xfrm>
            <a:off x="6720840" y="1691640"/>
            <a:ext cx="566928" cy="566928"/>
          </a:xfrm>
          <a:prstGeom prst="ellipse">
            <a:avLst/>
          </a:prstGeom>
          <a:solidFill>
            <a:srgbClr val="D98A1E"/>
          </a:solidFill>
          <a:ln w="12700">
            <a:solidFill>
              <a:srgbClr val="D98A1E"/>
            </a:solidFill>
            <a:prstDash val="solid"/>
          </a:ln>
        </p:spPr>
      </p:sp>
      <p:pic>
        <p:nvPicPr>
          <p:cNvPr id="25" name="Image 3" descr="preencoded.png"/>
          <p:cNvPicPr>
            <a:picLocks noChangeAspect="1"/>
          </p:cNvPicPr>
          <p:nvPr/>
        </p:nvPicPr>
        <p:blipFill>
          <a:blip r:embed="rId7"/>
          <a:stretch>
            <a:fillRect/>
          </a:stretch>
        </p:blipFill>
        <p:spPr>
          <a:xfrm>
            <a:off x="6868241" y="1839041"/>
            <a:ext cx="272125" cy="272125"/>
          </a:xfrm>
          <a:prstGeom prst="rect">
            <a:avLst/>
          </a:prstGeom>
        </p:spPr>
      </p:pic>
      <p:sp>
        <p:nvSpPr>
          <p:cNvPr id="26" name="Text 20"/>
          <p:cNvSpPr txBox="1"/>
          <p:nvPr/>
        </p:nvSpPr>
        <p:spPr>
          <a:xfrm>
            <a:off x="6281928" y="2377440"/>
            <a:ext cx="1481328" cy="365760"/>
          </a:xfrm>
          <a:prstGeom prst="rect">
            <a:avLst/>
          </a:prstGeom>
          <a:noFill/>
          <a:ln/>
        </p:spPr>
        <p:txBody>
          <a:bodyPr wrap="square" lIns="0" tIns="0" rIns="0" bIns="0" rtlCol="0" anchor="t"/>
          <a:lstStyle/>
          <a:p>
            <a:pPr marL="0" indent="0" algn="ctr">
              <a:buNone/>
            </a:pPr>
            <a:r>
              <a:rPr lang="en-US" sz="1500" b="1" dirty="0">
                <a:solidFill>
                  <a:srgbClr val="1B2B31"/>
                </a:solidFill>
                <a:latin typeface="Calibri" pitchFamily="34" charset="0"/>
                <a:ea typeface="Calibri" pitchFamily="34" charset="-122"/>
                <a:cs typeface="Calibri" pitchFamily="34" charset="-120"/>
              </a:rPr>
              <a:t>4. Split</a:t>
            </a:r>
            <a:endParaRPr lang="en-US" sz="1500" dirty="0"/>
          </a:p>
        </p:txBody>
      </p:sp>
      <p:sp>
        <p:nvSpPr>
          <p:cNvPr id="27" name="Text 21"/>
          <p:cNvSpPr txBox="1"/>
          <p:nvPr/>
        </p:nvSpPr>
        <p:spPr>
          <a:xfrm>
            <a:off x="6309360" y="2788920"/>
            <a:ext cx="1444752" cy="1508760"/>
          </a:xfrm>
          <a:prstGeom prst="rect">
            <a:avLst/>
          </a:prstGeom>
          <a:noFill/>
          <a:ln/>
        </p:spPr>
        <p:txBody>
          <a:bodyPr wrap="square" lIns="0" tIns="0" rIns="0" bIns="0" rtlCol="0" anchor="t"/>
          <a:lstStyle/>
          <a:p>
            <a:pPr marL="0" indent="0" algn="ctr">
              <a:buNone/>
            </a:pPr>
            <a:r>
              <a:rPr lang="en-US" sz="1200" dirty="0">
                <a:solidFill>
                  <a:srgbClr val="4F5F65"/>
                </a:solidFill>
                <a:latin typeface="Calibri" pitchFamily="34" charset="0"/>
                <a:ea typeface="Calibri" pitchFamily="34" charset="-122"/>
                <a:cs typeface="Calibri" pitchFamily="34" charset="-120"/>
              </a:rPr>
              <a:t>Chronological 70/10/20 per series (ETT 60/20/20); test windows keep L steps of context</a:t>
            </a:r>
            <a:endParaRPr lang="en-US" sz="1200" dirty="0"/>
          </a:p>
        </p:txBody>
      </p:sp>
      <p:sp>
        <p:nvSpPr>
          <p:cNvPr id="28" name="Shape 22"/>
          <p:cNvSpPr/>
          <p:nvPr/>
        </p:nvSpPr>
        <p:spPr>
          <a:xfrm>
            <a:off x="7882128" y="1975104"/>
            <a:ext cx="146304" cy="914"/>
          </a:xfrm>
          <a:prstGeom prst="line">
            <a:avLst/>
          </a:prstGeom>
          <a:noFill/>
          <a:ln w="19050">
            <a:solidFill>
              <a:srgbClr val="4F5F65"/>
            </a:solidFill>
            <a:prstDash val="solid"/>
            <a:tailEnd type="triangle"/>
          </a:ln>
        </p:spPr>
      </p:sp>
      <p:sp>
        <p:nvSpPr>
          <p:cNvPr id="29" name="Shape 23"/>
          <p:cNvSpPr/>
          <p:nvPr/>
        </p:nvSpPr>
        <p:spPr>
          <a:xfrm>
            <a:off x="8046720" y="1508760"/>
            <a:ext cx="1691640" cy="2834640"/>
          </a:xfrm>
          <a:prstGeom prst="roundRect">
            <a:avLst>
              <a:gd name="adj" fmla="val 4324"/>
            </a:avLst>
          </a:prstGeom>
          <a:solidFill>
            <a:srgbClr val="F1F6F5"/>
          </a:solidFill>
          <a:ln w="12700">
            <a:solidFill>
              <a:srgbClr val="F1F6F5"/>
            </a:solidFill>
            <a:prstDash val="solid"/>
          </a:ln>
        </p:spPr>
      </p:sp>
      <p:sp>
        <p:nvSpPr>
          <p:cNvPr id="30" name="Shape 24"/>
          <p:cNvSpPr/>
          <p:nvPr/>
        </p:nvSpPr>
        <p:spPr>
          <a:xfrm>
            <a:off x="8595360" y="1691640"/>
            <a:ext cx="566928" cy="566928"/>
          </a:xfrm>
          <a:prstGeom prst="ellipse">
            <a:avLst/>
          </a:prstGeom>
          <a:solidFill>
            <a:srgbClr val="D98A1E"/>
          </a:solidFill>
          <a:ln w="12700">
            <a:solidFill>
              <a:srgbClr val="D98A1E"/>
            </a:solidFill>
            <a:prstDash val="solid"/>
          </a:ln>
        </p:spPr>
      </p:sp>
      <p:pic>
        <p:nvPicPr>
          <p:cNvPr id="31" name="Image 4" descr="preencoded.png"/>
          <p:cNvPicPr>
            <a:picLocks noChangeAspect="1"/>
          </p:cNvPicPr>
          <p:nvPr/>
        </p:nvPicPr>
        <p:blipFill>
          <a:blip r:embed="rId8"/>
          <a:stretch>
            <a:fillRect/>
          </a:stretch>
        </p:blipFill>
        <p:spPr>
          <a:xfrm>
            <a:off x="8742761" y="1839041"/>
            <a:ext cx="272125" cy="272125"/>
          </a:xfrm>
          <a:prstGeom prst="rect">
            <a:avLst/>
          </a:prstGeom>
        </p:spPr>
      </p:pic>
      <p:sp>
        <p:nvSpPr>
          <p:cNvPr id="32" name="Text 25"/>
          <p:cNvSpPr txBox="1"/>
          <p:nvPr/>
        </p:nvSpPr>
        <p:spPr>
          <a:xfrm>
            <a:off x="8156448" y="2377440"/>
            <a:ext cx="1481328" cy="365760"/>
          </a:xfrm>
          <a:prstGeom prst="rect">
            <a:avLst/>
          </a:prstGeom>
          <a:noFill/>
          <a:ln/>
        </p:spPr>
        <p:txBody>
          <a:bodyPr wrap="square" lIns="0" tIns="0" rIns="0" bIns="0" rtlCol="0" anchor="t"/>
          <a:lstStyle/>
          <a:p>
            <a:pPr marL="0" indent="0" algn="ctr">
              <a:buNone/>
            </a:pPr>
            <a:r>
              <a:rPr lang="en-US" sz="1500" b="1" dirty="0">
                <a:solidFill>
                  <a:srgbClr val="1B2B31"/>
                </a:solidFill>
                <a:latin typeface="Calibri" pitchFamily="34" charset="0"/>
                <a:ea typeface="Calibri" pitchFamily="34" charset="-122"/>
                <a:cs typeface="Calibri" pitchFamily="34" charset="-120"/>
              </a:rPr>
              <a:t>5. Scale</a:t>
            </a:r>
            <a:endParaRPr lang="en-US" sz="1500" dirty="0"/>
          </a:p>
        </p:txBody>
      </p:sp>
      <p:sp>
        <p:nvSpPr>
          <p:cNvPr id="33" name="Text 26"/>
          <p:cNvSpPr txBox="1"/>
          <p:nvPr/>
        </p:nvSpPr>
        <p:spPr>
          <a:xfrm>
            <a:off x="8183880" y="2788920"/>
            <a:ext cx="1444752" cy="1508760"/>
          </a:xfrm>
          <a:prstGeom prst="rect">
            <a:avLst/>
          </a:prstGeom>
          <a:noFill/>
          <a:ln/>
        </p:spPr>
        <p:txBody>
          <a:bodyPr wrap="square" lIns="0" tIns="0" rIns="0" bIns="0" rtlCol="0" anchor="t"/>
          <a:lstStyle/>
          <a:p>
            <a:pPr marL="0" indent="0" algn="ctr">
              <a:buNone/>
            </a:pPr>
            <a:r>
              <a:rPr lang="en-US" sz="1200" dirty="0">
                <a:solidFill>
                  <a:srgbClr val="4F5F65"/>
                </a:solidFill>
                <a:latin typeface="Calibri" pitchFamily="34" charset="0"/>
                <a:ea typeface="Calibri" pitchFamily="34" charset="-122"/>
                <a:cs typeface="Calibri" pitchFamily="34" charset="-120"/>
              </a:rPr>
              <a:t>z-score per domain; target statistics from unlabeled target inputs only</a:t>
            </a:r>
            <a:endParaRPr lang="en-US" sz="1200" dirty="0"/>
          </a:p>
        </p:txBody>
      </p:sp>
      <p:sp>
        <p:nvSpPr>
          <p:cNvPr id="34" name="Shape 27"/>
          <p:cNvSpPr/>
          <p:nvPr/>
        </p:nvSpPr>
        <p:spPr>
          <a:xfrm>
            <a:off x="9756648" y="1975104"/>
            <a:ext cx="146304" cy="914"/>
          </a:xfrm>
          <a:prstGeom prst="line">
            <a:avLst/>
          </a:prstGeom>
          <a:noFill/>
          <a:ln w="19050">
            <a:solidFill>
              <a:srgbClr val="4F5F65"/>
            </a:solidFill>
            <a:prstDash val="solid"/>
            <a:tailEnd type="triangle"/>
          </a:ln>
        </p:spPr>
      </p:sp>
      <p:sp>
        <p:nvSpPr>
          <p:cNvPr id="35" name="Shape 28"/>
          <p:cNvSpPr/>
          <p:nvPr/>
        </p:nvSpPr>
        <p:spPr>
          <a:xfrm>
            <a:off x="9921240" y="1508760"/>
            <a:ext cx="1691640" cy="2834640"/>
          </a:xfrm>
          <a:prstGeom prst="roundRect">
            <a:avLst>
              <a:gd name="adj" fmla="val 4324"/>
            </a:avLst>
          </a:prstGeom>
          <a:solidFill>
            <a:srgbClr val="F1F6F5"/>
          </a:solidFill>
          <a:ln w="12700">
            <a:solidFill>
              <a:srgbClr val="F1F6F5"/>
            </a:solidFill>
            <a:prstDash val="solid"/>
          </a:ln>
        </p:spPr>
      </p:sp>
      <p:sp>
        <p:nvSpPr>
          <p:cNvPr id="36" name="Shape 29"/>
          <p:cNvSpPr/>
          <p:nvPr/>
        </p:nvSpPr>
        <p:spPr>
          <a:xfrm>
            <a:off x="10469880" y="1691640"/>
            <a:ext cx="566928" cy="566928"/>
          </a:xfrm>
          <a:prstGeom prst="ellipse">
            <a:avLst/>
          </a:prstGeom>
          <a:solidFill>
            <a:srgbClr val="D98A1E"/>
          </a:solidFill>
          <a:ln w="12700">
            <a:solidFill>
              <a:srgbClr val="D98A1E"/>
            </a:solidFill>
            <a:prstDash val="solid"/>
          </a:ln>
        </p:spPr>
      </p:sp>
      <p:pic>
        <p:nvPicPr>
          <p:cNvPr id="37" name="Image 5" descr="preencoded.png"/>
          <p:cNvPicPr>
            <a:picLocks noChangeAspect="1"/>
          </p:cNvPicPr>
          <p:nvPr/>
        </p:nvPicPr>
        <p:blipFill>
          <a:blip r:embed="rId9"/>
          <a:stretch>
            <a:fillRect/>
          </a:stretch>
        </p:blipFill>
        <p:spPr>
          <a:xfrm>
            <a:off x="10617281" y="1839041"/>
            <a:ext cx="272125" cy="272125"/>
          </a:xfrm>
          <a:prstGeom prst="rect">
            <a:avLst/>
          </a:prstGeom>
        </p:spPr>
      </p:pic>
      <p:sp>
        <p:nvSpPr>
          <p:cNvPr id="38" name="Text 30"/>
          <p:cNvSpPr txBox="1"/>
          <p:nvPr/>
        </p:nvSpPr>
        <p:spPr>
          <a:xfrm>
            <a:off x="10030968" y="2377440"/>
            <a:ext cx="1481328" cy="365760"/>
          </a:xfrm>
          <a:prstGeom prst="rect">
            <a:avLst/>
          </a:prstGeom>
          <a:noFill/>
          <a:ln/>
        </p:spPr>
        <p:txBody>
          <a:bodyPr wrap="square" lIns="0" tIns="0" rIns="0" bIns="0" rtlCol="0" anchor="t"/>
          <a:lstStyle/>
          <a:p>
            <a:pPr marL="0" indent="0" algn="ctr">
              <a:buNone/>
            </a:pPr>
            <a:r>
              <a:rPr lang="en-US" sz="1500" b="1" dirty="0">
                <a:solidFill>
                  <a:srgbClr val="1B2B31"/>
                </a:solidFill>
                <a:latin typeface="Calibri" pitchFamily="34" charset="0"/>
                <a:ea typeface="Calibri" pitchFamily="34" charset="-122"/>
                <a:cs typeface="Calibri" pitchFamily="34" charset="-120"/>
              </a:rPr>
              <a:t>6. Window</a:t>
            </a:r>
            <a:endParaRPr lang="en-US" sz="1500" dirty="0"/>
          </a:p>
        </p:txBody>
      </p:sp>
      <p:sp>
        <p:nvSpPr>
          <p:cNvPr id="39" name="Text 31"/>
          <p:cNvSpPr txBox="1"/>
          <p:nvPr/>
        </p:nvSpPr>
        <p:spPr>
          <a:xfrm>
            <a:off x="10058400" y="2788920"/>
            <a:ext cx="1444752" cy="1508760"/>
          </a:xfrm>
          <a:prstGeom prst="rect">
            <a:avLst/>
          </a:prstGeom>
          <a:noFill/>
          <a:ln/>
        </p:spPr>
        <p:txBody>
          <a:bodyPr wrap="square" lIns="0" tIns="0" rIns="0" bIns="0" rtlCol="0" anchor="t"/>
          <a:lstStyle/>
          <a:p>
            <a:pPr marL="0" indent="0" algn="ctr">
              <a:buNone/>
            </a:pPr>
            <a:r>
              <a:rPr lang="en-US" sz="1200" dirty="0">
                <a:solidFill>
                  <a:srgbClr val="4F5F65"/>
                </a:solidFill>
                <a:latin typeface="Calibri" pitchFamily="34" charset="0"/>
                <a:ea typeface="Calibri" pitchFamily="34" charset="-122"/>
                <a:cs typeface="Calibri" pitchFamily="34" charset="-120"/>
              </a:rPr>
              <a:t>Sliding windows: L look-back → H horizon, all variables in and out</a:t>
            </a:r>
            <a:endParaRPr lang="en-US" sz="1200" dirty="0"/>
          </a:p>
        </p:txBody>
      </p:sp>
      <p:sp>
        <p:nvSpPr>
          <p:cNvPr id="40" name="Shape 32"/>
          <p:cNvSpPr/>
          <p:nvPr/>
        </p:nvSpPr>
        <p:spPr>
          <a:xfrm>
            <a:off x="548640" y="4663440"/>
            <a:ext cx="6766560" cy="1554480"/>
          </a:xfrm>
          <a:prstGeom prst="roundRect">
            <a:avLst>
              <a:gd name="adj" fmla="val 4706"/>
            </a:avLst>
          </a:prstGeom>
          <a:solidFill>
            <a:srgbClr val="FFFFFF"/>
          </a:solidFill>
          <a:ln w="12700">
            <a:solidFill>
              <a:srgbClr val="FFFFFF"/>
            </a:solidFill>
            <a:prstDash val="solid"/>
          </a:ln>
        </p:spPr>
      </p:sp>
      <p:sp>
        <p:nvSpPr>
          <p:cNvPr id="41" name="Shape 33"/>
          <p:cNvSpPr/>
          <p:nvPr/>
        </p:nvSpPr>
        <p:spPr>
          <a:xfrm>
            <a:off x="548640" y="4663440"/>
            <a:ext cx="6766560" cy="1554480"/>
          </a:xfrm>
          <a:prstGeom prst="roundRect">
            <a:avLst>
              <a:gd name="adj" fmla="val 4706"/>
            </a:avLst>
          </a:prstGeom>
          <a:solidFill>
            <a:srgbClr val="FFFFFF"/>
          </a:solidFill>
          <a:ln w="12700">
            <a:solidFill>
              <a:srgbClr val="CFDAD8"/>
            </a:solidFill>
            <a:prstDash val="solid"/>
          </a:ln>
        </p:spPr>
      </p:sp>
      <p:sp>
        <p:nvSpPr>
          <p:cNvPr id="42" name="Shape 34"/>
          <p:cNvSpPr/>
          <p:nvPr/>
        </p:nvSpPr>
        <p:spPr>
          <a:xfrm>
            <a:off x="731520" y="4828032"/>
            <a:ext cx="420624" cy="420624"/>
          </a:xfrm>
          <a:prstGeom prst="ellipse">
            <a:avLst/>
          </a:prstGeom>
          <a:solidFill>
            <a:srgbClr val="B5473A"/>
          </a:solidFill>
          <a:ln w="12700">
            <a:solidFill>
              <a:srgbClr val="B5473A"/>
            </a:solidFill>
            <a:prstDash val="solid"/>
          </a:ln>
        </p:spPr>
      </p:sp>
      <p:pic>
        <p:nvPicPr>
          <p:cNvPr id="43" name="Image 6" descr="preencoded.png"/>
          <p:cNvPicPr>
            <a:picLocks noChangeAspect="1"/>
          </p:cNvPicPr>
          <p:nvPr/>
        </p:nvPicPr>
        <p:blipFill>
          <a:blip r:embed="rId10"/>
          <a:stretch>
            <a:fillRect/>
          </a:stretch>
        </p:blipFill>
        <p:spPr>
          <a:xfrm>
            <a:off x="840882" y="4937394"/>
            <a:ext cx="201900" cy="201900"/>
          </a:xfrm>
          <a:prstGeom prst="rect">
            <a:avLst/>
          </a:prstGeom>
        </p:spPr>
      </p:pic>
      <p:sp>
        <p:nvSpPr>
          <p:cNvPr id="44" name="Text 35"/>
          <p:cNvSpPr txBox="1"/>
          <p:nvPr/>
        </p:nvSpPr>
        <p:spPr>
          <a:xfrm>
            <a:off x="1280160" y="4846320"/>
            <a:ext cx="4572000" cy="365760"/>
          </a:xfrm>
          <a:prstGeom prst="rect">
            <a:avLst/>
          </a:prstGeom>
          <a:noFill/>
          <a:ln/>
        </p:spPr>
        <p:txBody>
          <a:bodyPr wrap="square" lIns="0" tIns="0" rIns="0" bIns="0" rtlCol="0" anchor="t"/>
          <a:lstStyle/>
          <a:p>
            <a:pPr marL="0" indent="0">
              <a:buNone/>
            </a:pPr>
            <a:r>
              <a:rPr lang="en-US" sz="1500" b="1" dirty="0">
                <a:solidFill>
                  <a:srgbClr val="1B2B31"/>
                </a:solidFill>
                <a:latin typeface="Calibri" pitchFamily="34" charset="0"/>
                <a:ea typeface="Calibri" pitchFamily="34" charset="-122"/>
                <a:cs typeface="Calibri" pitchFamily="34" charset="-120"/>
              </a:rPr>
              <a:t>Leakage guards</a:t>
            </a:r>
            <a:endParaRPr lang="en-US" sz="1500" dirty="0"/>
          </a:p>
        </p:txBody>
      </p:sp>
      <p:sp>
        <p:nvSpPr>
          <p:cNvPr id="45" name="Text 36"/>
          <p:cNvSpPr txBox="1"/>
          <p:nvPr/>
        </p:nvSpPr>
        <p:spPr>
          <a:xfrm>
            <a:off x="731520" y="5257800"/>
            <a:ext cx="6400800" cy="9144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4F5F65"/>
                </a:solidFill>
                <a:latin typeface="Calibri" pitchFamily="34" charset="0"/>
                <a:ea typeface="Calibri" pitchFamily="34" charset="-122"/>
                <a:cs typeface="Calibri" pitchFamily="34" charset="-120"/>
              </a:rPr>
              <a:t>Strictly chronological splits; no shuffling across time</a:t>
            </a:r>
            <a:endParaRPr lang="en-US" sz="1200" dirty="0"/>
          </a:p>
          <a:p>
            <a:pPr marL="342900" indent="-342900">
              <a:spcAft>
                <a:spcPts val="200"/>
              </a:spcAft>
              <a:buSzPct val="100000"/>
              <a:buChar char="•"/>
            </a:pPr>
            <a:r>
              <a:rPr lang="en-US" sz="1200" dirty="0">
                <a:solidFill>
                  <a:srgbClr val="4F5F65"/>
                </a:solidFill>
                <a:latin typeface="Calibri" pitchFamily="34" charset="0"/>
                <a:ea typeface="Calibri" pitchFamily="34" charset="-122"/>
                <a:cs typeface="Calibri" pitchFamily="34" charset="-120"/>
              </a:rPr>
              <a:t>Target future values never used for UDA training or for choosing checkpoints</a:t>
            </a:r>
            <a:endParaRPr lang="en-US" sz="1200" dirty="0"/>
          </a:p>
          <a:p>
            <a:pPr marL="342900" indent="-342900">
              <a:spcAft>
                <a:spcPts val="200"/>
              </a:spcAft>
              <a:buSzPct val="100000"/>
              <a:buChar char="•"/>
            </a:pPr>
            <a:r>
              <a:rPr lang="en-US" sz="1200" dirty="0">
                <a:solidFill>
                  <a:srgbClr val="4F5F65"/>
                </a:solidFill>
                <a:latin typeface="Calibri" pitchFamily="34" charset="0"/>
                <a:ea typeface="Calibri" pitchFamily="34" charset="-122"/>
                <a:cs typeface="Calibri" pitchFamily="34" charset="-120"/>
              </a:rPr>
              <a:t>Adaptation runs for a fixed number of epochs (no peeking at target validation)</a:t>
            </a:r>
            <a:endParaRPr lang="en-US" sz="1200" dirty="0"/>
          </a:p>
        </p:txBody>
      </p:sp>
      <p:sp>
        <p:nvSpPr>
          <p:cNvPr id="46" name="Shape 37"/>
          <p:cNvSpPr/>
          <p:nvPr/>
        </p:nvSpPr>
        <p:spPr>
          <a:xfrm>
            <a:off x="7543800" y="4663440"/>
            <a:ext cx="4096512" cy="1554480"/>
          </a:xfrm>
          <a:prstGeom prst="roundRect">
            <a:avLst>
              <a:gd name="adj" fmla="val 4706"/>
            </a:avLst>
          </a:prstGeom>
          <a:solidFill>
            <a:srgbClr val="16232A"/>
          </a:solidFill>
          <a:ln w="12700">
            <a:solidFill>
              <a:srgbClr val="16232A"/>
            </a:solidFill>
            <a:prstDash val="solid"/>
          </a:ln>
        </p:spPr>
      </p:sp>
      <p:sp>
        <p:nvSpPr>
          <p:cNvPr id="47" name="Text 38"/>
          <p:cNvSpPr txBox="1"/>
          <p:nvPr/>
        </p:nvSpPr>
        <p:spPr>
          <a:xfrm>
            <a:off x="7772400" y="4828032"/>
            <a:ext cx="3657600" cy="320040"/>
          </a:xfrm>
          <a:prstGeom prst="rect">
            <a:avLst/>
          </a:prstGeom>
          <a:noFill/>
          <a:ln/>
        </p:spPr>
        <p:txBody>
          <a:bodyPr wrap="square" lIns="0" tIns="0" rIns="0" bIns="0" rtlCol="0" anchor="t"/>
          <a:lstStyle/>
          <a:p>
            <a:pPr marL="0" indent="0">
              <a:buNone/>
            </a:pPr>
            <a:r>
              <a:rPr lang="en-US" sz="1300" b="1" dirty="0">
                <a:solidFill>
                  <a:srgbClr val="6FB3A6"/>
                </a:solidFill>
                <a:latin typeface="Calibri" pitchFamily="34" charset="0"/>
                <a:ea typeface="Calibri" pitchFamily="34" charset="-122"/>
                <a:cs typeface="Calibri" pitchFamily="34" charset="-120"/>
              </a:rPr>
              <a:t>Reproduce in one command</a:t>
            </a:r>
            <a:endParaRPr lang="en-US" sz="1300" dirty="0"/>
          </a:p>
        </p:txBody>
      </p:sp>
      <p:sp>
        <p:nvSpPr>
          <p:cNvPr id="48" name="Text 39"/>
          <p:cNvSpPr txBox="1"/>
          <p:nvPr/>
        </p:nvSpPr>
        <p:spPr>
          <a:xfrm>
            <a:off x="7772400" y="5212080"/>
            <a:ext cx="3657600" cy="36576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python -m src.data_download</a:t>
            </a:r>
            <a:endParaRPr lang="en-US" sz="1400" dirty="0"/>
          </a:p>
        </p:txBody>
      </p:sp>
      <p:sp>
        <p:nvSpPr>
          <p:cNvPr id="49" name="Text 40"/>
          <p:cNvSpPr txBox="1"/>
          <p:nvPr/>
        </p:nvSpPr>
        <p:spPr>
          <a:xfrm>
            <a:off x="7772400" y="5596128"/>
            <a:ext cx="3657600" cy="54864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Raw pulls saved in data/raw, curated CSVs in data/processed/&lt;benchmark&gt;/&lt;domain&gt;.csv</a:t>
            </a:r>
            <a:endParaRPr lang="en-US" sz="1100" dirty="0"/>
          </a:p>
        </p:txBody>
      </p:sp>
      <p:sp>
        <p:nvSpPr>
          <p:cNvPr id="5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04 · LIGHTWEIGHT FORECASTER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LiteTCN-Forecaster: small, and built to be adapted</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828800"/>
            <a:ext cx="1417320" cy="1097280"/>
          </a:xfrm>
          <a:prstGeom prst="roundRect">
            <a:avLst>
              <a:gd name="adj" fmla="val 6667"/>
            </a:avLst>
          </a:prstGeom>
          <a:solidFill>
            <a:srgbClr val="E6F0EE"/>
          </a:solidFill>
          <a:ln w="12700">
            <a:solidFill>
              <a:srgbClr val="E6F0EE"/>
            </a:solidFill>
            <a:prstDash val="solid"/>
          </a:ln>
        </p:spPr>
      </p:sp>
      <p:sp>
        <p:nvSpPr>
          <p:cNvPr id="6" name="Text 4"/>
          <p:cNvSpPr txBox="1"/>
          <p:nvPr/>
        </p:nvSpPr>
        <p:spPr>
          <a:xfrm>
            <a:off x="548640" y="1920240"/>
            <a:ext cx="1417320" cy="320040"/>
          </a:xfrm>
          <a:prstGeom prst="rect">
            <a:avLst/>
          </a:prstGeom>
          <a:noFill/>
          <a:ln/>
        </p:spPr>
        <p:txBody>
          <a:bodyPr wrap="square" lIns="0" tIns="0" rIns="0" bIns="0" rtlCol="0" anchor="t"/>
          <a:lstStyle/>
          <a:p>
            <a:pPr marL="0" indent="0" algn="ctr">
              <a:buNone/>
            </a:pPr>
            <a:r>
              <a:rPr lang="en-US" sz="1350" b="1" dirty="0">
                <a:solidFill>
                  <a:srgbClr val="1B2B31"/>
                </a:solidFill>
                <a:latin typeface="Calibri" pitchFamily="34" charset="0"/>
                <a:ea typeface="Calibri" pitchFamily="34" charset="-122"/>
                <a:cs typeface="Calibri" pitchFamily="34" charset="-120"/>
              </a:rPr>
              <a:t>Input x</a:t>
            </a:r>
            <a:endParaRPr lang="en-US" sz="1350" dirty="0"/>
          </a:p>
        </p:txBody>
      </p:sp>
      <p:sp>
        <p:nvSpPr>
          <p:cNvPr id="7" name="Text 5"/>
          <p:cNvSpPr txBox="1"/>
          <p:nvPr/>
        </p:nvSpPr>
        <p:spPr>
          <a:xfrm>
            <a:off x="621792" y="2240280"/>
            <a:ext cx="1271016" cy="640080"/>
          </a:xfrm>
          <a:prstGeom prst="rect">
            <a:avLst/>
          </a:prstGeom>
          <a:noFill/>
          <a:ln/>
        </p:spPr>
        <p:txBody>
          <a:bodyPr wrap="square" lIns="0" tIns="0" rIns="0" bIns="0" rtlCol="0" anchor="t"/>
          <a:lstStyle/>
          <a:p>
            <a:pPr marL="0" indent="0" algn="ctr">
              <a:buNone/>
            </a:pPr>
            <a:r>
              <a:rPr lang="en-US" sz="1050" dirty="0">
                <a:solidFill>
                  <a:srgbClr val="4F5F65"/>
                </a:solidFill>
                <a:latin typeface="Calibri" pitchFamily="34" charset="0"/>
                <a:ea typeface="Calibri" pitchFamily="34" charset="-122"/>
                <a:cs typeface="Calibri" pitchFamily="34" charset="-120"/>
              </a:rPr>
              <a:t>L × C window</a:t>
            </a:r>
            <a:endParaRPr lang="en-US" sz="1050" dirty="0"/>
          </a:p>
          <a:p>
            <a:pPr marL="0" indent="0" algn="ctr">
              <a:buNone/>
            </a:pPr>
            <a:r>
              <a:rPr lang="en-US" sz="1050" dirty="0">
                <a:solidFill>
                  <a:srgbClr val="4F5F65"/>
                </a:solidFill>
                <a:latin typeface="Calibri" pitchFamily="34" charset="0"/>
                <a:ea typeface="Calibri" pitchFamily="34" charset="-122"/>
                <a:cs typeface="Calibri" pitchFamily="34" charset="-120"/>
              </a:rPr>
              <a:t>(all variables)</a:t>
            </a:r>
            <a:endParaRPr lang="en-US" sz="1050" dirty="0"/>
          </a:p>
        </p:txBody>
      </p:sp>
      <p:sp>
        <p:nvSpPr>
          <p:cNvPr id="8" name="Shape 6"/>
          <p:cNvSpPr/>
          <p:nvPr/>
        </p:nvSpPr>
        <p:spPr>
          <a:xfrm>
            <a:off x="2240280" y="1828800"/>
            <a:ext cx="1417320" cy="1097280"/>
          </a:xfrm>
          <a:prstGeom prst="roundRect">
            <a:avLst>
              <a:gd name="adj" fmla="val 6667"/>
            </a:avLst>
          </a:prstGeom>
          <a:solidFill>
            <a:srgbClr val="F1F6F5"/>
          </a:solidFill>
          <a:ln w="12700">
            <a:solidFill>
              <a:srgbClr val="F1F6F5"/>
            </a:solidFill>
            <a:prstDash val="solid"/>
          </a:ln>
        </p:spPr>
      </p:sp>
      <p:sp>
        <p:nvSpPr>
          <p:cNvPr id="9" name="Text 7"/>
          <p:cNvSpPr txBox="1"/>
          <p:nvPr/>
        </p:nvSpPr>
        <p:spPr>
          <a:xfrm>
            <a:off x="2240280" y="1920240"/>
            <a:ext cx="1417320" cy="320040"/>
          </a:xfrm>
          <a:prstGeom prst="rect">
            <a:avLst/>
          </a:prstGeom>
          <a:noFill/>
          <a:ln/>
        </p:spPr>
        <p:txBody>
          <a:bodyPr wrap="square" lIns="0" tIns="0" rIns="0" bIns="0" rtlCol="0" anchor="t"/>
          <a:lstStyle/>
          <a:p>
            <a:pPr marL="0" indent="0" algn="ctr">
              <a:buNone/>
            </a:pPr>
            <a:r>
              <a:rPr lang="en-US" sz="1350" b="1" dirty="0">
                <a:solidFill>
                  <a:srgbClr val="1B2B31"/>
                </a:solidFill>
                <a:latin typeface="Calibri" pitchFamily="34" charset="0"/>
                <a:ea typeface="Calibri" pitchFamily="34" charset="-122"/>
                <a:cs typeface="Calibri" pitchFamily="34" charset="-120"/>
              </a:rPr>
              <a:t>RevIN</a:t>
            </a:r>
            <a:endParaRPr lang="en-US" sz="1350" dirty="0"/>
          </a:p>
        </p:txBody>
      </p:sp>
      <p:sp>
        <p:nvSpPr>
          <p:cNvPr id="10" name="Text 8"/>
          <p:cNvSpPr txBox="1"/>
          <p:nvPr/>
        </p:nvSpPr>
        <p:spPr>
          <a:xfrm>
            <a:off x="2313432" y="2240280"/>
            <a:ext cx="1271016" cy="640080"/>
          </a:xfrm>
          <a:prstGeom prst="rect">
            <a:avLst/>
          </a:prstGeom>
          <a:noFill/>
          <a:ln/>
        </p:spPr>
        <p:txBody>
          <a:bodyPr wrap="square" lIns="0" tIns="0" rIns="0" bIns="0" rtlCol="0" anchor="t"/>
          <a:lstStyle/>
          <a:p>
            <a:pPr marL="0" indent="0" algn="ctr">
              <a:buNone/>
            </a:pPr>
            <a:r>
              <a:rPr lang="en-US" sz="1050" dirty="0">
                <a:solidFill>
                  <a:srgbClr val="4F5F65"/>
                </a:solidFill>
                <a:latin typeface="Calibri" pitchFamily="34" charset="0"/>
                <a:ea typeface="Calibri" pitchFamily="34" charset="-122"/>
                <a:cs typeface="Calibri" pitchFamily="34" charset="-120"/>
              </a:rPr>
              <a:t>normalise per window</a:t>
            </a:r>
            <a:endParaRPr lang="en-US" sz="1050" dirty="0"/>
          </a:p>
          <a:p>
            <a:pPr marL="0" indent="0" algn="ctr">
              <a:buNone/>
            </a:pPr>
            <a:r>
              <a:rPr lang="en-US" sz="1050" dirty="0">
                <a:solidFill>
                  <a:srgbClr val="4F5F65"/>
                </a:solidFill>
                <a:latin typeface="Calibri" pitchFamily="34" charset="0"/>
                <a:ea typeface="Calibri" pitchFamily="34" charset="-122"/>
                <a:cs typeface="Calibri" pitchFamily="34" charset="-120"/>
              </a:rPr>
              <a:t>(stats kept)</a:t>
            </a:r>
            <a:endParaRPr lang="en-US" sz="1050" dirty="0"/>
          </a:p>
        </p:txBody>
      </p:sp>
      <p:sp>
        <p:nvSpPr>
          <p:cNvPr id="11" name="Shape 9"/>
          <p:cNvSpPr/>
          <p:nvPr/>
        </p:nvSpPr>
        <p:spPr>
          <a:xfrm>
            <a:off x="3931920" y="1828800"/>
            <a:ext cx="1874520" cy="1097280"/>
          </a:xfrm>
          <a:prstGeom prst="roundRect">
            <a:avLst>
              <a:gd name="adj" fmla="val 6667"/>
            </a:avLst>
          </a:prstGeom>
          <a:solidFill>
            <a:srgbClr val="2F7F73"/>
          </a:solidFill>
          <a:ln w="12700">
            <a:solidFill>
              <a:srgbClr val="2F7F73"/>
            </a:solidFill>
            <a:prstDash val="solid"/>
          </a:ln>
        </p:spPr>
      </p:sp>
      <p:sp>
        <p:nvSpPr>
          <p:cNvPr id="12" name="Text 10"/>
          <p:cNvSpPr txBox="1"/>
          <p:nvPr/>
        </p:nvSpPr>
        <p:spPr>
          <a:xfrm>
            <a:off x="3931920" y="1920240"/>
            <a:ext cx="1874520" cy="32004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Conv encoder</a:t>
            </a:r>
            <a:endParaRPr lang="en-US" sz="1350" dirty="0"/>
          </a:p>
        </p:txBody>
      </p:sp>
      <p:sp>
        <p:nvSpPr>
          <p:cNvPr id="13" name="Text 11"/>
          <p:cNvSpPr txBox="1"/>
          <p:nvPr/>
        </p:nvSpPr>
        <p:spPr>
          <a:xfrm>
            <a:off x="4005072" y="2240280"/>
            <a:ext cx="1728216" cy="640080"/>
          </a:xfrm>
          <a:prstGeom prst="rect">
            <a:avLst/>
          </a:prstGeom>
          <a:noFill/>
          <a:ln/>
        </p:spPr>
        <p:txBody>
          <a:bodyPr wrap="square" lIns="0" tIns="0" rIns="0" bIns="0" rtlCol="0" anchor="t"/>
          <a:lstStyle/>
          <a:p>
            <a:pPr marL="0" indent="0" algn="ctr">
              <a:buNone/>
            </a:pPr>
            <a:r>
              <a:rPr lang="en-US" sz="1050" dirty="0">
                <a:solidFill>
                  <a:srgbClr val="E6F0EE"/>
                </a:solidFill>
                <a:latin typeface="Calibri" pitchFamily="34" charset="0"/>
                <a:ea typeface="Calibri" pitchFamily="34" charset="-122"/>
                <a:cs typeface="Calibri" pitchFamily="34" charset="-120"/>
              </a:rPr>
              <a:t>3 × Conv1d, stride 2</a:t>
            </a:r>
            <a:endParaRPr lang="en-US" sz="1050" dirty="0"/>
          </a:p>
          <a:p>
            <a:pPr marL="0" indent="0" algn="ctr">
              <a:buNone/>
            </a:pPr>
            <a:r>
              <a:rPr lang="en-US" sz="1050" dirty="0">
                <a:solidFill>
                  <a:srgbClr val="E6F0EE"/>
                </a:solidFill>
                <a:latin typeface="Calibri" pitchFamily="34" charset="0"/>
                <a:ea typeface="Calibri" pitchFamily="34" charset="-122"/>
                <a:cs typeface="Calibri" pitchFamily="34" charset="-120"/>
              </a:rPr>
              <a:t>dilation 1-2-2, GELU</a:t>
            </a:r>
            <a:endParaRPr lang="en-US" sz="1050" dirty="0"/>
          </a:p>
        </p:txBody>
      </p:sp>
      <p:sp>
        <p:nvSpPr>
          <p:cNvPr id="14" name="Shape 12"/>
          <p:cNvSpPr/>
          <p:nvPr/>
        </p:nvSpPr>
        <p:spPr>
          <a:xfrm>
            <a:off x="6080760" y="1828800"/>
            <a:ext cx="1463040" cy="1097280"/>
          </a:xfrm>
          <a:prstGeom prst="roundRect">
            <a:avLst>
              <a:gd name="adj" fmla="val 6667"/>
            </a:avLst>
          </a:prstGeom>
          <a:solidFill>
            <a:srgbClr val="16232A"/>
          </a:solidFill>
          <a:ln w="12700">
            <a:solidFill>
              <a:srgbClr val="16232A"/>
            </a:solidFill>
            <a:prstDash val="solid"/>
          </a:ln>
        </p:spPr>
      </p:sp>
      <p:sp>
        <p:nvSpPr>
          <p:cNvPr id="15" name="Text 13"/>
          <p:cNvSpPr txBox="1"/>
          <p:nvPr/>
        </p:nvSpPr>
        <p:spPr>
          <a:xfrm>
            <a:off x="6080760" y="1920240"/>
            <a:ext cx="1463040" cy="32004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Latent z</a:t>
            </a:r>
            <a:endParaRPr lang="en-US" sz="1350" dirty="0"/>
          </a:p>
        </p:txBody>
      </p:sp>
      <p:sp>
        <p:nvSpPr>
          <p:cNvPr id="16" name="Text 14"/>
          <p:cNvSpPr txBox="1"/>
          <p:nvPr/>
        </p:nvSpPr>
        <p:spPr>
          <a:xfrm>
            <a:off x="6153912" y="2240280"/>
            <a:ext cx="1316736" cy="640080"/>
          </a:xfrm>
          <a:prstGeom prst="rect">
            <a:avLst/>
          </a:prstGeom>
          <a:noFill/>
          <a:ln/>
        </p:spPr>
        <p:txBody>
          <a:bodyPr wrap="square" lIns="0" tIns="0" rIns="0" bIns="0" rtlCol="0" anchor="t"/>
          <a:lstStyle/>
          <a:p>
            <a:pPr marL="0" indent="0" algn="ctr">
              <a:buNone/>
            </a:pPr>
            <a:r>
              <a:rPr lang="en-US" sz="1050" dirty="0">
                <a:solidFill>
                  <a:srgbClr val="E6F0EE"/>
                </a:solidFill>
                <a:latin typeface="Calibri" pitchFamily="34" charset="0"/>
                <a:ea typeface="Calibri" pitchFamily="34" charset="-122"/>
                <a:cs typeface="Calibri" pitchFamily="34" charset="-120"/>
              </a:rPr>
              <a:t>Flatten → Linear</a:t>
            </a:r>
            <a:endParaRPr lang="en-US" sz="1050" dirty="0"/>
          </a:p>
          <a:p>
            <a:pPr marL="0" indent="0" algn="ctr">
              <a:buNone/>
            </a:pPr>
            <a:r>
              <a:rPr lang="en-US" sz="1050" dirty="0">
                <a:solidFill>
                  <a:srgbClr val="E6F0EE"/>
                </a:solidFill>
                <a:latin typeface="Calibri" pitchFamily="34" charset="0"/>
                <a:ea typeface="Calibri" pitchFamily="34" charset="-122"/>
                <a:cs typeface="Calibri" pitchFamily="34" charset="-120"/>
              </a:rPr>
              <a:t>128-d features</a:t>
            </a:r>
            <a:endParaRPr lang="en-US" sz="1050" dirty="0"/>
          </a:p>
        </p:txBody>
      </p:sp>
      <p:sp>
        <p:nvSpPr>
          <p:cNvPr id="17" name="Shape 15"/>
          <p:cNvSpPr/>
          <p:nvPr/>
        </p:nvSpPr>
        <p:spPr>
          <a:xfrm>
            <a:off x="7863840" y="1920240"/>
            <a:ext cx="1783080" cy="914400"/>
          </a:xfrm>
          <a:prstGeom prst="roundRect">
            <a:avLst>
              <a:gd name="adj" fmla="val 8000"/>
            </a:avLst>
          </a:prstGeom>
          <a:solidFill>
            <a:srgbClr val="F1F6F5"/>
          </a:solidFill>
          <a:ln w="12700">
            <a:solidFill>
              <a:srgbClr val="F1F6F5"/>
            </a:solidFill>
            <a:prstDash val="solid"/>
          </a:ln>
        </p:spPr>
      </p:sp>
      <p:sp>
        <p:nvSpPr>
          <p:cNvPr id="18" name="Text 16"/>
          <p:cNvSpPr txBox="1"/>
          <p:nvPr/>
        </p:nvSpPr>
        <p:spPr>
          <a:xfrm>
            <a:off x="7863840" y="2011680"/>
            <a:ext cx="1783080" cy="320040"/>
          </a:xfrm>
          <a:prstGeom prst="rect">
            <a:avLst/>
          </a:prstGeom>
          <a:noFill/>
          <a:ln/>
        </p:spPr>
        <p:txBody>
          <a:bodyPr wrap="square" lIns="0" tIns="0" rIns="0" bIns="0" rtlCol="0" anchor="t"/>
          <a:lstStyle/>
          <a:p>
            <a:pPr marL="0" indent="0" algn="ctr">
              <a:buNone/>
            </a:pPr>
            <a:r>
              <a:rPr lang="en-US" sz="1350" b="1" dirty="0">
                <a:solidFill>
                  <a:srgbClr val="1B2B31"/>
                </a:solidFill>
                <a:latin typeface="Calibri" pitchFamily="34" charset="0"/>
                <a:ea typeface="Calibri" pitchFamily="34" charset="-122"/>
                <a:cs typeface="Calibri" pitchFamily="34" charset="-120"/>
              </a:rPr>
              <a:t>Forecast head</a:t>
            </a:r>
            <a:endParaRPr lang="en-US" sz="1350" dirty="0"/>
          </a:p>
        </p:txBody>
      </p:sp>
      <p:sp>
        <p:nvSpPr>
          <p:cNvPr id="19" name="Text 17"/>
          <p:cNvSpPr txBox="1"/>
          <p:nvPr/>
        </p:nvSpPr>
        <p:spPr>
          <a:xfrm>
            <a:off x="7936992" y="2331720"/>
            <a:ext cx="1636776" cy="457200"/>
          </a:xfrm>
          <a:prstGeom prst="rect">
            <a:avLst/>
          </a:prstGeom>
          <a:noFill/>
          <a:ln/>
        </p:spPr>
        <p:txBody>
          <a:bodyPr wrap="square" lIns="0" tIns="0" rIns="0" bIns="0" rtlCol="0" anchor="t"/>
          <a:lstStyle/>
          <a:p>
            <a:pPr marL="0" indent="0" algn="ctr">
              <a:buNone/>
            </a:pPr>
            <a:r>
              <a:rPr lang="en-US" sz="1050" dirty="0">
                <a:solidFill>
                  <a:srgbClr val="4F5F65"/>
                </a:solidFill>
                <a:latin typeface="Calibri" pitchFamily="34" charset="0"/>
                <a:ea typeface="Calibri" pitchFamily="34" charset="-122"/>
                <a:cs typeface="Calibri" pitchFamily="34" charset="-120"/>
              </a:rPr>
              <a:t>Linear 128 → H·C</a:t>
            </a:r>
            <a:endParaRPr lang="en-US" sz="1050" dirty="0"/>
          </a:p>
        </p:txBody>
      </p:sp>
      <p:sp>
        <p:nvSpPr>
          <p:cNvPr id="20" name="Shape 18"/>
          <p:cNvSpPr/>
          <p:nvPr/>
        </p:nvSpPr>
        <p:spPr>
          <a:xfrm>
            <a:off x="7863840" y="3246120"/>
            <a:ext cx="1783080" cy="914400"/>
          </a:xfrm>
          <a:prstGeom prst="roundRect">
            <a:avLst>
              <a:gd name="adj" fmla="val 8000"/>
            </a:avLst>
          </a:prstGeom>
          <a:solidFill>
            <a:srgbClr val="FBEBD3"/>
          </a:solidFill>
          <a:ln w="12700">
            <a:solidFill>
              <a:srgbClr val="FBEBD3"/>
            </a:solidFill>
            <a:prstDash val="solid"/>
          </a:ln>
        </p:spPr>
      </p:sp>
      <p:sp>
        <p:nvSpPr>
          <p:cNvPr id="21" name="Text 19"/>
          <p:cNvSpPr txBox="1"/>
          <p:nvPr/>
        </p:nvSpPr>
        <p:spPr>
          <a:xfrm>
            <a:off x="7863840" y="3337560"/>
            <a:ext cx="1783080" cy="320040"/>
          </a:xfrm>
          <a:prstGeom prst="rect">
            <a:avLst/>
          </a:prstGeom>
          <a:noFill/>
          <a:ln/>
        </p:spPr>
        <p:txBody>
          <a:bodyPr wrap="square" lIns="0" tIns="0" rIns="0" bIns="0" rtlCol="0" anchor="t"/>
          <a:lstStyle/>
          <a:p>
            <a:pPr marL="0" indent="0" algn="ctr">
              <a:buNone/>
            </a:pPr>
            <a:r>
              <a:rPr lang="en-US" sz="1350" b="1" dirty="0">
                <a:solidFill>
                  <a:srgbClr val="1B2B31"/>
                </a:solidFill>
                <a:latin typeface="Calibri" pitchFamily="34" charset="0"/>
                <a:ea typeface="Calibri" pitchFamily="34" charset="-122"/>
                <a:cs typeface="Calibri" pitchFamily="34" charset="-120"/>
              </a:rPr>
              <a:t>Recon head</a:t>
            </a:r>
            <a:endParaRPr lang="en-US" sz="1350" dirty="0"/>
          </a:p>
        </p:txBody>
      </p:sp>
      <p:sp>
        <p:nvSpPr>
          <p:cNvPr id="22" name="Text 20"/>
          <p:cNvSpPr txBox="1"/>
          <p:nvPr/>
        </p:nvSpPr>
        <p:spPr>
          <a:xfrm>
            <a:off x="7936992" y="3657600"/>
            <a:ext cx="1636776" cy="457200"/>
          </a:xfrm>
          <a:prstGeom prst="rect">
            <a:avLst/>
          </a:prstGeom>
          <a:noFill/>
          <a:ln/>
        </p:spPr>
        <p:txBody>
          <a:bodyPr wrap="square" lIns="0" tIns="0" rIns="0" bIns="0" rtlCol="0" anchor="t"/>
          <a:lstStyle/>
          <a:p>
            <a:pPr marL="0" indent="0" algn="ctr">
              <a:buNone/>
            </a:pPr>
            <a:r>
              <a:rPr lang="en-US" sz="1050" dirty="0">
                <a:solidFill>
                  <a:srgbClr val="4F5F65"/>
                </a:solidFill>
                <a:latin typeface="Calibri" pitchFamily="34" charset="0"/>
                <a:ea typeface="Calibri" pitchFamily="34" charset="-122"/>
                <a:cs typeface="Calibri" pitchFamily="34" charset="-120"/>
              </a:rPr>
              <a:t>Linear 128 → L·C</a:t>
            </a:r>
            <a:endParaRPr lang="en-US" sz="1050" dirty="0"/>
          </a:p>
          <a:p>
            <a:pPr marL="0" indent="0" algn="ctr">
              <a:buNone/>
            </a:pPr>
            <a:r>
              <a:rPr lang="en-US" sz="1050" dirty="0">
                <a:solidFill>
                  <a:srgbClr val="4F5F65"/>
                </a:solidFill>
                <a:latin typeface="Calibri" pitchFamily="34" charset="0"/>
                <a:ea typeface="Calibri" pitchFamily="34" charset="-122"/>
                <a:cs typeface="Calibri" pitchFamily="34" charset="-120"/>
              </a:rPr>
              <a:t>(self-supervision)</a:t>
            </a:r>
            <a:endParaRPr lang="en-US" sz="1050" dirty="0"/>
          </a:p>
        </p:txBody>
      </p:sp>
      <p:sp>
        <p:nvSpPr>
          <p:cNvPr id="23" name="Shape 21"/>
          <p:cNvSpPr/>
          <p:nvPr/>
        </p:nvSpPr>
        <p:spPr>
          <a:xfrm>
            <a:off x="2240280" y="4343400"/>
            <a:ext cx="7406640" cy="777240"/>
          </a:xfrm>
          <a:prstGeom prst="roundRect">
            <a:avLst>
              <a:gd name="adj" fmla="val 9412"/>
            </a:avLst>
          </a:prstGeom>
          <a:solidFill>
            <a:srgbClr val="F1F6F5"/>
          </a:solidFill>
          <a:ln w="12700">
            <a:solidFill>
              <a:srgbClr val="F1F6F5"/>
            </a:solidFill>
            <a:prstDash val="solid"/>
          </a:ln>
        </p:spPr>
      </p:sp>
      <p:sp>
        <p:nvSpPr>
          <p:cNvPr id="24" name="Text 22"/>
          <p:cNvSpPr txBox="1"/>
          <p:nvPr/>
        </p:nvSpPr>
        <p:spPr>
          <a:xfrm>
            <a:off x="2240280" y="4434840"/>
            <a:ext cx="7406640" cy="320040"/>
          </a:xfrm>
          <a:prstGeom prst="rect">
            <a:avLst/>
          </a:prstGeom>
          <a:noFill/>
          <a:ln/>
        </p:spPr>
        <p:txBody>
          <a:bodyPr wrap="square" lIns="0" tIns="0" rIns="0" bIns="0" rtlCol="0" anchor="t"/>
          <a:lstStyle/>
          <a:p>
            <a:pPr marL="0" indent="0" algn="ctr">
              <a:buNone/>
            </a:pPr>
            <a:r>
              <a:rPr lang="en-US" sz="1350" b="1" dirty="0">
                <a:solidFill>
                  <a:srgbClr val="1B2B31"/>
                </a:solidFill>
                <a:latin typeface="Calibri" pitchFamily="34" charset="0"/>
                <a:ea typeface="Calibri" pitchFamily="34" charset="-122"/>
                <a:cs typeface="Calibri" pitchFamily="34" charset="-120"/>
              </a:rPr>
              <a:t>Linear temporal path</a:t>
            </a:r>
            <a:endParaRPr lang="en-US" sz="1350" dirty="0"/>
          </a:p>
        </p:txBody>
      </p:sp>
      <p:sp>
        <p:nvSpPr>
          <p:cNvPr id="25" name="Text 23"/>
          <p:cNvSpPr txBox="1"/>
          <p:nvPr/>
        </p:nvSpPr>
        <p:spPr>
          <a:xfrm>
            <a:off x="2313432" y="4754880"/>
            <a:ext cx="7260336" cy="320040"/>
          </a:xfrm>
          <a:prstGeom prst="rect">
            <a:avLst/>
          </a:prstGeom>
          <a:noFill/>
          <a:ln/>
        </p:spPr>
        <p:txBody>
          <a:bodyPr wrap="square" lIns="0" tIns="0" rIns="0" bIns="0" rtlCol="0" anchor="t"/>
          <a:lstStyle/>
          <a:p>
            <a:pPr marL="0" indent="0" algn="ctr">
              <a:buNone/>
            </a:pPr>
            <a:r>
              <a:rPr lang="en-US" sz="1050" dirty="0">
                <a:solidFill>
                  <a:srgbClr val="4F5F65"/>
                </a:solidFill>
                <a:latin typeface="Calibri" pitchFamily="34" charset="0"/>
                <a:ea typeface="Calibri" pitchFamily="34" charset="-122"/>
                <a:cs typeface="Calibri" pitchFamily="34" charset="-120"/>
              </a:rPr>
              <a:t>DLinear-style L → H, shared across channels</a:t>
            </a:r>
            <a:endParaRPr lang="en-US" sz="1050" dirty="0"/>
          </a:p>
        </p:txBody>
      </p:sp>
      <p:sp>
        <p:nvSpPr>
          <p:cNvPr id="26" name="Shape 24"/>
          <p:cNvSpPr/>
          <p:nvPr/>
        </p:nvSpPr>
        <p:spPr>
          <a:xfrm>
            <a:off x="9921240" y="2148840"/>
            <a:ext cx="457200" cy="457200"/>
          </a:xfrm>
          <a:prstGeom prst="ellipse">
            <a:avLst/>
          </a:prstGeom>
          <a:solidFill>
            <a:srgbClr val="FFFFFF"/>
          </a:solidFill>
          <a:ln w="15875">
            <a:solidFill>
              <a:srgbClr val="1B2B31"/>
            </a:solidFill>
            <a:prstDash val="solid"/>
          </a:ln>
        </p:spPr>
      </p:sp>
      <p:sp>
        <p:nvSpPr>
          <p:cNvPr id="27" name="Text 25"/>
          <p:cNvSpPr txBox="1"/>
          <p:nvPr/>
        </p:nvSpPr>
        <p:spPr>
          <a:xfrm>
            <a:off x="9921240" y="2148840"/>
            <a:ext cx="457200" cy="457200"/>
          </a:xfrm>
          <a:prstGeom prst="rect">
            <a:avLst/>
          </a:prstGeom>
          <a:noFill/>
          <a:ln/>
        </p:spPr>
        <p:txBody>
          <a:bodyPr wrap="square" lIns="0" tIns="0" rIns="0" bIns="0" rtlCol="0" anchor="ctr"/>
          <a:lstStyle/>
          <a:p>
            <a:pPr marL="0" indent="0" algn="ctr">
              <a:buNone/>
            </a:pPr>
            <a:r>
              <a:rPr lang="en-US" sz="2000" b="1" dirty="0">
                <a:solidFill>
                  <a:srgbClr val="1B2B31"/>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10561320" y="1920240"/>
            <a:ext cx="1078992" cy="914400"/>
          </a:xfrm>
          <a:prstGeom prst="roundRect">
            <a:avLst>
              <a:gd name="adj" fmla="val 8000"/>
            </a:avLst>
          </a:prstGeom>
          <a:solidFill>
            <a:srgbClr val="E6F0EE"/>
          </a:solidFill>
          <a:ln w="12700">
            <a:solidFill>
              <a:srgbClr val="E6F0EE"/>
            </a:solidFill>
            <a:prstDash val="solid"/>
          </a:ln>
        </p:spPr>
      </p:sp>
      <p:sp>
        <p:nvSpPr>
          <p:cNvPr id="29" name="Text 27"/>
          <p:cNvSpPr txBox="1"/>
          <p:nvPr/>
        </p:nvSpPr>
        <p:spPr>
          <a:xfrm>
            <a:off x="10561320" y="2011680"/>
            <a:ext cx="1078992" cy="320040"/>
          </a:xfrm>
          <a:prstGeom prst="rect">
            <a:avLst/>
          </a:prstGeom>
          <a:noFill/>
          <a:ln/>
        </p:spPr>
        <p:txBody>
          <a:bodyPr wrap="square" lIns="0" tIns="0" rIns="0" bIns="0" rtlCol="0" anchor="t"/>
          <a:lstStyle/>
          <a:p>
            <a:pPr marL="0" indent="0" algn="ctr">
              <a:buNone/>
            </a:pPr>
            <a:r>
              <a:rPr lang="en-US" sz="1350" b="1" dirty="0">
                <a:solidFill>
                  <a:srgbClr val="1B2B31"/>
                </a:solidFill>
                <a:latin typeface="Calibri" pitchFamily="34" charset="0"/>
                <a:ea typeface="Calibri" pitchFamily="34" charset="-122"/>
                <a:cs typeface="Calibri" pitchFamily="34" charset="-120"/>
              </a:rPr>
              <a:t>ŷ</a:t>
            </a:r>
            <a:endParaRPr lang="en-US" sz="1350" dirty="0"/>
          </a:p>
        </p:txBody>
      </p:sp>
      <p:sp>
        <p:nvSpPr>
          <p:cNvPr id="30" name="Text 28"/>
          <p:cNvSpPr txBox="1"/>
          <p:nvPr/>
        </p:nvSpPr>
        <p:spPr>
          <a:xfrm>
            <a:off x="10634472" y="2331720"/>
            <a:ext cx="932688" cy="457200"/>
          </a:xfrm>
          <a:prstGeom prst="rect">
            <a:avLst/>
          </a:prstGeom>
          <a:noFill/>
          <a:ln/>
        </p:spPr>
        <p:txBody>
          <a:bodyPr wrap="square" lIns="0" tIns="0" rIns="0" bIns="0" rtlCol="0" anchor="t"/>
          <a:lstStyle/>
          <a:p>
            <a:pPr marL="0" indent="0" algn="ctr">
              <a:buNone/>
            </a:pPr>
            <a:r>
              <a:rPr lang="en-US" sz="1050" dirty="0">
                <a:solidFill>
                  <a:srgbClr val="4F5F65"/>
                </a:solidFill>
                <a:latin typeface="Calibri" pitchFamily="34" charset="0"/>
                <a:ea typeface="Calibri" pitchFamily="34" charset="-122"/>
                <a:cs typeface="Calibri" pitchFamily="34" charset="-120"/>
              </a:rPr>
              <a:t>RevIN⁻¹</a:t>
            </a:r>
            <a:endParaRPr lang="en-US" sz="1050" dirty="0"/>
          </a:p>
          <a:p>
            <a:pPr marL="0" indent="0" algn="ctr">
              <a:buNone/>
            </a:pPr>
            <a:r>
              <a:rPr lang="en-US" sz="1050" dirty="0">
                <a:solidFill>
                  <a:srgbClr val="4F5F65"/>
                </a:solidFill>
                <a:latin typeface="Calibri" pitchFamily="34" charset="0"/>
                <a:ea typeface="Calibri" pitchFamily="34" charset="-122"/>
                <a:cs typeface="Calibri" pitchFamily="34" charset="-120"/>
              </a:rPr>
              <a:t>H × C</a:t>
            </a:r>
            <a:endParaRPr lang="en-US" sz="1050" dirty="0"/>
          </a:p>
        </p:txBody>
      </p:sp>
      <p:sp>
        <p:nvSpPr>
          <p:cNvPr id="31" name="Shape 29"/>
          <p:cNvSpPr/>
          <p:nvPr/>
        </p:nvSpPr>
        <p:spPr>
          <a:xfrm>
            <a:off x="1965960" y="2377440"/>
            <a:ext cx="274320" cy="914"/>
          </a:xfrm>
          <a:prstGeom prst="line">
            <a:avLst/>
          </a:prstGeom>
          <a:noFill/>
          <a:ln w="22225">
            <a:solidFill>
              <a:srgbClr val="4F5F65"/>
            </a:solidFill>
            <a:prstDash val="solid"/>
            <a:tailEnd type="triangle"/>
          </a:ln>
        </p:spPr>
      </p:sp>
      <p:sp>
        <p:nvSpPr>
          <p:cNvPr id="32" name="Shape 30"/>
          <p:cNvSpPr/>
          <p:nvPr/>
        </p:nvSpPr>
        <p:spPr>
          <a:xfrm>
            <a:off x="3657600" y="2377440"/>
            <a:ext cx="274320" cy="914"/>
          </a:xfrm>
          <a:prstGeom prst="line">
            <a:avLst/>
          </a:prstGeom>
          <a:noFill/>
          <a:ln w="22225">
            <a:solidFill>
              <a:srgbClr val="4F5F65"/>
            </a:solidFill>
            <a:prstDash val="solid"/>
            <a:tailEnd type="triangle"/>
          </a:ln>
        </p:spPr>
      </p:sp>
      <p:sp>
        <p:nvSpPr>
          <p:cNvPr id="33" name="Shape 31"/>
          <p:cNvSpPr/>
          <p:nvPr/>
        </p:nvSpPr>
        <p:spPr>
          <a:xfrm>
            <a:off x="5806440" y="2377440"/>
            <a:ext cx="274320" cy="914"/>
          </a:xfrm>
          <a:prstGeom prst="line">
            <a:avLst/>
          </a:prstGeom>
          <a:noFill/>
          <a:ln w="22225">
            <a:solidFill>
              <a:srgbClr val="4F5F65"/>
            </a:solidFill>
            <a:prstDash val="solid"/>
            <a:tailEnd type="triangle"/>
          </a:ln>
        </p:spPr>
      </p:sp>
      <p:sp>
        <p:nvSpPr>
          <p:cNvPr id="34" name="Shape 32"/>
          <p:cNvSpPr/>
          <p:nvPr/>
        </p:nvSpPr>
        <p:spPr>
          <a:xfrm>
            <a:off x="7543800" y="2377440"/>
            <a:ext cx="320040" cy="914"/>
          </a:xfrm>
          <a:prstGeom prst="line">
            <a:avLst/>
          </a:prstGeom>
          <a:noFill/>
          <a:ln w="22225">
            <a:solidFill>
              <a:srgbClr val="4F5F65"/>
            </a:solidFill>
            <a:prstDash val="solid"/>
            <a:tailEnd type="triangle"/>
          </a:ln>
        </p:spPr>
      </p:sp>
      <p:sp>
        <p:nvSpPr>
          <p:cNvPr id="35" name="Shape 33"/>
          <p:cNvSpPr/>
          <p:nvPr/>
        </p:nvSpPr>
        <p:spPr>
          <a:xfrm>
            <a:off x="7543800" y="2743200"/>
            <a:ext cx="320040" cy="960120"/>
          </a:xfrm>
          <a:prstGeom prst="line">
            <a:avLst/>
          </a:prstGeom>
          <a:noFill/>
          <a:ln w="22225">
            <a:solidFill>
              <a:srgbClr val="4F5F65"/>
            </a:solidFill>
            <a:prstDash val="solid"/>
            <a:tailEnd type="triangle"/>
          </a:ln>
        </p:spPr>
      </p:sp>
      <p:sp>
        <p:nvSpPr>
          <p:cNvPr id="36" name="Shape 34"/>
          <p:cNvSpPr/>
          <p:nvPr/>
        </p:nvSpPr>
        <p:spPr>
          <a:xfrm>
            <a:off x="9646920" y="2377440"/>
            <a:ext cx="274320" cy="914"/>
          </a:xfrm>
          <a:prstGeom prst="line">
            <a:avLst/>
          </a:prstGeom>
          <a:noFill/>
          <a:ln w="22225">
            <a:solidFill>
              <a:srgbClr val="4F5F65"/>
            </a:solidFill>
            <a:prstDash val="solid"/>
            <a:tailEnd type="triangle"/>
          </a:ln>
        </p:spPr>
      </p:sp>
      <p:sp>
        <p:nvSpPr>
          <p:cNvPr id="37" name="Shape 35"/>
          <p:cNvSpPr/>
          <p:nvPr/>
        </p:nvSpPr>
        <p:spPr>
          <a:xfrm>
            <a:off x="10378440" y="2377440"/>
            <a:ext cx="182880" cy="914"/>
          </a:xfrm>
          <a:prstGeom prst="line">
            <a:avLst/>
          </a:prstGeom>
          <a:noFill/>
          <a:ln w="22225">
            <a:solidFill>
              <a:srgbClr val="4F5F65"/>
            </a:solidFill>
            <a:prstDash val="solid"/>
            <a:tailEnd type="triangle"/>
          </a:ln>
        </p:spPr>
      </p:sp>
      <p:sp>
        <p:nvSpPr>
          <p:cNvPr id="38" name="Shape 36"/>
          <p:cNvSpPr/>
          <p:nvPr/>
        </p:nvSpPr>
        <p:spPr>
          <a:xfrm>
            <a:off x="2944368" y="2926080"/>
            <a:ext cx="914" cy="1417320"/>
          </a:xfrm>
          <a:prstGeom prst="line">
            <a:avLst/>
          </a:prstGeom>
          <a:noFill/>
          <a:ln w="22225">
            <a:solidFill>
              <a:srgbClr val="4F5F65"/>
            </a:solidFill>
            <a:prstDash val="solid"/>
            <a:tailEnd type="triangle"/>
          </a:ln>
        </p:spPr>
      </p:sp>
      <p:sp>
        <p:nvSpPr>
          <p:cNvPr id="39" name="Shape 37"/>
          <p:cNvSpPr/>
          <p:nvPr/>
        </p:nvSpPr>
        <p:spPr>
          <a:xfrm>
            <a:off x="9646920" y="4727448"/>
            <a:ext cx="502920" cy="914"/>
          </a:xfrm>
          <a:prstGeom prst="line">
            <a:avLst/>
          </a:prstGeom>
          <a:noFill/>
          <a:ln w="22225">
            <a:solidFill>
              <a:srgbClr val="4F5F65"/>
            </a:solidFill>
            <a:prstDash val="solid"/>
            <a:tailEnd type="triangle"/>
          </a:ln>
        </p:spPr>
      </p:sp>
      <p:sp>
        <p:nvSpPr>
          <p:cNvPr id="40" name="Shape 38"/>
          <p:cNvSpPr/>
          <p:nvPr/>
        </p:nvSpPr>
        <p:spPr>
          <a:xfrm flipV="1">
            <a:off x="10149840" y="2606040"/>
            <a:ext cx="0" cy="2121408"/>
          </a:xfrm>
          <a:prstGeom prst="line">
            <a:avLst/>
          </a:prstGeom>
          <a:noFill/>
          <a:ln w="22225">
            <a:solidFill>
              <a:srgbClr val="4F5F65"/>
            </a:solidFill>
            <a:prstDash val="solid"/>
            <a:tailEnd type="triangle"/>
          </a:ln>
        </p:spPr>
      </p:sp>
      <p:sp>
        <p:nvSpPr>
          <p:cNvPr id="41" name="Text 39"/>
          <p:cNvSpPr txBox="1"/>
          <p:nvPr/>
        </p:nvSpPr>
        <p:spPr>
          <a:xfrm>
            <a:off x="5669280" y="3017520"/>
            <a:ext cx="1920240" cy="320040"/>
          </a:xfrm>
          <a:prstGeom prst="rect">
            <a:avLst/>
          </a:prstGeom>
          <a:noFill/>
          <a:ln/>
        </p:spPr>
        <p:txBody>
          <a:bodyPr wrap="square" lIns="0" tIns="0" rIns="0" bIns="0" rtlCol="0" anchor="t"/>
          <a:lstStyle/>
          <a:p>
            <a:pPr marL="0" indent="0" algn="r">
              <a:buNone/>
            </a:pPr>
            <a:r>
              <a:rPr lang="en-US" sz="1100" i="1" dirty="0">
                <a:solidFill>
                  <a:srgbClr val="A5650F"/>
                </a:solidFill>
                <a:latin typeface="Calibri" pitchFamily="34" charset="0"/>
                <a:ea typeface="Calibri" pitchFamily="34" charset="-122"/>
                <a:cs typeface="Calibri" pitchFamily="34" charset="-120"/>
              </a:rPr>
              <a:t>↑ z is aligned across domains</a:t>
            </a:r>
            <a:endParaRPr lang="en-US" sz="1100" dirty="0"/>
          </a:p>
        </p:txBody>
      </p:sp>
      <p:sp>
        <p:nvSpPr>
          <p:cNvPr id="42" name="Shape 40"/>
          <p:cNvSpPr/>
          <p:nvPr/>
        </p:nvSpPr>
        <p:spPr>
          <a:xfrm>
            <a:off x="548640" y="5440680"/>
            <a:ext cx="3566160" cy="777240"/>
          </a:xfrm>
          <a:prstGeom prst="roundRect">
            <a:avLst>
              <a:gd name="adj" fmla="val 9412"/>
            </a:avLst>
          </a:prstGeom>
          <a:solidFill>
            <a:srgbClr val="F1F6F5"/>
          </a:solidFill>
          <a:ln w="12700">
            <a:solidFill>
              <a:srgbClr val="F1F6F5"/>
            </a:solidFill>
            <a:prstDash val="solid"/>
          </a:ln>
        </p:spPr>
      </p:sp>
      <p:sp>
        <p:nvSpPr>
          <p:cNvPr id="43" name="Text 41"/>
          <p:cNvSpPr txBox="1"/>
          <p:nvPr/>
        </p:nvSpPr>
        <p:spPr>
          <a:xfrm>
            <a:off x="731520" y="5440680"/>
            <a:ext cx="1554480" cy="777240"/>
          </a:xfrm>
          <a:prstGeom prst="rect">
            <a:avLst/>
          </a:prstGeom>
          <a:noFill/>
          <a:ln/>
        </p:spPr>
        <p:txBody>
          <a:bodyPr wrap="square" lIns="0" tIns="0" rIns="0" bIns="0" rtlCol="0" anchor="ctr"/>
          <a:lstStyle/>
          <a:p>
            <a:pPr marL="0" indent="0">
              <a:buNone/>
            </a:pPr>
            <a:r>
              <a:rPr lang="en-US" sz="2400" b="1" dirty="0">
                <a:solidFill>
                  <a:srgbClr val="2F7F73"/>
                </a:solidFill>
                <a:latin typeface="Cambria" pitchFamily="34" charset="0"/>
                <a:ea typeface="Cambria" pitchFamily="34" charset="-122"/>
                <a:cs typeface="Cambria" pitchFamily="34" charset="-120"/>
              </a:rPr>
              <a:t>381,606</a:t>
            </a:r>
            <a:endParaRPr lang="en-US" sz="2400" dirty="0"/>
          </a:p>
        </p:txBody>
      </p:sp>
      <p:sp>
        <p:nvSpPr>
          <p:cNvPr id="44" name="Text 42"/>
          <p:cNvSpPr txBox="1"/>
          <p:nvPr/>
        </p:nvSpPr>
        <p:spPr>
          <a:xfrm>
            <a:off x="2331720" y="5440680"/>
            <a:ext cx="1691640" cy="777240"/>
          </a:xfrm>
          <a:prstGeom prst="rect">
            <a:avLst/>
          </a:prstGeom>
          <a:noFill/>
          <a:ln/>
        </p:spPr>
        <p:txBody>
          <a:bodyPr wrap="square" lIns="0" tIns="0" rIns="0" bIns="0" rtlCol="0" anchor="ctr"/>
          <a:lstStyle/>
          <a:p>
            <a:pPr marL="0" indent="0">
              <a:buNone/>
            </a:pPr>
            <a:r>
              <a:rPr lang="en-US" sz="1200" dirty="0">
                <a:solidFill>
                  <a:srgbClr val="4F5F65"/>
                </a:solidFill>
                <a:latin typeface="Calibri" pitchFamily="34" charset="0"/>
                <a:ea typeface="Calibri" pitchFamily="34" charset="-122"/>
                <a:cs typeface="Calibri" pitchFamily="34" charset="-120"/>
              </a:rPr>
              <a:t>parameters (L=168, C=7)</a:t>
            </a:r>
            <a:endParaRPr lang="en-US" sz="1200" dirty="0"/>
          </a:p>
        </p:txBody>
      </p:sp>
      <p:sp>
        <p:nvSpPr>
          <p:cNvPr id="45" name="Shape 43"/>
          <p:cNvSpPr/>
          <p:nvPr/>
        </p:nvSpPr>
        <p:spPr>
          <a:xfrm>
            <a:off x="4297680" y="5440680"/>
            <a:ext cx="3566160" cy="777240"/>
          </a:xfrm>
          <a:prstGeom prst="roundRect">
            <a:avLst>
              <a:gd name="adj" fmla="val 9412"/>
            </a:avLst>
          </a:prstGeom>
          <a:solidFill>
            <a:srgbClr val="F1F6F5"/>
          </a:solidFill>
          <a:ln w="12700">
            <a:solidFill>
              <a:srgbClr val="F1F6F5"/>
            </a:solidFill>
            <a:prstDash val="solid"/>
          </a:ln>
        </p:spPr>
      </p:sp>
      <p:sp>
        <p:nvSpPr>
          <p:cNvPr id="46" name="Text 44"/>
          <p:cNvSpPr txBox="1"/>
          <p:nvPr/>
        </p:nvSpPr>
        <p:spPr>
          <a:xfrm>
            <a:off x="4480560" y="5440680"/>
            <a:ext cx="1554480" cy="777240"/>
          </a:xfrm>
          <a:prstGeom prst="rect">
            <a:avLst/>
          </a:prstGeom>
          <a:noFill/>
          <a:ln/>
        </p:spPr>
        <p:txBody>
          <a:bodyPr wrap="square" lIns="0" tIns="0" rIns="0" bIns="0" rtlCol="0" anchor="ctr"/>
          <a:lstStyle/>
          <a:p>
            <a:pPr marL="0" indent="0">
              <a:buNone/>
            </a:pPr>
            <a:r>
              <a:rPr lang="en-US" sz="2400" b="1" dirty="0">
                <a:solidFill>
                  <a:srgbClr val="2F7F73"/>
                </a:solidFill>
                <a:latin typeface="Cambria" pitchFamily="34" charset="0"/>
                <a:ea typeface="Cambria" pitchFamily="34" charset="-122"/>
                <a:cs typeface="Cambria" pitchFamily="34" charset="-120"/>
              </a:rPr>
              <a:t>&lt; 1 min</a:t>
            </a:r>
            <a:endParaRPr lang="en-US" sz="2400" dirty="0"/>
          </a:p>
        </p:txBody>
      </p:sp>
      <p:sp>
        <p:nvSpPr>
          <p:cNvPr id="47" name="Text 45"/>
          <p:cNvSpPr txBox="1"/>
          <p:nvPr/>
        </p:nvSpPr>
        <p:spPr>
          <a:xfrm>
            <a:off x="6080760" y="5440680"/>
            <a:ext cx="1691640" cy="777240"/>
          </a:xfrm>
          <a:prstGeom prst="rect">
            <a:avLst/>
          </a:prstGeom>
          <a:noFill/>
          <a:ln/>
        </p:spPr>
        <p:txBody>
          <a:bodyPr wrap="square" lIns="0" tIns="0" rIns="0" bIns="0" rtlCol="0" anchor="ctr"/>
          <a:lstStyle/>
          <a:p>
            <a:pPr marL="0" indent="0">
              <a:buNone/>
            </a:pPr>
            <a:r>
              <a:rPr lang="en-US" sz="1200" dirty="0">
                <a:solidFill>
                  <a:srgbClr val="4F5F65"/>
                </a:solidFill>
                <a:latin typeface="Calibri" pitchFamily="34" charset="0"/>
                <a:ea typeface="Calibri" pitchFamily="34" charset="-122"/>
                <a:cs typeface="Calibri" pitchFamily="34" charset="-120"/>
              </a:rPr>
              <a:t>per epoch on a laptop CPU</a:t>
            </a:r>
            <a:endParaRPr lang="en-US" sz="1200" dirty="0"/>
          </a:p>
        </p:txBody>
      </p:sp>
      <p:sp>
        <p:nvSpPr>
          <p:cNvPr id="48" name="Shape 46"/>
          <p:cNvSpPr/>
          <p:nvPr/>
        </p:nvSpPr>
        <p:spPr>
          <a:xfrm>
            <a:off x="8046720" y="5440680"/>
            <a:ext cx="3566160" cy="777240"/>
          </a:xfrm>
          <a:prstGeom prst="roundRect">
            <a:avLst>
              <a:gd name="adj" fmla="val 9412"/>
            </a:avLst>
          </a:prstGeom>
          <a:solidFill>
            <a:srgbClr val="F1F6F5"/>
          </a:solidFill>
          <a:ln w="12700">
            <a:solidFill>
              <a:srgbClr val="F1F6F5"/>
            </a:solidFill>
            <a:prstDash val="solid"/>
          </a:ln>
        </p:spPr>
      </p:sp>
      <p:sp>
        <p:nvSpPr>
          <p:cNvPr id="49" name="Text 47"/>
          <p:cNvSpPr txBox="1"/>
          <p:nvPr/>
        </p:nvSpPr>
        <p:spPr>
          <a:xfrm>
            <a:off x="8229600" y="5440680"/>
            <a:ext cx="1554480" cy="777240"/>
          </a:xfrm>
          <a:prstGeom prst="rect">
            <a:avLst/>
          </a:prstGeom>
          <a:noFill/>
          <a:ln/>
        </p:spPr>
        <p:txBody>
          <a:bodyPr wrap="square" lIns="0" tIns="0" rIns="0" bIns="0" rtlCol="0" anchor="ctr"/>
          <a:lstStyle/>
          <a:p>
            <a:pPr marL="0" indent="0">
              <a:buNone/>
            </a:pPr>
            <a:r>
              <a:rPr lang="en-US" sz="2400" b="1" dirty="0">
                <a:solidFill>
                  <a:srgbClr val="2F7F73"/>
                </a:solidFill>
                <a:latin typeface="Cambria" pitchFamily="34" charset="0"/>
                <a:ea typeface="Cambria" pitchFamily="34" charset="-122"/>
                <a:cs typeface="Cambria" pitchFamily="34" charset="-120"/>
              </a:rPr>
              <a:t>3</a:t>
            </a:r>
            <a:endParaRPr lang="en-US" sz="2400" dirty="0"/>
          </a:p>
        </p:txBody>
      </p:sp>
      <p:sp>
        <p:nvSpPr>
          <p:cNvPr id="50" name="Text 48"/>
          <p:cNvSpPr txBox="1"/>
          <p:nvPr/>
        </p:nvSpPr>
        <p:spPr>
          <a:xfrm>
            <a:off x="9829800" y="5440680"/>
            <a:ext cx="1691640" cy="777240"/>
          </a:xfrm>
          <a:prstGeom prst="rect">
            <a:avLst/>
          </a:prstGeom>
          <a:noFill/>
          <a:ln/>
        </p:spPr>
        <p:txBody>
          <a:bodyPr wrap="square" lIns="0" tIns="0" rIns="0" bIns="0" rtlCol="0" anchor="ctr"/>
          <a:lstStyle/>
          <a:p>
            <a:pPr marL="0" indent="0">
              <a:buNone/>
            </a:pPr>
            <a:r>
              <a:rPr lang="en-US" sz="1200" dirty="0">
                <a:solidFill>
                  <a:srgbClr val="4F5F65"/>
                </a:solidFill>
                <a:latin typeface="Calibri" pitchFamily="34" charset="0"/>
                <a:ea typeface="Calibri" pitchFamily="34" charset="-122"/>
                <a:cs typeface="Calibri" pitchFamily="34" charset="-120"/>
              </a:rPr>
              <a:t>outputs: forecast, latent, reconstruction</a:t>
            </a:r>
            <a:endParaRPr lang="en-US" sz="1200" dirty="0"/>
          </a:p>
        </p:txBody>
      </p:sp>
      <p:sp>
        <p:nvSpPr>
          <p:cNvPr id="5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05 · ADAPTATION STRATEGY</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CARE-DA: our label-free adaptation strategy</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sp>
        <p:nvSpPr>
          <p:cNvPr id="5" name="Text 3"/>
          <p:cNvSpPr txBox="1"/>
          <p:nvPr/>
        </p:nvSpPr>
        <p:spPr>
          <a:xfrm>
            <a:off x="548640" y="1207008"/>
            <a:ext cx="10972800" cy="320040"/>
          </a:xfrm>
          <a:prstGeom prst="rect">
            <a:avLst/>
          </a:prstGeom>
          <a:noFill/>
          <a:ln/>
        </p:spPr>
        <p:txBody>
          <a:bodyPr wrap="square" lIns="0" tIns="0" rIns="0" bIns="0" rtlCol="0" anchor="t"/>
          <a:lstStyle/>
          <a:p>
            <a:pPr marL="0" indent="0">
              <a:buNone/>
            </a:pPr>
            <a:r>
              <a:rPr lang="en-US" sz="1400" i="1" dirty="0">
                <a:solidFill>
                  <a:srgbClr val="4F5F65"/>
                </a:solidFill>
                <a:latin typeface="Calibri" pitchFamily="34" charset="0"/>
                <a:ea typeface="Calibri" pitchFamily="34" charset="-122"/>
                <a:cs typeface="Calibri" pitchFamily="34" charset="-120"/>
              </a:rPr>
              <a:t>Correlation-Aligned, Reconstruction-regularised, Elastic-anchored Domain Adaptation</a:t>
            </a:r>
            <a:endParaRPr lang="en-US" sz="1400" dirty="0"/>
          </a:p>
        </p:txBody>
      </p:sp>
      <p:sp>
        <p:nvSpPr>
          <p:cNvPr id="6" name="Shape 4"/>
          <p:cNvSpPr/>
          <p:nvPr/>
        </p:nvSpPr>
        <p:spPr>
          <a:xfrm>
            <a:off x="548640" y="2011680"/>
            <a:ext cx="2011680" cy="1005840"/>
          </a:xfrm>
          <a:prstGeom prst="roundRect">
            <a:avLst>
              <a:gd name="adj" fmla="val 9091"/>
            </a:avLst>
          </a:prstGeom>
          <a:solidFill>
            <a:srgbClr val="2F7F73"/>
          </a:solidFill>
          <a:ln w="12700">
            <a:solidFill>
              <a:srgbClr val="2F7F73"/>
            </a:solidFill>
            <a:prstDash val="solid"/>
          </a:ln>
        </p:spPr>
      </p:sp>
      <p:sp>
        <p:nvSpPr>
          <p:cNvPr id="7" name="Text 5"/>
          <p:cNvSpPr txBox="1"/>
          <p:nvPr/>
        </p:nvSpPr>
        <p:spPr>
          <a:xfrm>
            <a:off x="548640" y="2084832"/>
            <a:ext cx="2011680" cy="32004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Source batch</a:t>
            </a:r>
            <a:endParaRPr lang="en-US" sz="1350" dirty="0"/>
          </a:p>
        </p:txBody>
      </p:sp>
      <p:sp>
        <p:nvSpPr>
          <p:cNvPr id="8" name="Text 6"/>
          <p:cNvSpPr txBox="1"/>
          <p:nvPr/>
        </p:nvSpPr>
        <p:spPr>
          <a:xfrm>
            <a:off x="621792" y="2395728"/>
            <a:ext cx="1865376" cy="594360"/>
          </a:xfrm>
          <a:prstGeom prst="rect">
            <a:avLst/>
          </a:prstGeom>
          <a:noFill/>
          <a:ln/>
        </p:spPr>
        <p:txBody>
          <a:bodyPr wrap="square" lIns="0" tIns="0" rIns="0" bIns="0"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(x_s, y_s) labeled</a:t>
            </a:r>
            <a:endParaRPr lang="en-US" sz="1050" dirty="0"/>
          </a:p>
        </p:txBody>
      </p:sp>
      <p:sp>
        <p:nvSpPr>
          <p:cNvPr id="9" name="Shape 7"/>
          <p:cNvSpPr/>
          <p:nvPr/>
        </p:nvSpPr>
        <p:spPr>
          <a:xfrm>
            <a:off x="548640" y="4023360"/>
            <a:ext cx="2011680" cy="1005840"/>
          </a:xfrm>
          <a:prstGeom prst="roundRect">
            <a:avLst>
              <a:gd name="adj" fmla="val 9091"/>
            </a:avLst>
          </a:prstGeom>
          <a:solidFill>
            <a:srgbClr val="D98A1E"/>
          </a:solidFill>
          <a:ln w="12700">
            <a:solidFill>
              <a:srgbClr val="D98A1E"/>
            </a:solidFill>
            <a:prstDash val="solid"/>
          </a:ln>
        </p:spPr>
      </p:sp>
      <p:sp>
        <p:nvSpPr>
          <p:cNvPr id="10" name="Text 8"/>
          <p:cNvSpPr txBox="1"/>
          <p:nvPr/>
        </p:nvSpPr>
        <p:spPr>
          <a:xfrm>
            <a:off x="548640" y="4096512"/>
            <a:ext cx="2011680" cy="320040"/>
          </a:xfrm>
          <a:prstGeom prst="rect">
            <a:avLst/>
          </a:prstGeom>
          <a:noFill/>
          <a:ln/>
        </p:spPr>
        <p:txBody>
          <a:bodyPr wrap="square" lIns="0" tIns="0" rIns="0" bIns="0" rtlCol="0" anchor="t"/>
          <a:lstStyle/>
          <a:p>
            <a:pPr marL="0" indent="0" algn="ctr">
              <a:buNone/>
            </a:pPr>
            <a:r>
              <a:rPr lang="en-US" sz="1350" b="1" dirty="0">
                <a:solidFill>
                  <a:srgbClr val="16232A"/>
                </a:solidFill>
                <a:latin typeface="Calibri" pitchFamily="34" charset="0"/>
                <a:ea typeface="Calibri" pitchFamily="34" charset="-122"/>
                <a:cs typeface="Calibri" pitchFamily="34" charset="-120"/>
              </a:rPr>
              <a:t>Target batch</a:t>
            </a:r>
            <a:endParaRPr lang="en-US" sz="1350" dirty="0"/>
          </a:p>
        </p:txBody>
      </p:sp>
      <p:sp>
        <p:nvSpPr>
          <p:cNvPr id="11" name="Text 9"/>
          <p:cNvSpPr txBox="1"/>
          <p:nvPr/>
        </p:nvSpPr>
        <p:spPr>
          <a:xfrm>
            <a:off x="621792" y="4407408"/>
            <a:ext cx="1865376" cy="594360"/>
          </a:xfrm>
          <a:prstGeom prst="rect">
            <a:avLst/>
          </a:prstGeom>
          <a:noFill/>
          <a:ln/>
        </p:spPr>
        <p:txBody>
          <a:bodyPr wrap="square" lIns="0" tIns="0" rIns="0" bIns="0" rtlCol="0" anchor="t"/>
          <a:lstStyle/>
          <a:p>
            <a:pPr marL="0" indent="0" algn="ctr">
              <a:buNone/>
            </a:pPr>
            <a:r>
              <a:rPr lang="en-US" sz="1050" dirty="0">
                <a:solidFill>
                  <a:srgbClr val="16232A"/>
                </a:solidFill>
                <a:latin typeface="Calibri" pitchFamily="34" charset="0"/>
                <a:ea typeface="Calibri" pitchFamily="34" charset="-122"/>
                <a:cs typeface="Calibri" pitchFamily="34" charset="-120"/>
              </a:rPr>
              <a:t>x_t only — no labels</a:t>
            </a:r>
            <a:endParaRPr lang="en-US" sz="1050" dirty="0"/>
          </a:p>
        </p:txBody>
      </p:sp>
      <p:sp>
        <p:nvSpPr>
          <p:cNvPr id="12" name="Shape 10"/>
          <p:cNvSpPr/>
          <p:nvPr/>
        </p:nvSpPr>
        <p:spPr>
          <a:xfrm>
            <a:off x="3063240" y="2788920"/>
            <a:ext cx="2103120" cy="1463040"/>
          </a:xfrm>
          <a:prstGeom prst="roundRect">
            <a:avLst>
              <a:gd name="adj" fmla="val 6250"/>
            </a:avLst>
          </a:prstGeom>
          <a:solidFill>
            <a:srgbClr val="16232A"/>
          </a:solidFill>
          <a:ln w="12700">
            <a:solidFill>
              <a:srgbClr val="16232A"/>
            </a:solidFill>
            <a:prstDash val="solid"/>
          </a:ln>
        </p:spPr>
      </p:sp>
      <p:sp>
        <p:nvSpPr>
          <p:cNvPr id="13" name="Text 11"/>
          <p:cNvSpPr txBox="1"/>
          <p:nvPr/>
        </p:nvSpPr>
        <p:spPr>
          <a:xfrm>
            <a:off x="3063240" y="2862072"/>
            <a:ext cx="2103120" cy="32004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Shared LiteTCN</a:t>
            </a:r>
            <a:endParaRPr lang="en-US" sz="1350" dirty="0"/>
          </a:p>
        </p:txBody>
      </p:sp>
      <p:sp>
        <p:nvSpPr>
          <p:cNvPr id="14" name="Text 12"/>
          <p:cNvSpPr txBox="1"/>
          <p:nvPr/>
        </p:nvSpPr>
        <p:spPr>
          <a:xfrm>
            <a:off x="3136392" y="3172968"/>
            <a:ext cx="1956816" cy="1051560"/>
          </a:xfrm>
          <a:prstGeom prst="rect">
            <a:avLst/>
          </a:prstGeom>
          <a:noFill/>
          <a:ln/>
        </p:spPr>
        <p:txBody>
          <a:bodyPr wrap="square" lIns="0" tIns="0" rIns="0" bIns="0"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weights θ, initialised</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from source model θ_S</a:t>
            </a:r>
            <a:endParaRPr lang="en-US" sz="1050" dirty="0"/>
          </a:p>
        </p:txBody>
      </p:sp>
      <p:sp>
        <p:nvSpPr>
          <p:cNvPr id="15" name="Shape 13"/>
          <p:cNvSpPr/>
          <p:nvPr/>
        </p:nvSpPr>
        <p:spPr>
          <a:xfrm>
            <a:off x="2560320" y="2514600"/>
            <a:ext cx="502920" cy="685800"/>
          </a:xfrm>
          <a:prstGeom prst="line">
            <a:avLst/>
          </a:prstGeom>
          <a:noFill/>
          <a:ln w="25400">
            <a:solidFill>
              <a:srgbClr val="2F7F73"/>
            </a:solidFill>
            <a:prstDash val="solid"/>
            <a:tailEnd type="triangle"/>
          </a:ln>
        </p:spPr>
      </p:sp>
      <p:sp>
        <p:nvSpPr>
          <p:cNvPr id="16" name="Shape 14"/>
          <p:cNvSpPr/>
          <p:nvPr/>
        </p:nvSpPr>
        <p:spPr>
          <a:xfrm flipV="1">
            <a:off x="2560320" y="3840480"/>
            <a:ext cx="502920" cy="685800"/>
          </a:xfrm>
          <a:prstGeom prst="line">
            <a:avLst/>
          </a:prstGeom>
          <a:noFill/>
          <a:ln w="25400">
            <a:solidFill>
              <a:srgbClr val="D98A1E"/>
            </a:solidFill>
            <a:prstDash val="solid"/>
            <a:tailEnd type="triangle"/>
          </a:ln>
        </p:spPr>
      </p:sp>
      <p:sp>
        <p:nvSpPr>
          <p:cNvPr id="17" name="Shape 15"/>
          <p:cNvSpPr/>
          <p:nvPr/>
        </p:nvSpPr>
        <p:spPr>
          <a:xfrm flipV="1">
            <a:off x="5166360" y="2167128"/>
            <a:ext cx="548640" cy="1353312"/>
          </a:xfrm>
          <a:prstGeom prst="line">
            <a:avLst/>
          </a:prstGeom>
          <a:noFill/>
          <a:ln w="15875">
            <a:solidFill>
              <a:srgbClr val="7C8B90"/>
            </a:solidFill>
            <a:prstDash val="solid"/>
            <a:tailEnd type="triangle"/>
          </a:ln>
        </p:spPr>
      </p:sp>
      <p:sp>
        <p:nvSpPr>
          <p:cNvPr id="18" name="Shape 16"/>
          <p:cNvSpPr/>
          <p:nvPr/>
        </p:nvSpPr>
        <p:spPr>
          <a:xfrm>
            <a:off x="5715000" y="1783080"/>
            <a:ext cx="3291840" cy="777240"/>
          </a:xfrm>
          <a:prstGeom prst="roundRect">
            <a:avLst>
              <a:gd name="adj" fmla="val 9412"/>
            </a:avLst>
          </a:prstGeom>
          <a:solidFill>
            <a:srgbClr val="FFFFFF"/>
          </a:solidFill>
          <a:ln w="19050">
            <a:solidFill>
              <a:srgbClr val="2F7F73"/>
            </a:solidFill>
            <a:prstDash val="solid"/>
          </a:ln>
        </p:spPr>
      </p:sp>
      <p:sp>
        <p:nvSpPr>
          <p:cNvPr id="19" name="Text 17"/>
          <p:cNvSpPr txBox="1"/>
          <p:nvPr/>
        </p:nvSpPr>
        <p:spPr>
          <a:xfrm>
            <a:off x="5852160" y="1847088"/>
            <a:ext cx="1188720" cy="320040"/>
          </a:xfrm>
          <a:prstGeom prst="rect">
            <a:avLst/>
          </a:prstGeom>
          <a:noFill/>
          <a:ln/>
        </p:spPr>
        <p:txBody>
          <a:bodyPr wrap="square" lIns="0" tIns="0" rIns="0" bIns="0" rtlCol="0" anchor="t"/>
          <a:lstStyle/>
          <a:p>
            <a:pPr marL="0" indent="0">
              <a:buNone/>
            </a:pPr>
            <a:r>
              <a:rPr lang="en-US" sz="1400" b="1" dirty="0">
                <a:solidFill>
                  <a:srgbClr val="2F7F73"/>
                </a:solidFill>
                <a:latin typeface="Consolas" pitchFamily="34" charset="0"/>
                <a:ea typeface="Consolas" pitchFamily="34" charset="-122"/>
                <a:cs typeface="Consolas" pitchFamily="34" charset="-120"/>
              </a:rPr>
              <a:t>L_fcst</a:t>
            </a:r>
            <a:endParaRPr lang="en-US" sz="1400" dirty="0"/>
          </a:p>
        </p:txBody>
      </p:sp>
      <p:sp>
        <p:nvSpPr>
          <p:cNvPr id="20" name="Text 18"/>
          <p:cNvSpPr txBox="1"/>
          <p:nvPr/>
        </p:nvSpPr>
        <p:spPr>
          <a:xfrm>
            <a:off x="7040880" y="1865376"/>
            <a:ext cx="1920240" cy="320040"/>
          </a:xfrm>
          <a:prstGeom prst="rect">
            <a:avLst/>
          </a:prstGeom>
          <a:noFill/>
          <a:ln/>
        </p:spPr>
        <p:txBody>
          <a:bodyPr wrap="square" lIns="0" tIns="0" rIns="0" bIns="0" rtlCol="0" anchor="t"/>
          <a:lstStyle/>
          <a:p>
            <a:pPr marL="0" indent="0">
              <a:buNone/>
            </a:pPr>
            <a:r>
              <a:rPr lang="en-US" sz="1100" dirty="0">
                <a:solidFill>
                  <a:srgbClr val="1B2B31"/>
                </a:solidFill>
                <a:latin typeface="Calibri" pitchFamily="34" charset="0"/>
                <a:ea typeface="Calibri" pitchFamily="34" charset="-122"/>
                <a:cs typeface="Calibri" pitchFamily="34" charset="-120"/>
              </a:rPr>
              <a:t>MSE(ŷ_s, y_s)</a:t>
            </a:r>
            <a:endParaRPr lang="en-US" sz="1100" dirty="0"/>
          </a:p>
        </p:txBody>
      </p:sp>
      <p:sp>
        <p:nvSpPr>
          <p:cNvPr id="21" name="Text 19"/>
          <p:cNvSpPr txBox="1"/>
          <p:nvPr/>
        </p:nvSpPr>
        <p:spPr>
          <a:xfrm>
            <a:off x="5852160" y="2194560"/>
            <a:ext cx="3108960" cy="274320"/>
          </a:xfrm>
          <a:prstGeom prst="rect">
            <a:avLst/>
          </a:prstGeom>
          <a:noFill/>
          <a:ln/>
        </p:spPr>
        <p:txBody>
          <a:bodyPr wrap="square" lIns="0" tIns="0" rIns="0" bIns="0" rtlCol="0" anchor="t"/>
          <a:lstStyle/>
          <a:p>
            <a:pPr marL="0" indent="0">
              <a:buNone/>
            </a:pPr>
            <a:r>
              <a:rPr lang="en-US" sz="1050" i="1" dirty="0">
                <a:solidFill>
                  <a:srgbClr val="4F5F65"/>
                </a:solidFill>
                <a:latin typeface="Calibri" pitchFamily="34" charset="0"/>
                <a:ea typeface="Calibri" pitchFamily="34" charset="-122"/>
                <a:cs typeface="Calibri" pitchFamily="34" charset="-120"/>
              </a:rPr>
              <a:t>keeps source skill</a:t>
            </a:r>
            <a:endParaRPr lang="en-US" sz="1050" dirty="0"/>
          </a:p>
        </p:txBody>
      </p:sp>
      <p:sp>
        <p:nvSpPr>
          <p:cNvPr id="22" name="Shape 20"/>
          <p:cNvSpPr/>
          <p:nvPr/>
        </p:nvSpPr>
        <p:spPr>
          <a:xfrm flipV="1">
            <a:off x="5166360" y="3172968"/>
            <a:ext cx="548640" cy="347472"/>
          </a:xfrm>
          <a:prstGeom prst="line">
            <a:avLst/>
          </a:prstGeom>
          <a:noFill/>
          <a:ln w="15875">
            <a:solidFill>
              <a:srgbClr val="7C8B90"/>
            </a:solidFill>
            <a:prstDash val="solid"/>
            <a:tailEnd type="triangle"/>
          </a:ln>
        </p:spPr>
      </p:sp>
      <p:sp>
        <p:nvSpPr>
          <p:cNvPr id="23" name="Shape 21"/>
          <p:cNvSpPr/>
          <p:nvPr/>
        </p:nvSpPr>
        <p:spPr>
          <a:xfrm>
            <a:off x="5715000" y="2788920"/>
            <a:ext cx="3291840" cy="777240"/>
          </a:xfrm>
          <a:prstGeom prst="roundRect">
            <a:avLst>
              <a:gd name="adj" fmla="val 9412"/>
            </a:avLst>
          </a:prstGeom>
          <a:solidFill>
            <a:srgbClr val="FFFFFF"/>
          </a:solidFill>
          <a:ln w="19050">
            <a:solidFill>
              <a:srgbClr val="D98A1E"/>
            </a:solidFill>
            <a:prstDash val="solid"/>
          </a:ln>
        </p:spPr>
      </p:sp>
      <p:sp>
        <p:nvSpPr>
          <p:cNvPr id="24" name="Text 22"/>
          <p:cNvSpPr txBox="1"/>
          <p:nvPr/>
        </p:nvSpPr>
        <p:spPr>
          <a:xfrm>
            <a:off x="5852160" y="2852928"/>
            <a:ext cx="1188720" cy="320040"/>
          </a:xfrm>
          <a:prstGeom prst="rect">
            <a:avLst/>
          </a:prstGeom>
          <a:noFill/>
          <a:ln/>
        </p:spPr>
        <p:txBody>
          <a:bodyPr wrap="square" lIns="0" tIns="0" rIns="0" bIns="0" rtlCol="0" anchor="t"/>
          <a:lstStyle/>
          <a:p>
            <a:pPr marL="0" indent="0">
              <a:buNone/>
            </a:pPr>
            <a:r>
              <a:rPr lang="en-US" sz="1400" b="1" dirty="0">
                <a:solidFill>
                  <a:srgbClr val="A5650F"/>
                </a:solidFill>
                <a:latin typeface="Consolas" pitchFamily="34" charset="0"/>
                <a:ea typeface="Consolas" pitchFamily="34" charset="-122"/>
                <a:cs typeface="Consolas" pitchFamily="34" charset="-120"/>
              </a:rPr>
              <a:t>L_align</a:t>
            </a:r>
            <a:endParaRPr lang="en-US" sz="1400" dirty="0"/>
          </a:p>
        </p:txBody>
      </p:sp>
      <p:sp>
        <p:nvSpPr>
          <p:cNvPr id="25" name="Text 23"/>
          <p:cNvSpPr txBox="1"/>
          <p:nvPr/>
        </p:nvSpPr>
        <p:spPr>
          <a:xfrm>
            <a:off x="7040880" y="2871216"/>
            <a:ext cx="1920240" cy="320040"/>
          </a:xfrm>
          <a:prstGeom prst="rect">
            <a:avLst/>
          </a:prstGeom>
          <a:noFill/>
          <a:ln/>
        </p:spPr>
        <p:txBody>
          <a:bodyPr wrap="square" lIns="0" tIns="0" rIns="0" bIns="0" rtlCol="0" anchor="t"/>
          <a:lstStyle/>
          <a:p>
            <a:pPr marL="0" indent="0">
              <a:buNone/>
            </a:pPr>
            <a:r>
              <a:rPr lang="en-US" sz="1100" dirty="0">
                <a:solidFill>
                  <a:srgbClr val="1B2B31"/>
                </a:solidFill>
                <a:latin typeface="Calibri" pitchFamily="34" charset="0"/>
                <a:ea typeface="Calibri" pitchFamily="34" charset="-122"/>
                <a:cs typeface="Calibri" pitchFamily="34" charset="-120"/>
              </a:rPr>
              <a:t>MMD² + CORAL on (z_s, z_t)</a:t>
            </a:r>
            <a:endParaRPr lang="en-US" sz="1100" dirty="0"/>
          </a:p>
        </p:txBody>
      </p:sp>
      <p:sp>
        <p:nvSpPr>
          <p:cNvPr id="26" name="Text 24"/>
          <p:cNvSpPr txBox="1"/>
          <p:nvPr/>
        </p:nvSpPr>
        <p:spPr>
          <a:xfrm>
            <a:off x="5852160" y="3200400"/>
            <a:ext cx="3108960" cy="274320"/>
          </a:xfrm>
          <a:prstGeom prst="rect">
            <a:avLst/>
          </a:prstGeom>
          <a:noFill/>
          <a:ln/>
        </p:spPr>
        <p:txBody>
          <a:bodyPr wrap="square" lIns="0" tIns="0" rIns="0" bIns="0" rtlCol="0" anchor="t"/>
          <a:lstStyle/>
          <a:p>
            <a:pPr marL="0" indent="0">
              <a:buNone/>
            </a:pPr>
            <a:r>
              <a:rPr lang="en-US" sz="1050" i="1" dirty="0">
                <a:solidFill>
                  <a:srgbClr val="4F5F65"/>
                </a:solidFill>
                <a:latin typeface="Calibri" pitchFamily="34" charset="0"/>
                <a:ea typeface="Calibri" pitchFamily="34" charset="-122"/>
                <a:cs typeface="Calibri" pitchFamily="34" charset="-120"/>
              </a:rPr>
              <a:t>closes domain gap</a:t>
            </a:r>
            <a:endParaRPr lang="en-US" sz="1050" dirty="0"/>
          </a:p>
        </p:txBody>
      </p:sp>
      <p:sp>
        <p:nvSpPr>
          <p:cNvPr id="27" name="Shape 25"/>
          <p:cNvSpPr/>
          <p:nvPr/>
        </p:nvSpPr>
        <p:spPr>
          <a:xfrm>
            <a:off x="5166360" y="3520440"/>
            <a:ext cx="548640" cy="658368"/>
          </a:xfrm>
          <a:prstGeom prst="line">
            <a:avLst/>
          </a:prstGeom>
          <a:noFill/>
          <a:ln w="15875">
            <a:solidFill>
              <a:srgbClr val="7C8B90"/>
            </a:solidFill>
            <a:prstDash val="solid"/>
            <a:tailEnd type="triangle"/>
          </a:ln>
        </p:spPr>
      </p:sp>
      <p:sp>
        <p:nvSpPr>
          <p:cNvPr id="28" name="Shape 26"/>
          <p:cNvSpPr/>
          <p:nvPr/>
        </p:nvSpPr>
        <p:spPr>
          <a:xfrm>
            <a:off x="5715000" y="3794760"/>
            <a:ext cx="3291840" cy="777240"/>
          </a:xfrm>
          <a:prstGeom prst="roundRect">
            <a:avLst>
              <a:gd name="adj" fmla="val 9412"/>
            </a:avLst>
          </a:prstGeom>
          <a:solidFill>
            <a:srgbClr val="FFFFFF"/>
          </a:solidFill>
          <a:ln w="19050">
            <a:solidFill>
              <a:srgbClr val="D98A1E"/>
            </a:solidFill>
            <a:prstDash val="solid"/>
          </a:ln>
        </p:spPr>
      </p:sp>
      <p:sp>
        <p:nvSpPr>
          <p:cNvPr id="29" name="Text 27"/>
          <p:cNvSpPr txBox="1"/>
          <p:nvPr/>
        </p:nvSpPr>
        <p:spPr>
          <a:xfrm>
            <a:off x="5852160" y="3858768"/>
            <a:ext cx="1188720" cy="320040"/>
          </a:xfrm>
          <a:prstGeom prst="rect">
            <a:avLst/>
          </a:prstGeom>
          <a:noFill/>
          <a:ln/>
        </p:spPr>
        <p:txBody>
          <a:bodyPr wrap="square" lIns="0" tIns="0" rIns="0" bIns="0" rtlCol="0" anchor="t"/>
          <a:lstStyle/>
          <a:p>
            <a:pPr marL="0" indent="0">
              <a:buNone/>
            </a:pPr>
            <a:r>
              <a:rPr lang="en-US" sz="1400" b="1" dirty="0">
                <a:solidFill>
                  <a:srgbClr val="A5650F"/>
                </a:solidFill>
                <a:latin typeface="Consolas" pitchFamily="34" charset="0"/>
                <a:ea typeface="Consolas" pitchFamily="34" charset="-122"/>
                <a:cs typeface="Consolas" pitchFamily="34" charset="-120"/>
              </a:rPr>
              <a:t>L_SSL / L_inner</a:t>
            </a:r>
            <a:endParaRPr lang="en-US" sz="1400" dirty="0"/>
          </a:p>
        </p:txBody>
      </p:sp>
      <p:sp>
        <p:nvSpPr>
          <p:cNvPr id="30" name="Text 28"/>
          <p:cNvSpPr txBox="1"/>
          <p:nvPr/>
        </p:nvSpPr>
        <p:spPr>
          <a:xfrm>
            <a:off x="7040880" y="3877056"/>
            <a:ext cx="1920240" cy="320040"/>
          </a:xfrm>
          <a:prstGeom prst="rect">
            <a:avLst/>
          </a:prstGeom>
          <a:noFill/>
          <a:ln/>
        </p:spPr>
        <p:txBody>
          <a:bodyPr wrap="square" lIns="0" tIns="0" rIns="0" bIns="0" rtlCol="0" anchor="t"/>
          <a:lstStyle/>
          <a:p>
            <a:pPr marL="0" indent="0">
              <a:buNone/>
            </a:pPr>
            <a:r>
              <a:rPr lang="en-US" sz="1100" dirty="0">
                <a:solidFill>
                  <a:srgbClr val="1B2B31"/>
                </a:solidFill>
                <a:latin typeface="Calibri" pitchFamily="34" charset="0"/>
                <a:ea typeface="Calibri" pitchFamily="34" charset="-122"/>
                <a:cs typeface="Calibri" pitchFamily="34" charset="-120"/>
              </a:rPr>
              <a:t>v1 mask-recon · v2 inner-forecast</a:t>
            </a:r>
            <a:endParaRPr lang="en-US" sz="1100" dirty="0"/>
          </a:p>
        </p:txBody>
      </p:sp>
      <p:sp>
        <p:nvSpPr>
          <p:cNvPr id="31" name="Text 29"/>
          <p:cNvSpPr txBox="1"/>
          <p:nvPr/>
        </p:nvSpPr>
        <p:spPr>
          <a:xfrm>
            <a:off x="5852160" y="4271557"/>
            <a:ext cx="3108960" cy="274320"/>
          </a:xfrm>
          <a:prstGeom prst="rect">
            <a:avLst/>
          </a:prstGeom>
          <a:noFill/>
          <a:ln/>
        </p:spPr>
        <p:txBody>
          <a:bodyPr wrap="square" lIns="0" tIns="0" rIns="0" bIns="0" rtlCol="0" anchor="t"/>
          <a:lstStyle/>
          <a:p>
            <a:pPr marL="0" indent="0">
              <a:buNone/>
            </a:pPr>
            <a:r>
              <a:rPr lang="en-US" sz="1050" i="1" dirty="0">
                <a:solidFill>
                  <a:srgbClr val="4F5F65"/>
                </a:solidFill>
                <a:latin typeface="Calibri" pitchFamily="34" charset="0"/>
                <a:ea typeface="Calibri" pitchFamily="34" charset="-122"/>
                <a:cs typeface="Calibri" pitchFamily="34" charset="-120"/>
              </a:rPr>
              <a:t>forecast-consistent pretext</a:t>
            </a:r>
            <a:endParaRPr lang="en-US" sz="1050" dirty="0"/>
          </a:p>
        </p:txBody>
      </p:sp>
      <p:sp>
        <p:nvSpPr>
          <p:cNvPr id="32" name="Shape 30"/>
          <p:cNvSpPr/>
          <p:nvPr/>
        </p:nvSpPr>
        <p:spPr>
          <a:xfrm>
            <a:off x="5166360" y="3520440"/>
            <a:ext cx="548640" cy="1664208"/>
          </a:xfrm>
          <a:prstGeom prst="line">
            <a:avLst/>
          </a:prstGeom>
          <a:noFill/>
          <a:ln w="15875">
            <a:solidFill>
              <a:srgbClr val="7C8B90"/>
            </a:solidFill>
            <a:prstDash val="solid"/>
            <a:tailEnd type="triangle"/>
          </a:ln>
        </p:spPr>
      </p:sp>
      <p:sp>
        <p:nvSpPr>
          <p:cNvPr id="33" name="Shape 31"/>
          <p:cNvSpPr/>
          <p:nvPr/>
        </p:nvSpPr>
        <p:spPr>
          <a:xfrm>
            <a:off x="5715000" y="4800600"/>
            <a:ext cx="3291840" cy="777240"/>
          </a:xfrm>
          <a:prstGeom prst="roundRect">
            <a:avLst>
              <a:gd name="adj" fmla="val 9412"/>
            </a:avLst>
          </a:prstGeom>
          <a:solidFill>
            <a:srgbClr val="FFFFFF"/>
          </a:solidFill>
          <a:ln w="19050">
            <a:solidFill>
              <a:srgbClr val="B5473A"/>
            </a:solidFill>
            <a:prstDash val="solid"/>
          </a:ln>
        </p:spPr>
      </p:sp>
      <p:sp>
        <p:nvSpPr>
          <p:cNvPr id="34" name="Text 32"/>
          <p:cNvSpPr txBox="1"/>
          <p:nvPr/>
        </p:nvSpPr>
        <p:spPr>
          <a:xfrm>
            <a:off x="5852160" y="4864608"/>
            <a:ext cx="1188720" cy="320040"/>
          </a:xfrm>
          <a:prstGeom prst="rect">
            <a:avLst/>
          </a:prstGeom>
          <a:noFill/>
          <a:ln/>
        </p:spPr>
        <p:txBody>
          <a:bodyPr wrap="square" lIns="0" tIns="0" rIns="0" bIns="0" rtlCol="0" anchor="t"/>
          <a:lstStyle/>
          <a:p>
            <a:pPr marL="0" indent="0">
              <a:buNone/>
            </a:pPr>
            <a:r>
              <a:rPr lang="en-US" sz="1400" b="1" dirty="0">
                <a:solidFill>
                  <a:srgbClr val="B5473A"/>
                </a:solidFill>
                <a:latin typeface="Consolas" pitchFamily="34" charset="0"/>
                <a:ea typeface="Consolas" pitchFamily="34" charset="-122"/>
                <a:cs typeface="Consolas" pitchFamily="34" charset="-120"/>
              </a:rPr>
              <a:t>L_anchor</a:t>
            </a:r>
            <a:endParaRPr lang="en-US" sz="1400" dirty="0"/>
          </a:p>
        </p:txBody>
      </p:sp>
      <p:sp>
        <p:nvSpPr>
          <p:cNvPr id="35" name="Text 33"/>
          <p:cNvSpPr txBox="1"/>
          <p:nvPr/>
        </p:nvSpPr>
        <p:spPr>
          <a:xfrm>
            <a:off x="7040880" y="4882896"/>
            <a:ext cx="1920240" cy="320040"/>
          </a:xfrm>
          <a:prstGeom prst="rect">
            <a:avLst/>
          </a:prstGeom>
          <a:noFill/>
          <a:ln/>
        </p:spPr>
        <p:txBody>
          <a:bodyPr wrap="square" lIns="0" tIns="0" rIns="0" bIns="0" rtlCol="0" anchor="t"/>
          <a:lstStyle/>
          <a:p>
            <a:pPr marL="0" indent="0">
              <a:buNone/>
            </a:pPr>
            <a:r>
              <a:rPr lang="en-US" sz="1100" dirty="0">
                <a:solidFill>
                  <a:srgbClr val="1B2B31"/>
                </a:solidFill>
                <a:latin typeface="Calibri" pitchFamily="34" charset="0"/>
                <a:ea typeface="Calibri" pitchFamily="34" charset="-122"/>
                <a:cs typeface="Calibri" pitchFamily="34" charset="-120"/>
              </a:rPr>
              <a:t>‖θ − θ_S‖²</a:t>
            </a:r>
            <a:endParaRPr lang="en-US" sz="1100" dirty="0"/>
          </a:p>
        </p:txBody>
      </p:sp>
      <p:sp>
        <p:nvSpPr>
          <p:cNvPr id="36" name="Text 34"/>
          <p:cNvSpPr txBox="1"/>
          <p:nvPr/>
        </p:nvSpPr>
        <p:spPr>
          <a:xfrm>
            <a:off x="5852160" y="5212080"/>
            <a:ext cx="3108960" cy="274320"/>
          </a:xfrm>
          <a:prstGeom prst="rect">
            <a:avLst/>
          </a:prstGeom>
          <a:noFill/>
          <a:ln/>
        </p:spPr>
        <p:txBody>
          <a:bodyPr wrap="square" lIns="0" tIns="0" rIns="0" bIns="0" rtlCol="0" anchor="t"/>
          <a:lstStyle/>
          <a:p>
            <a:pPr marL="0" indent="0">
              <a:buNone/>
            </a:pPr>
            <a:r>
              <a:rPr lang="en-US" sz="1050" i="1" dirty="0">
                <a:solidFill>
                  <a:srgbClr val="4F5F65"/>
                </a:solidFill>
                <a:latin typeface="Calibri" pitchFamily="34" charset="0"/>
                <a:ea typeface="Calibri" pitchFamily="34" charset="-122"/>
                <a:cs typeface="Calibri" pitchFamily="34" charset="-120"/>
              </a:rPr>
              <a:t>no forgetting / collapse</a:t>
            </a:r>
            <a:endParaRPr lang="en-US" sz="1050" dirty="0"/>
          </a:p>
        </p:txBody>
      </p:sp>
      <p:sp>
        <p:nvSpPr>
          <p:cNvPr id="37" name="Shape 35"/>
          <p:cNvSpPr/>
          <p:nvPr/>
        </p:nvSpPr>
        <p:spPr>
          <a:xfrm>
            <a:off x="9281160" y="1783080"/>
            <a:ext cx="2359152" cy="3794760"/>
          </a:xfrm>
          <a:prstGeom prst="roundRect">
            <a:avLst>
              <a:gd name="adj" fmla="val 3101"/>
            </a:avLst>
          </a:prstGeom>
          <a:solidFill>
            <a:srgbClr val="16232A"/>
          </a:solidFill>
          <a:ln w="12700">
            <a:solidFill>
              <a:srgbClr val="16232A"/>
            </a:solidFill>
            <a:prstDash val="solid"/>
          </a:ln>
        </p:spPr>
      </p:sp>
      <p:sp>
        <p:nvSpPr>
          <p:cNvPr id="38" name="Text 36"/>
          <p:cNvSpPr txBox="1"/>
          <p:nvPr/>
        </p:nvSpPr>
        <p:spPr>
          <a:xfrm>
            <a:off x="9464040" y="1938528"/>
            <a:ext cx="2011680" cy="320040"/>
          </a:xfrm>
          <a:prstGeom prst="rect">
            <a:avLst/>
          </a:prstGeom>
          <a:noFill/>
          <a:ln/>
        </p:spPr>
        <p:txBody>
          <a:bodyPr wrap="square" lIns="0" tIns="0" rIns="0" bIns="0" rtlCol="0" anchor="t"/>
          <a:lstStyle/>
          <a:p>
            <a:pPr marL="0" indent="0">
              <a:buNone/>
            </a:pPr>
            <a:r>
              <a:rPr lang="en-US" sz="1300" b="1" dirty="0">
                <a:solidFill>
                  <a:srgbClr val="6FB3A6"/>
                </a:solidFill>
                <a:latin typeface="Calibri" pitchFamily="34" charset="0"/>
                <a:ea typeface="Calibri" pitchFamily="34" charset="-122"/>
                <a:cs typeface="Calibri" pitchFamily="34" charset="-120"/>
              </a:rPr>
              <a:t>One training step</a:t>
            </a:r>
            <a:endParaRPr lang="en-US" sz="1300" dirty="0"/>
          </a:p>
        </p:txBody>
      </p:sp>
      <p:sp>
        <p:nvSpPr>
          <p:cNvPr id="39" name="Text 37"/>
          <p:cNvSpPr txBox="1"/>
          <p:nvPr/>
        </p:nvSpPr>
        <p:spPr>
          <a:xfrm>
            <a:off x="9464040" y="2331720"/>
            <a:ext cx="2057400" cy="310896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E6F0EE"/>
                </a:solidFill>
                <a:latin typeface="Calibri" pitchFamily="34" charset="0"/>
                <a:ea typeface="Calibri" pitchFamily="34" charset="-122"/>
                <a:cs typeface="Calibri" pitchFamily="34" charset="-120"/>
              </a:rPr>
              <a:t>Sample a source and a target batch</a:t>
            </a:r>
            <a:endParaRPr lang="en-US" sz="1150" dirty="0"/>
          </a:p>
          <a:p>
            <a:pPr marL="342900" indent="-342900">
              <a:spcAft>
                <a:spcPts val="500"/>
              </a:spcAft>
              <a:buSzPct val="100000"/>
              <a:buFont typeface="+mj-lt"/>
              <a:buAutoNum type="arabicPeriod"/>
            </a:pPr>
            <a:r>
              <a:rPr lang="en-US" sz="1150" dirty="0">
                <a:solidFill>
                  <a:srgbClr val="E6F0EE"/>
                </a:solidFill>
                <a:latin typeface="Calibri" pitchFamily="34" charset="0"/>
                <a:ea typeface="Calibri" pitchFamily="34" charset="-122"/>
                <a:cs typeface="Calibri" pitchFamily="34" charset="-120"/>
              </a:rPr>
              <a:t>Forward both through the shared model</a:t>
            </a:r>
            <a:endParaRPr lang="en-US" sz="1150" dirty="0"/>
          </a:p>
          <a:p>
            <a:pPr marL="342900" indent="-342900">
              <a:spcAft>
                <a:spcPts val="500"/>
              </a:spcAft>
              <a:buSzPct val="100000"/>
              <a:buFont typeface="+mj-lt"/>
              <a:buAutoNum type="arabicPeriod"/>
            </a:pPr>
            <a:r>
              <a:rPr lang="en-US" sz="1150" dirty="0">
                <a:solidFill>
                  <a:srgbClr val="E6F0EE"/>
                </a:solidFill>
                <a:latin typeface="Calibri" pitchFamily="34" charset="0"/>
                <a:ea typeface="Calibri" pitchFamily="34" charset="-122"/>
                <a:cs typeface="Calibri" pitchFamily="34" charset="-120"/>
              </a:rPr>
              <a:t>Compute the loss terms (v1 or v2)</a:t>
            </a:r>
            <a:endParaRPr lang="en-US" sz="1150" dirty="0"/>
          </a:p>
          <a:p>
            <a:pPr marL="342900" indent="-342900">
              <a:spcAft>
                <a:spcPts val="500"/>
              </a:spcAft>
              <a:buSzPct val="100000"/>
              <a:buFont typeface="+mj-lt"/>
              <a:buAutoNum type="arabicPeriod"/>
            </a:pPr>
            <a:r>
              <a:rPr lang="en-US" sz="1150" dirty="0">
                <a:solidFill>
                  <a:srgbClr val="E6F0EE"/>
                </a:solidFill>
                <a:latin typeface="Calibri" pitchFamily="34" charset="0"/>
                <a:ea typeface="Calibri" pitchFamily="34" charset="-122"/>
                <a:cs typeface="Calibri" pitchFamily="34" charset="-120"/>
              </a:rPr>
              <a:t>One AdamW update of θ</a:t>
            </a:r>
            <a:endParaRPr lang="en-US" sz="1150" dirty="0"/>
          </a:p>
          <a:p>
            <a:pPr marL="342900" indent="-342900">
              <a:spcAft>
                <a:spcPts val="500"/>
              </a:spcAft>
              <a:buSzPct val="100000"/>
              <a:buFont typeface="+mj-lt"/>
              <a:buAutoNum type="arabicPeriod"/>
            </a:pPr>
            <a:r>
              <a:rPr lang="en-US" sz="1150" dirty="0">
                <a:solidFill>
                  <a:srgbClr val="E6F0EE"/>
                </a:solidFill>
                <a:latin typeface="Calibri" pitchFamily="34" charset="0"/>
                <a:ea typeface="Calibri" pitchFamily="34" charset="-122"/>
                <a:cs typeface="Calibri" pitchFamily="34" charset="-120"/>
              </a:rPr>
              <a:t>Log each term, feature MMD and source error per epoch</a:t>
            </a:r>
            <a:endParaRPr lang="en-US" sz="1150" dirty="0"/>
          </a:p>
        </p:txBody>
      </p:sp>
      <p:sp>
        <p:nvSpPr>
          <p:cNvPr id="40" name="Text 38"/>
          <p:cNvSpPr txBox="1"/>
          <p:nvPr/>
        </p:nvSpPr>
        <p:spPr>
          <a:xfrm>
            <a:off x="548640" y="5852160"/>
            <a:ext cx="11064240" cy="365760"/>
          </a:xfrm>
          <a:prstGeom prst="rect">
            <a:avLst/>
          </a:prstGeom>
          <a:noFill/>
          <a:ln/>
        </p:spPr>
        <p:txBody>
          <a:bodyPr wrap="square" lIns="0" tIns="0" rIns="0" bIns="0" rtlCol="0" anchor="t"/>
          <a:lstStyle/>
          <a:p>
            <a:pPr marL="0" indent="0">
              <a:buNone/>
            </a:pPr>
            <a:r>
              <a:rPr lang="en-US" sz="1300" i="1" dirty="0">
                <a:solidFill>
                  <a:srgbClr val="4F5F65"/>
                </a:solidFill>
                <a:latin typeface="Calibri" pitchFamily="34" charset="0"/>
                <a:ea typeface="Calibri" pitchFamily="34" charset="-122"/>
                <a:cs typeface="Calibri" pitchFamily="34" charset="-120"/>
              </a:rPr>
              <a:t>v1 is the designed objective we ran first. Ablations already suggest replacing L_SSL; a seed-0 v2 probe is in progress (second half will lock this).</a:t>
            </a:r>
            <a:endParaRPr lang="en-US" sz="1300" dirty="0"/>
          </a:p>
        </p:txBody>
      </p:sp>
      <p:sp>
        <p:nvSpPr>
          <p:cNvPr id="4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05 · LOSS FUNCTION DESIGN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The adaptation objective, term by term</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sp>
        <p:nvSpPr>
          <p:cNvPr id="5" name="Shape 3"/>
          <p:cNvSpPr/>
          <p:nvPr/>
        </p:nvSpPr>
        <p:spPr>
          <a:xfrm>
            <a:off x="548640" y="1417320"/>
            <a:ext cx="11091672" cy="960120"/>
          </a:xfrm>
          <a:prstGeom prst="roundRect">
            <a:avLst>
              <a:gd name="adj" fmla="val 7619"/>
            </a:avLst>
          </a:prstGeom>
          <a:solidFill>
            <a:srgbClr val="16232A"/>
          </a:solidFill>
          <a:ln w="12700">
            <a:solidFill>
              <a:srgbClr val="16232A"/>
            </a:solidFill>
            <a:prstDash val="solid"/>
          </a:ln>
        </p:spPr>
      </p:sp>
      <p:sp>
        <p:nvSpPr>
          <p:cNvPr id="6" name="Text 4"/>
          <p:cNvSpPr txBox="1"/>
          <p:nvPr/>
        </p:nvSpPr>
        <p:spPr>
          <a:xfrm>
            <a:off x="548640" y="1417320"/>
            <a:ext cx="11091672" cy="960120"/>
          </a:xfrm>
          <a:prstGeom prst="rect">
            <a:avLst/>
          </a:prstGeom>
          <a:noFill/>
          <a:ln/>
        </p:spPr>
        <p:txBody>
          <a:bodyPr wrap="square" lIns="0" tIns="0" rIns="0" bIns="0" rtlCol="0" anchor="ctr"/>
          <a:lstStyle/>
          <a:p>
            <a:pPr marL="0" indent="0" algn="ctr">
              <a:buNone/>
            </a:pPr>
            <a:r>
              <a:rPr lang="en-US" sz="1800" dirty="0">
                <a:solidFill>
                  <a:srgbClr val="FFFFFF"/>
                </a:solidFill>
                <a:latin typeface="Cambria Math" pitchFamily="34" charset="0"/>
                <a:ea typeface="Cambria Math" pitchFamily="34" charset="-122"/>
                <a:cs typeface="Cambria Math" pitchFamily="34" charset="-120"/>
              </a:rPr>
              <a:t>L_CARE  =  L_fcst(S)  +  λ_M · MMD²_k(z_s, z_t)  +  λ_C · CORAL(z_s, z_t)  +  λ_R · L_mask(x_t)  +  λ_A · ‖θ − θ_S‖²</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3218688"/>
        </p:xfrm>
        <a:graphic>
          <a:graphicData uri="http://schemas.openxmlformats.org/drawingml/2006/table">
            <a:tbl>
              <a:tblPr/>
              <a:tblGrid>
                <a:gridCol w="1234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Term</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Definition</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 is needed</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λ</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000000"/>
                          </a:solidFill>
                          <a:latin typeface="Consolas" pitchFamily="34" charset="0"/>
                          <a:ea typeface="Consolas" pitchFamily="34" charset="-122"/>
                          <a:cs typeface="Consolas" pitchFamily="34" charset="-120"/>
                        </a:rPr>
                        <a:t>L_fcst</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(1/HC)‖f_θ(x_s) − y_s‖² on the source batch</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Bound term ε_S; prevents the model from forgetting how to forecast</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000000"/>
                          </a:solidFill>
                          <a:latin typeface="Consolas" pitchFamily="34" charset="0"/>
                          <a:ea typeface="Consolas" pitchFamily="34" charset="-122"/>
                          <a:cs typeface="Consolas" pitchFamily="34" charset="-120"/>
                        </a:rPr>
                        <a:t>MMD²_k</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Multi-kernel RBF MMD between latent batches, bandwidth from median heuristic × {¼ … 4}</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Matches the whole feature distribution (all moments)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000000"/>
                          </a:solidFill>
                          <a:latin typeface="Consolas" pitchFamily="34" charset="0"/>
                          <a:ea typeface="Consolas" pitchFamily="34" charset="-122"/>
                          <a:cs typeface="Consolas" pitchFamily="34" charset="-120"/>
                        </a:rPr>
                        <a:t>CORAL</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‖Cov(z_s) − Cov(z_t)‖²_F / 4d²</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Matches cross-feature correlation, i.e. inter-variable structure</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000000"/>
                          </a:solidFill>
                          <a:latin typeface="Consolas" pitchFamily="34" charset="0"/>
                          <a:ea typeface="Consolas" pitchFamily="34" charset="-122"/>
                          <a:cs typeface="Consolas" pitchFamily="34" charset="-120"/>
                        </a:rPr>
                        <a:t>L_mask</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Mask 30% of target time steps; MSE of reconstructing them from z</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Label-free target signal; stops alignment from collapsing features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000000"/>
                          </a:solidFill>
                          <a:latin typeface="Consolas" pitchFamily="34" charset="0"/>
                          <a:ea typeface="Consolas" pitchFamily="34" charset="-122"/>
                          <a:cs typeface="Consolas" pitchFamily="34" charset="-120"/>
                        </a:rPr>
                        <a:t>Anchor</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L2-SP: squared distance to source weights θ_S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Elastic memory of Domain 1; limits negative transfer</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0.01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250" i="1" dirty="0">
                <a:solidFill>
                  <a:srgbClr val="4F5F65"/>
                </a:solidFill>
                <a:latin typeface="Calibri" pitchFamily="34" charset="0"/>
                <a:ea typeface="Calibri" pitchFamily="34" charset="-122"/>
                <a:cs typeface="Calibri" pitchFamily="34" charset="-120"/>
              </a:rPr>
              <a:t>v1 weights were fixed a priori (fair vs baselines). Ablations say λ_R = 0 is better. Second-half plan: replace L_mask with a forecast-consistent pretext and confirm over 3 seeds.</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06 · METRICS &amp; PROTOCOL</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How we measure, and how the experiments were run</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sp>
        <p:nvSpPr>
          <p:cNvPr id="5" name="Shape 3"/>
          <p:cNvSpPr/>
          <p:nvPr/>
        </p:nvSpPr>
        <p:spPr>
          <a:xfrm>
            <a:off x="548640" y="1371600"/>
            <a:ext cx="5486400" cy="4846320"/>
          </a:xfrm>
          <a:prstGeom prst="roundRect">
            <a:avLst>
              <a:gd name="adj" fmla="val 1509"/>
            </a:avLst>
          </a:prstGeom>
          <a:solidFill>
            <a:srgbClr val="F1F6F5"/>
          </a:solidFill>
          <a:ln w="12700">
            <a:solidFill>
              <a:srgbClr val="F1F6F5"/>
            </a:solidFill>
            <a:prstDash val="solid"/>
          </a:ln>
        </p:spPr>
      </p:sp>
      <p:sp>
        <p:nvSpPr>
          <p:cNvPr id="6" name="Text 4"/>
          <p:cNvSpPr txBox="1"/>
          <p:nvPr/>
        </p:nvSpPr>
        <p:spPr>
          <a:xfrm>
            <a:off x="777240" y="1508760"/>
            <a:ext cx="5029200" cy="320040"/>
          </a:xfrm>
          <a:prstGeom prst="rect">
            <a:avLst/>
          </a:prstGeom>
          <a:noFill/>
          <a:ln/>
        </p:spPr>
        <p:txBody>
          <a:bodyPr wrap="square" lIns="0" tIns="0" rIns="0" bIns="0" rtlCol="0" anchor="t"/>
          <a:lstStyle/>
          <a:p>
            <a:pPr marL="0" indent="0">
              <a:buNone/>
            </a:pPr>
            <a:r>
              <a:rPr lang="en-US" sz="1550" b="1" dirty="0">
                <a:solidFill>
                  <a:srgbClr val="2F7F73"/>
                </a:solidFill>
                <a:latin typeface="Calibri" pitchFamily="34" charset="0"/>
                <a:ea typeface="Calibri" pitchFamily="34" charset="-122"/>
                <a:cs typeface="Calibri" pitchFamily="34" charset="-120"/>
              </a:rPr>
              <a:t>Forecast accuracy (per domain)</a:t>
            </a:r>
            <a:endParaRPr lang="en-US" sz="1550" dirty="0"/>
          </a:p>
        </p:txBody>
      </p:sp>
      <p:sp>
        <p:nvSpPr>
          <p:cNvPr id="7" name="Text 5"/>
          <p:cNvSpPr txBox="1"/>
          <p:nvPr/>
        </p:nvSpPr>
        <p:spPr>
          <a:xfrm>
            <a:off x="777240" y="1901952"/>
            <a:ext cx="5029200" cy="274320"/>
          </a:xfrm>
          <a:prstGeom prst="rect">
            <a:avLst/>
          </a:prstGeom>
          <a:noFill/>
          <a:ln/>
        </p:spPr>
        <p:txBody>
          <a:bodyPr wrap="square" lIns="0" tIns="0" rIns="0" bIns="0" rtlCol="0" anchor="t"/>
          <a:lstStyle/>
          <a:p>
            <a:pPr marL="0" indent="0">
              <a:buNone/>
            </a:pPr>
            <a:r>
              <a:rPr lang="en-US" sz="1350" b="1" dirty="0">
                <a:solidFill>
                  <a:srgbClr val="1B2B31"/>
                </a:solidFill>
                <a:latin typeface="Calibri" pitchFamily="34" charset="0"/>
                <a:ea typeface="Calibri" pitchFamily="34" charset="-122"/>
                <a:cs typeface="Calibri" pitchFamily="34" charset="-120"/>
              </a:rPr>
              <a:t>MSE / MAE</a:t>
            </a:r>
            <a:endParaRPr lang="en-US" sz="1350" dirty="0"/>
          </a:p>
        </p:txBody>
      </p:sp>
      <p:sp>
        <p:nvSpPr>
          <p:cNvPr id="8" name="Text 6"/>
          <p:cNvSpPr txBox="1"/>
          <p:nvPr/>
        </p:nvSpPr>
        <p:spPr>
          <a:xfrm>
            <a:off x="777240" y="2176272"/>
            <a:ext cx="5029200" cy="4572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on z-scored values, averaged over all H steps and C variables</a:t>
            </a:r>
            <a:endParaRPr lang="en-US" sz="1150" dirty="0"/>
          </a:p>
        </p:txBody>
      </p:sp>
      <p:sp>
        <p:nvSpPr>
          <p:cNvPr id="9" name="Text 7"/>
          <p:cNvSpPr txBox="1"/>
          <p:nvPr/>
        </p:nvSpPr>
        <p:spPr>
          <a:xfrm>
            <a:off x="777240" y="2651760"/>
            <a:ext cx="5029200" cy="274320"/>
          </a:xfrm>
          <a:prstGeom prst="rect">
            <a:avLst/>
          </a:prstGeom>
          <a:noFill/>
          <a:ln/>
        </p:spPr>
        <p:txBody>
          <a:bodyPr wrap="square" lIns="0" tIns="0" rIns="0" bIns="0" rtlCol="0" anchor="t"/>
          <a:lstStyle/>
          <a:p>
            <a:pPr marL="0" indent="0">
              <a:buNone/>
            </a:pPr>
            <a:r>
              <a:rPr lang="en-US" sz="1350" b="1" dirty="0">
                <a:solidFill>
                  <a:srgbClr val="1B2B31"/>
                </a:solidFill>
                <a:latin typeface="Calibri" pitchFamily="34" charset="0"/>
                <a:ea typeface="Calibri" pitchFamily="34" charset="-122"/>
                <a:cs typeface="Calibri" pitchFamily="34" charset="-120"/>
              </a:rPr>
              <a:t>MASE</a:t>
            </a:r>
            <a:endParaRPr lang="en-US" sz="1350" dirty="0"/>
          </a:p>
        </p:txBody>
      </p:sp>
      <p:sp>
        <p:nvSpPr>
          <p:cNvPr id="10" name="Text 8"/>
          <p:cNvSpPr txBox="1"/>
          <p:nvPr/>
        </p:nvSpPr>
        <p:spPr>
          <a:xfrm>
            <a:off x="777240" y="2926080"/>
            <a:ext cx="5029200" cy="4572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MAE ÷ seasonal-naive MAE; below 1 beats the naive forecast, and it is scale-free</a:t>
            </a:r>
            <a:endParaRPr lang="en-US" sz="1150" dirty="0"/>
          </a:p>
        </p:txBody>
      </p:sp>
      <p:sp>
        <p:nvSpPr>
          <p:cNvPr id="11" name="Text 9"/>
          <p:cNvSpPr txBox="1"/>
          <p:nvPr/>
        </p:nvSpPr>
        <p:spPr>
          <a:xfrm>
            <a:off x="777240" y="3401568"/>
            <a:ext cx="5029200" cy="274320"/>
          </a:xfrm>
          <a:prstGeom prst="rect">
            <a:avLst/>
          </a:prstGeom>
          <a:noFill/>
          <a:ln/>
        </p:spPr>
        <p:txBody>
          <a:bodyPr wrap="square" lIns="0" tIns="0" rIns="0" bIns="0" rtlCol="0" anchor="t"/>
          <a:lstStyle/>
          <a:p>
            <a:pPr marL="0" indent="0">
              <a:buNone/>
            </a:pPr>
            <a:r>
              <a:rPr lang="en-US" sz="1350" b="1" dirty="0">
                <a:solidFill>
                  <a:srgbClr val="1B2B31"/>
                </a:solidFill>
                <a:latin typeface="Calibri" pitchFamily="34" charset="0"/>
                <a:ea typeface="Calibri" pitchFamily="34" charset="-122"/>
                <a:cs typeface="Calibri" pitchFamily="34" charset="-120"/>
              </a:rPr>
              <a:t>Key-variable RMSE</a:t>
            </a:r>
            <a:endParaRPr lang="en-US" sz="1350" dirty="0"/>
          </a:p>
        </p:txBody>
      </p:sp>
      <p:sp>
        <p:nvSpPr>
          <p:cNvPr id="12" name="Text 10"/>
          <p:cNvSpPr txBox="1"/>
          <p:nvPr/>
        </p:nvSpPr>
        <p:spPr>
          <a:xfrm>
            <a:off x="777240" y="3675888"/>
            <a:ext cx="5029200" cy="4572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in physical units (°C temperature, % daily range, °C oil temperature)</a:t>
            </a:r>
            <a:endParaRPr lang="en-US" sz="1150" dirty="0"/>
          </a:p>
        </p:txBody>
      </p:sp>
      <p:sp>
        <p:nvSpPr>
          <p:cNvPr id="13" name="Text 11"/>
          <p:cNvSpPr txBox="1"/>
          <p:nvPr/>
        </p:nvSpPr>
        <p:spPr>
          <a:xfrm>
            <a:off x="777240" y="4206240"/>
            <a:ext cx="5029200" cy="320040"/>
          </a:xfrm>
          <a:prstGeom prst="rect">
            <a:avLst/>
          </a:prstGeom>
          <a:noFill/>
          <a:ln/>
        </p:spPr>
        <p:txBody>
          <a:bodyPr wrap="square" lIns="0" tIns="0" rIns="0" bIns="0" rtlCol="0" anchor="t"/>
          <a:lstStyle/>
          <a:p>
            <a:pPr marL="0" indent="0">
              <a:buNone/>
            </a:pPr>
            <a:r>
              <a:rPr lang="en-US" sz="1550" b="1" dirty="0">
                <a:solidFill>
                  <a:srgbClr val="A5650F"/>
                </a:solidFill>
                <a:latin typeface="Calibri" pitchFamily="34" charset="0"/>
                <a:ea typeface="Calibri" pitchFamily="34" charset="-122"/>
                <a:cs typeface="Calibri" pitchFamily="34" charset="-120"/>
              </a:rPr>
              <a:t>Adaptation efficiency (our additions)</a:t>
            </a:r>
            <a:endParaRPr lang="en-US" sz="1550" dirty="0"/>
          </a:p>
        </p:txBody>
      </p:sp>
      <p:sp>
        <p:nvSpPr>
          <p:cNvPr id="14" name="Text 12"/>
          <p:cNvSpPr txBox="1"/>
          <p:nvPr/>
        </p:nvSpPr>
        <p:spPr>
          <a:xfrm>
            <a:off x="777240" y="4572000"/>
            <a:ext cx="5029200" cy="274320"/>
          </a:xfrm>
          <a:prstGeom prst="rect">
            <a:avLst/>
          </a:prstGeom>
          <a:noFill/>
          <a:ln/>
        </p:spPr>
        <p:txBody>
          <a:bodyPr wrap="square" lIns="0" tIns="0" rIns="0" bIns="0" rtlCol="0" anchor="t"/>
          <a:lstStyle/>
          <a:p>
            <a:pPr marL="0" indent="0">
              <a:buNone/>
            </a:pPr>
            <a:r>
              <a:rPr lang="en-US" sz="1200" dirty="0">
                <a:solidFill>
                  <a:srgbClr val="1B2B31"/>
                </a:solidFill>
                <a:latin typeface="Cambria Math" pitchFamily="34" charset="0"/>
                <a:ea typeface="Cambria Math" pitchFamily="34" charset="-122"/>
                <a:cs typeface="Cambria Math" pitchFamily="34" charset="-120"/>
              </a:rPr>
              <a:t>GCR = (E_source-only − E_method) / (E_source-only − E_oracle)</a:t>
            </a:r>
            <a:endParaRPr lang="en-US" sz="1200" dirty="0"/>
          </a:p>
        </p:txBody>
      </p:sp>
      <p:sp>
        <p:nvSpPr>
          <p:cNvPr id="15" name="Text 13"/>
          <p:cNvSpPr txBox="1"/>
          <p:nvPr/>
        </p:nvSpPr>
        <p:spPr>
          <a:xfrm>
            <a:off x="777240" y="4919472"/>
            <a:ext cx="5029200" cy="274320"/>
          </a:xfrm>
          <a:prstGeom prst="rect">
            <a:avLst/>
          </a:prstGeom>
          <a:noFill/>
          <a:ln/>
        </p:spPr>
        <p:txBody>
          <a:bodyPr wrap="square" lIns="0" tIns="0" rIns="0" bIns="0" rtlCol="0" anchor="t"/>
          <a:lstStyle/>
          <a:p>
            <a:pPr marL="0" indent="0">
              <a:buNone/>
            </a:pPr>
            <a:r>
              <a:rPr lang="en-US" sz="1300" b="1" dirty="0">
                <a:solidFill>
                  <a:srgbClr val="1B2B31"/>
                </a:solidFill>
                <a:latin typeface="Calibri" pitchFamily="34" charset="0"/>
                <a:ea typeface="Calibri" pitchFamily="34" charset="-122"/>
                <a:cs typeface="Calibri" pitchFamily="34" charset="-120"/>
              </a:rPr>
              <a:t>Gap-closure ratio</a:t>
            </a:r>
            <a:endParaRPr lang="en-US" sz="1300" dirty="0"/>
          </a:p>
        </p:txBody>
      </p:sp>
      <p:sp>
        <p:nvSpPr>
          <p:cNvPr id="16" name="Text 14"/>
          <p:cNvSpPr txBox="1"/>
          <p:nvPr/>
        </p:nvSpPr>
        <p:spPr>
          <a:xfrm>
            <a:off x="777240" y="5175504"/>
            <a:ext cx="5029200" cy="4572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share of the supervised gap closed with no labels; 1 = oracle, &lt; 0 = negative transfer</a:t>
            </a:r>
            <a:endParaRPr lang="en-US" sz="1150" dirty="0"/>
          </a:p>
        </p:txBody>
      </p:sp>
      <p:sp>
        <p:nvSpPr>
          <p:cNvPr id="17" name="Text 15"/>
          <p:cNvSpPr txBox="1"/>
          <p:nvPr/>
        </p:nvSpPr>
        <p:spPr>
          <a:xfrm>
            <a:off x="777240" y="5577840"/>
            <a:ext cx="5029200" cy="274320"/>
          </a:xfrm>
          <a:prstGeom prst="rect">
            <a:avLst/>
          </a:prstGeom>
          <a:noFill/>
          <a:ln/>
        </p:spPr>
        <p:txBody>
          <a:bodyPr wrap="square" lIns="0" tIns="0" rIns="0" bIns="0" rtlCol="0" anchor="t"/>
          <a:lstStyle/>
          <a:p>
            <a:pPr marL="0" indent="0">
              <a:buNone/>
            </a:pPr>
            <a:r>
              <a:rPr lang="en-US" sz="1300" b="1" dirty="0">
                <a:solidFill>
                  <a:srgbClr val="1B2B31"/>
                </a:solidFill>
                <a:latin typeface="Calibri" pitchFamily="34" charset="0"/>
                <a:ea typeface="Calibri" pitchFamily="34" charset="-122"/>
                <a:cs typeface="Calibri" pitchFamily="34" charset="-120"/>
              </a:rPr>
              <a:t>Feature MMD² / Forgetting %</a:t>
            </a:r>
            <a:endParaRPr lang="en-US" sz="1300" dirty="0"/>
          </a:p>
        </p:txBody>
      </p:sp>
      <p:sp>
        <p:nvSpPr>
          <p:cNvPr id="18" name="Text 16"/>
          <p:cNvSpPr txBox="1"/>
          <p:nvPr/>
        </p:nvSpPr>
        <p:spPr>
          <a:xfrm>
            <a:off x="777240" y="5833872"/>
            <a:ext cx="5029200" cy="45720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did alignment happen, and did Domain 1 accuracy survive?</a:t>
            </a:r>
            <a:endParaRPr lang="en-US" sz="1150" dirty="0"/>
          </a:p>
        </p:txBody>
      </p:sp>
      <p:sp>
        <p:nvSpPr>
          <p:cNvPr id="19" name="Shape 17"/>
          <p:cNvSpPr/>
          <p:nvPr/>
        </p:nvSpPr>
        <p:spPr>
          <a:xfrm>
            <a:off x="6245352" y="1371600"/>
            <a:ext cx="5394960" cy="4846320"/>
          </a:xfrm>
          <a:prstGeom prst="roundRect">
            <a:avLst>
              <a:gd name="adj" fmla="val 1509"/>
            </a:avLst>
          </a:prstGeom>
          <a:solidFill>
            <a:srgbClr val="16232A"/>
          </a:solidFill>
          <a:ln w="12700">
            <a:solidFill>
              <a:srgbClr val="16232A"/>
            </a:solidFill>
            <a:prstDash val="solid"/>
          </a:ln>
        </p:spPr>
      </p:sp>
      <p:sp>
        <p:nvSpPr>
          <p:cNvPr id="20" name="Text 18"/>
          <p:cNvSpPr txBox="1"/>
          <p:nvPr/>
        </p:nvSpPr>
        <p:spPr>
          <a:xfrm>
            <a:off x="6473952" y="1508760"/>
            <a:ext cx="4937760" cy="320040"/>
          </a:xfrm>
          <a:prstGeom prst="rect">
            <a:avLst/>
          </a:prstGeom>
          <a:noFill/>
          <a:ln/>
        </p:spPr>
        <p:txBody>
          <a:bodyPr wrap="square" lIns="0" tIns="0" rIns="0" bIns="0" rtlCol="0" anchor="t"/>
          <a:lstStyle/>
          <a:p>
            <a:pPr marL="0" indent="0">
              <a:buNone/>
            </a:pPr>
            <a:r>
              <a:rPr lang="en-US" sz="1450" b="1" dirty="0">
                <a:solidFill>
                  <a:srgbClr val="6FB3A6"/>
                </a:solidFill>
                <a:latin typeface="Calibri" pitchFamily="34" charset="0"/>
                <a:ea typeface="Calibri" pitchFamily="34" charset="-122"/>
                <a:cs typeface="Calibri" pitchFamily="34" charset="-120"/>
              </a:rPr>
              <a:t>Methods compared — all from the same source checkpoint</a:t>
            </a:r>
            <a:endParaRPr lang="en-US" sz="1450" dirty="0"/>
          </a:p>
        </p:txBody>
      </p:sp>
      <p:sp>
        <p:nvSpPr>
          <p:cNvPr id="21" name="Text 19"/>
          <p:cNvSpPr txBox="1"/>
          <p:nvPr/>
        </p:nvSpPr>
        <p:spPr>
          <a:xfrm>
            <a:off x="6473952" y="1920240"/>
            <a:ext cx="2194560" cy="4114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Seasonal naive</a:t>
            </a:r>
            <a:endParaRPr lang="en-US" sz="1200" dirty="0"/>
          </a:p>
        </p:txBody>
      </p:sp>
      <p:sp>
        <p:nvSpPr>
          <p:cNvPr id="22" name="Text 20"/>
          <p:cNvSpPr txBox="1"/>
          <p:nvPr/>
        </p:nvSpPr>
        <p:spPr>
          <a:xfrm>
            <a:off x="8732520" y="1920240"/>
            <a:ext cx="2697480" cy="41148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repeat the last season (no learning)</a:t>
            </a:r>
            <a:endParaRPr lang="en-US" sz="1100" dirty="0"/>
          </a:p>
        </p:txBody>
      </p:sp>
      <p:sp>
        <p:nvSpPr>
          <p:cNvPr id="23" name="Text 21"/>
          <p:cNvSpPr txBox="1"/>
          <p:nvPr/>
        </p:nvSpPr>
        <p:spPr>
          <a:xfrm>
            <a:off x="6473952" y="2395728"/>
            <a:ext cx="2194560" cy="4114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Source-only</a:t>
            </a:r>
            <a:endParaRPr lang="en-US" sz="1200" dirty="0"/>
          </a:p>
        </p:txBody>
      </p:sp>
      <p:sp>
        <p:nvSpPr>
          <p:cNvPr id="24" name="Text 22"/>
          <p:cNvSpPr txBox="1"/>
          <p:nvPr/>
        </p:nvSpPr>
        <p:spPr>
          <a:xfrm>
            <a:off x="8732520" y="2395728"/>
            <a:ext cx="2697480" cy="41148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Domain 1 model applied as-is (floor)</a:t>
            </a:r>
            <a:endParaRPr lang="en-US" sz="1100" dirty="0"/>
          </a:p>
        </p:txBody>
      </p:sp>
      <p:sp>
        <p:nvSpPr>
          <p:cNvPr id="25" name="Text 23"/>
          <p:cNvSpPr txBox="1"/>
          <p:nvPr/>
        </p:nvSpPr>
        <p:spPr>
          <a:xfrm>
            <a:off x="6473952" y="2871216"/>
            <a:ext cx="2194560" cy="4114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DANN / CORAL / MMD</a:t>
            </a:r>
            <a:endParaRPr lang="en-US" sz="1200" dirty="0"/>
          </a:p>
        </p:txBody>
      </p:sp>
      <p:sp>
        <p:nvSpPr>
          <p:cNvPr id="26" name="Text 24"/>
          <p:cNvSpPr txBox="1"/>
          <p:nvPr/>
        </p:nvSpPr>
        <p:spPr>
          <a:xfrm>
            <a:off x="8732520" y="2871216"/>
            <a:ext cx="2697480" cy="41148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classic single-principle UDA baselines</a:t>
            </a:r>
            <a:endParaRPr lang="en-US" sz="1100" dirty="0"/>
          </a:p>
        </p:txBody>
      </p:sp>
      <p:sp>
        <p:nvSpPr>
          <p:cNvPr id="27" name="Text 25"/>
          <p:cNvSpPr txBox="1"/>
          <p:nvPr/>
        </p:nvSpPr>
        <p:spPr>
          <a:xfrm>
            <a:off x="6473952" y="3346704"/>
            <a:ext cx="2194560" cy="411480"/>
          </a:xfrm>
          <a:prstGeom prst="rect">
            <a:avLst/>
          </a:prstGeom>
          <a:noFill/>
          <a:ln/>
        </p:spPr>
        <p:txBody>
          <a:bodyPr wrap="square" lIns="0" tIns="0" rIns="0" bIns="0" rtlCol="0" anchor="t"/>
          <a:lstStyle/>
          <a:p>
            <a:pPr marL="0" indent="0">
              <a:buNone/>
            </a:pPr>
            <a:r>
              <a:rPr lang="en-US" sz="1200" b="1" dirty="0">
                <a:solidFill>
                  <a:srgbClr val="6FB3A6"/>
                </a:solidFill>
                <a:latin typeface="Calibri" pitchFamily="34" charset="0"/>
                <a:ea typeface="Calibri" pitchFamily="34" charset="-122"/>
                <a:cs typeface="Calibri" pitchFamily="34" charset="-120"/>
              </a:rPr>
              <a:t>CARE-DA v1 + ablations</a:t>
            </a:r>
            <a:endParaRPr lang="en-US" sz="1200" dirty="0"/>
          </a:p>
        </p:txBody>
      </p:sp>
      <p:sp>
        <p:nvSpPr>
          <p:cNvPr id="28" name="Text 26"/>
          <p:cNvSpPr txBox="1"/>
          <p:nvPr/>
        </p:nvSpPr>
        <p:spPr>
          <a:xfrm>
            <a:off x="8732520" y="3346704"/>
            <a:ext cx="2697480" cy="41148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our design, 3 seeds</a:t>
            </a:r>
            <a:endParaRPr lang="en-US" sz="1100" dirty="0"/>
          </a:p>
        </p:txBody>
      </p:sp>
      <p:sp>
        <p:nvSpPr>
          <p:cNvPr id="29" name="Text 27"/>
          <p:cNvSpPr txBox="1"/>
          <p:nvPr/>
        </p:nvSpPr>
        <p:spPr>
          <a:xfrm>
            <a:off x="6473952" y="3822192"/>
            <a:ext cx="2194560" cy="411480"/>
          </a:xfrm>
          <a:prstGeom prst="rect">
            <a:avLst/>
          </a:prstGeom>
          <a:noFill/>
          <a:ln/>
        </p:spPr>
        <p:txBody>
          <a:bodyPr wrap="square" lIns="0" tIns="0" rIns="0" bIns="0" rtlCol="0" anchor="t"/>
          <a:lstStyle/>
          <a:p>
            <a:pPr marL="0" indent="0">
              <a:buNone/>
            </a:pPr>
            <a:r>
              <a:rPr lang="en-US" sz="1200" b="1" dirty="0">
                <a:solidFill>
                  <a:srgbClr val="6FB3A6"/>
                </a:solidFill>
                <a:latin typeface="Calibri" pitchFamily="34" charset="0"/>
                <a:ea typeface="Calibri" pitchFamily="34" charset="-122"/>
                <a:cs typeface="Calibri" pitchFamily="34" charset="-120"/>
              </a:rPr>
              <a:t>CARE-DA v2</a:t>
            </a:r>
            <a:endParaRPr lang="en-US" sz="1200" dirty="0"/>
          </a:p>
        </p:txBody>
      </p:sp>
      <p:sp>
        <p:nvSpPr>
          <p:cNvPr id="30" name="Text 28"/>
          <p:cNvSpPr txBox="1"/>
          <p:nvPr/>
        </p:nvSpPr>
        <p:spPr>
          <a:xfrm>
            <a:off x="8732520" y="3822192"/>
            <a:ext cx="2697480" cy="41148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follow-up probe, seed 0 only</a:t>
            </a:r>
            <a:endParaRPr lang="en-US" sz="1100" dirty="0"/>
          </a:p>
        </p:txBody>
      </p:sp>
      <p:sp>
        <p:nvSpPr>
          <p:cNvPr id="31" name="Text 29"/>
          <p:cNvSpPr txBox="1"/>
          <p:nvPr/>
        </p:nvSpPr>
        <p:spPr>
          <a:xfrm>
            <a:off x="6473952" y="4297680"/>
            <a:ext cx="2194560" cy="4114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Target-only*, Oracle*</a:t>
            </a:r>
            <a:endParaRPr lang="en-US" sz="1200" dirty="0"/>
          </a:p>
        </p:txBody>
      </p:sp>
      <p:sp>
        <p:nvSpPr>
          <p:cNvPr id="32" name="Text 30"/>
          <p:cNvSpPr txBox="1"/>
          <p:nvPr/>
        </p:nvSpPr>
        <p:spPr>
          <a:xfrm>
            <a:off x="8732520" y="4297680"/>
            <a:ext cx="2697480" cy="411480"/>
          </a:xfrm>
          <a:prstGeom prst="rect">
            <a:avLst/>
          </a:prstGeom>
          <a:noFill/>
          <a:ln/>
        </p:spPr>
        <p:txBody>
          <a:bodyPr wrap="square" lIns="0" tIns="0" rIns="0" bIns="0" rtlCol="0" anchor="t"/>
          <a:lstStyle/>
          <a:p>
            <a:pPr marL="0" indent="0">
              <a:buNone/>
            </a:pPr>
            <a:r>
              <a:rPr lang="en-US" sz="1100" dirty="0">
                <a:solidFill>
                  <a:srgbClr val="E6F0EE"/>
                </a:solidFill>
                <a:latin typeface="Calibri" pitchFamily="34" charset="0"/>
                <a:ea typeface="Calibri" pitchFamily="34" charset="-122"/>
                <a:cs typeface="Calibri" pitchFamily="34" charset="-120"/>
              </a:rPr>
              <a:t>trained / fine-tuned with Domain 2 labels</a:t>
            </a:r>
            <a:endParaRPr lang="en-US" sz="1100" dirty="0"/>
          </a:p>
        </p:txBody>
      </p:sp>
      <p:sp>
        <p:nvSpPr>
          <p:cNvPr id="33" name="Text 31"/>
          <p:cNvSpPr txBox="1"/>
          <p:nvPr/>
        </p:nvSpPr>
        <p:spPr>
          <a:xfrm>
            <a:off x="6473952" y="4800600"/>
            <a:ext cx="4937760" cy="228600"/>
          </a:xfrm>
          <a:prstGeom prst="rect">
            <a:avLst/>
          </a:prstGeom>
          <a:noFill/>
          <a:ln/>
        </p:spPr>
        <p:txBody>
          <a:bodyPr wrap="square" lIns="0" tIns="0" rIns="0" bIns="0" rtlCol="0" anchor="t"/>
          <a:lstStyle/>
          <a:p>
            <a:pPr marL="0" indent="0">
              <a:buNone/>
            </a:pPr>
            <a:r>
              <a:rPr lang="en-US" sz="1000" i="1" dirty="0">
                <a:solidFill>
                  <a:srgbClr val="7C8B90"/>
                </a:solidFill>
                <a:latin typeface="Calibri" pitchFamily="34" charset="0"/>
                <a:ea typeface="Calibri" pitchFamily="34" charset="-122"/>
                <a:cs typeface="Calibri" pitchFamily="34" charset="-120"/>
              </a:rPr>
              <a:t>* uses Domain 2 labels: reference only, not UDA</a:t>
            </a:r>
            <a:endParaRPr lang="en-US" sz="1000" dirty="0"/>
          </a:p>
        </p:txBody>
      </p:sp>
      <p:sp>
        <p:nvSpPr>
          <p:cNvPr id="34" name="Text 32"/>
          <p:cNvSpPr txBox="1"/>
          <p:nvPr/>
        </p:nvSpPr>
        <p:spPr>
          <a:xfrm>
            <a:off x="6473952" y="5120640"/>
            <a:ext cx="4937760" cy="274320"/>
          </a:xfrm>
          <a:prstGeom prst="rect">
            <a:avLst/>
          </a:prstGeom>
          <a:noFill/>
          <a:ln/>
        </p:spPr>
        <p:txBody>
          <a:bodyPr wrap="square" lIns="0" tIns="0" rIns="0" bIns="0" rtlCol="0" anchor="t"/>
          <a:lstStyle/>
          <a:p>
            <a:pPr marL="0" indent="0">
              <a:buNone/>
            </a:pPr>
            <a:r>
              <a:rPr lang="en-US" sz="1400" b="1" dirty="0">
                <a:solidFill>
                  <a:srgbClr val="6FB3A6"/>
                </a:solidFill>
                <a:latin typeface="Calibri" pitchFamily="34" charset="0"/>
                <a:ea typeface="Calibri" pitchFamily="34" charset="-122"/>
                <a:cs typeface="Calibri" pitchFamily="34" charset="-120"/>
              </a:rPr>
              <a:t>Settings</a:t>
            </a:r>
            <a:endParaRPr lang="en-US" sz="1400" dirty="0"/>
          </a:p>
        </p:txBody>
      </p:sp>
      <p:sp>
        <p:nvSpPr>
          <p:cNvPr id="35" name="Text 33"/>
          <p:cNvSpPr txBox="1"/>
          <p:nvPr/>
        </p:nvSpPr>
        <p:spPr>
          <a:xfrm>
            <a:off x="6473952" y="5413248"/>
            <a:ext cx="4937760" cy="7772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E6F0EE"/>
                </a:solidFill>
                <a:latin typeface="Calibri" pitchFamily="34" charset="0"/>
                <a:ea typeface="Calibri" pitchFamily="34" charset="-122"/>
                <a:cs typeface="Calibri" pitchFamily="34" charset="-120"/>
              </a:rPr>
              <a:t>Source: 20 epochs, AdamW, lr 1e-3, best source-validation checkpoint.</a:t>
            </a:r>
            <a:endParaRPr lang="en-US" sz="1050" dirty="0"/>
          </a:p>
          <a:p>
            <a:pPr marL="342900" indent="-342900">
              <a:spcAft>
                <a:spcPts val="200"/>
              </a:spcAft>
              <a:buSzPct val="100000"/>
              <a:buChar char="•"/>
            </a:pPr>
            <a:r>
              <a:rPr lang="en-US" sz="1050" dirty="0">
                <a:solidFill>
                  <a:srgbClr val="E6F0EE"/>
                </a:solidFill>
                <a:latin typeface="Calibri" pitchFamily="34" charset="0"/>
                <a:ea typeface="Calibri" pitchFamily="34" charset="-122"/>
                <a:cs typeface="Calibri" pitchFamily="34" charset="-120"/>
              </a:rPr>
              <a:t>Adaptation: 10 epochs, lr 3e-4, batches 256 + 256; v1 takes the last epoch, v2 picks min(source-val MSE + feature MMD) — still no target labels.</a:t>
            </a:r>
            <a:endParaRPr lang="en-US" sz="1050" dirty="0"/>
          </a:p>
          <a:p>
            <a:pPr marL="342900" indent="-342900">
              <a:spcAft>
                <a:spcPts val="200"/>
              </a:spcAft>
              <a:buSzPct val="100000"/>
              <a:buChar char="•"/>
            </a:pPr>
            <a:r>
              <a:rPr lang="en-US" sz="1050" dirty="0">
                <a:solidFill>
                  <a:srgbClr val="E6F0EE"/>
                </a:solidFill>
                <a:latin typeface="Calibri" pitchFamily="34" charset="0"/>
                <a:ea typeface="Calibri" pitchFamily="34" charset="-122"/>
                <a:cs typeface="Calibri" pitchFamily="34" charset="-120"/>
              </a:rPr>
              <a:t>3 seeds (0, 1, 2) for v1; PyTorch on a laptop CPU.</a:t>
            </a:r>
            <a:endParaRPr lang="en-US" sz="1050" dirty="0"/>
          </a:p>
        </p:txBody>
      </p:sp>
      <p:sp>
        <p:nvSpPr>
          <p:cNvPr id="3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07 · FIRST EXPERIMENTAL CAMPAIGN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Preliminary Domain-2 results — not the final table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1672" cy="4081272"/>
        </p:xfrm>
        <a:graphic>
          <a:graphicData uri="http://schemas.openxmlformats.org/drawingml/2006/table">
            <a:tbl>
              <a:tblPr/>
              <a:tblGrid>
                <a:gridCol w="2606040">
                  <a:extLst>
                    <a:ext uri="{9D8B030D-6E8A-4147-A177-3AD203B41FA5}">
                      <a16:colId xmlns:a16="http://schemas.microsoft.com/office/drawing/2014/main" val="20000"/>
                    </a:ext>
                  </a:extLst>
                </a:gridCol>
                <a:gridCol w="1572768">
                  <a:extLst>
                    <a:ext uri="{9D8B030D-6E8A-4147-A177-3AD203B41FA5}">
                      <a16:colId xmlns:a16="http://schemas.microsoft.com/office/drawing/2014/main" val="20001"/>
                    </a:ext>
                  </a:extLst>
                </a:gridCol>
                <a:gridCol w="1572768">
                  <a:extLst>
                    <a:ext uri="{9D8B030D-6E8A-4147-A177-3AD203B41FA5}">
                      <a16:colId xmlns:a16="http://schemas.microsoft.com/office/drawing/2014/main" val="20002"/>
                    </a:ext>
                  </a:extLst>
                </a:gridCol>
                <a:gridCol w="157276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61872">
                  <a:extLst>
                    <a:ext uri="{9D8B030D-6E8A-4147-A177-3AD203B41FA5}">
                      <a16:colId xmlns:a16="http://schemas.microsoft.com/office/drawing/2014/main" val="20005"/>
                    </a:ext>
                  </a:extLst>
                </a:gridCol>
                <a:gridCol w="1252728">
                  <a:extLst>
                    <a:ext uri="{9D8B030D-6E8A-4147-A177-3AD203B41FA5}">
                      <a16:colId xmlns:a16="http://schemas.microsoft.com/office/drawing/2014/main" val="20006"/>
                    </a:ext>
                  </a:extLst>
                </a:gridCol>
              </a:tblGrid>
              <a:tr h="3657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Climate MSE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Energy MSE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Finance MSE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Climate Δ vs src-only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Energy Δ vs src-only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Finance Δ vs src-only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Seasonal naive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0.351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0.225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1.024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+38.5%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+82.5%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1"/>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Source-only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0.254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0.173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0.561 ± 0.001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DANN</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0.268 ± 0.017</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0.217 ± 0.020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0.572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+5.5%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+25.7%</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3"/>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Deep CORAL</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0.272 ± 0.007</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0.192 ± 0.006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0.573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+7.1%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+11.4%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MMD</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b="1" dirty="0">
                          <a:solidFill>
                            <a:srgbClr val="2F7F73"/>
                          </a:solidFill>
                          <a:latin typeface="Calibri" pitchFamily="34" charset="0"/>
                          <a:ea typeface="Calibri" pitchFamily="34" charset="-122"/>
                          <a:cs typeface="Calibri" pitchFamily="34" charset="-120"/>
                        </a:rPr>
                        <a:t>0.234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0.165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0.558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-7.9%</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5"/>
                  </a:ext>
                </a:extLst>
              </a:tr>
              <a:tr h="365760">
                <a:tc>
                  <a:txBody>
                    <a:bodyPr/>
                    <a:lstStyle/>
                    <a:p>
                      <a:pPr marL="0" indent="0">
                        <a:buNone/>
                      </a:pPr>
                      <a:r>
                        <a:rPr lang="en-US" sz="1150" b="1" dirty="0">
                          <a:solidFill>
                            <a:srgbClr val="2F7F73"/>
                          </a:solidFill>
                          <a:latin typeface="Calibri" pitchFamily="34" charset="0"/>
                          <a:ea typeface="Calibri" pitchFamily="34" charset="-122"/>
                          <a:cs typeface="Calibri" pitchFamily="34" charset="-120"/>
                        </a:rPr>
                        <a:t>CARE-DA v1 (3 seeds)</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0.245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0.167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0.562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extLst>
                  <a:ext uri="{0D108BD9-81ED-4DB2-BD59-A6C34878D82A}">
                    <a16:rowId xmlns:a16="http://schemas.microsoft.com/office/drawing/2014/main" val="10006"/>
                  </a:ext>
                </a:extLst>
              </a:tr>
              <a:tr h="365760">
                <a:tc>
                  <a:txBody>
                    <a:bodyPr/>
                    <a:lstStyle/>
                    <a:p>
                      <a:pPr marL="0" indent="0">
                        <a:buNone/>
                      </a:pPr>
                      <a:r>
                        <a:rPr lang="en-US" sz="1150" b="1" dirty="0">
                          <a:solidFill>
                            <a:srgbClr val="2F7F73"/>
                          </a:solidFill>
                          <a:latin typeface="Calibri" pitchFamily="34" charset="0"/>
                          <a:ea typeface="Calibri" pitchFamily="34" charset="-122"/>
                          <a:cs typeface="Calibri" pitchFamily="34" charset="-120"/>
                        </a:rPr>
                        <a:t>CARE-DA − SSL (ablation)</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0.234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b="1" dirty="0">
                          <a:solidFill>
                            <a:srgbClr val="2F7F73"/>
                          </a:solidFill>
                          <a:latin typeface="Calibri" pitchFamily="34" charset="0"/>
                          <a:ea typeface="Calibri" pitchFamily="34" charset="-122"/>
                          <a:cs typeface="Calibri" pitchFamily="34" charset="-120"/>
                        </a:rPr>
                        <a:t>0.162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b="1" dirty="0">
                          <a:solidFill>
                            <a:srgbClr val="2F7F73"/>
                          </a:solidFill>
                          <a:latin typeface="Calibri" pitchFamily="34" charset="0"/>
                          <a:ea typeface="Calibri" pitchFamily="34" charset="-122"/>
                          <a:cs typeface="Calibri" pitchFamily="34" charset="-120"/>
                        </a:rPr>
                        <a:t>0.558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-6.4%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extLst>
                  <a:ext uri="{0D108BD9-81ED-4DB2-BD59-A6C34878D82A}">
                    <a16:rowId xmlns:a16="http://schemas.microsoft.com/office/drawing/2014/main" val="10007"/>
                  </a:ext>
                </a:extLst>
              </a:tr>
              <a:tr h="365760">
                <a:tc>
                  <a:txBody>
                    <a:bodyPr/>
                    <a:lstStyle/>
                    <a:p>
                      <a:pPr marL="0" indent="0">
                        <a:buNone/>
                      </a:pPr>
                      <a:r>
                        <a:rPr lang="en-US" sz="1150" b="1" dirty="0">
                          <a:solidFill>
                            <a:srgbClr val="2F7F73"/>
                          </a:solidFill>
                          <a:latin typeface="Calibri" pitchFamily="34" charset="0"/>
                          <a:ea typeface="Calibri" pitchFamily="34" charset="-122"/>
                          <a:cs typeface="Calibri" pitchFamily="34" charset="-120"/>
                        </a:rPr>
                        <a:t>CARE-DA v2 (seed 0 probe)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0.236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0.156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0.552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extLst>
                  <a:ext uri="{0D108BD9-81ED-4DB2-BD59-A6C34878D82A}">
                    <a16:rowId xmlns:a16="http://schemas.microsoft.com/office/drawing/2014/main" val="10008"/>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Target-only*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0.240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0.177 ± 0.005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0.551 ± 0.001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-5.3%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B5473A"/>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9"/>
                  </a:ext>
                </a:extLst>
              </a:tr>
              <a:tr h="365760">
                <a:tc>
                  <a:txBody>
                    <a:bodyPr/>
                    <a:lstStyle/>
                    <a:p>
                      <a:pPr marL="0" indent="0">
                        <a:buNone/>
                      </a:pPr>
                      <a:r>
                        <a:rPr lang="en-US" sz="1150" dirty="0">
                          <a:solidFill>
                            <a:srgbClr val="1B2B31"/>
                          </a:solidFill>
                          <a:latin typeface="Calibri" pitchFamily="34" charset="0"/>
                          <a:ea typeface="Calibri" pitchFamily="34" charset="-122"/>
                          <a:cs typeface="Calibri" pitchFamily="34" charset="-120"/>
                        </a:rPr>
                        <a:t>Fine-tune oracle*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0.232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0.168 ± 0.001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0.548 ± 0.000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1"/>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Text 3"/>
          <p:cNvSpPr txBox="1"/>
          <p:nvPr/>
        </p:nvSpPr>
        <p:spPr>
          <a:xfrm>
            <a:off x="548640" y="5596128"/>
            <a:ext cx="11064240" cy="502920"/>
          </a:xfrm>
          <a:prstGeom prst="rect">
            <a:avLst/>
          </a:prstGeom>
          <a:noFill/>
          <a:ln/>
        </p:spPr>
        <p:txBody>
          <a:bodyPr wrap="square" lIns="0" tIns="0" rIns="0" bIns="0" rtlCol="0" anchor="t"/>
          <a:lstStyle/>
          <a:p>
            <a:pPr marL="0" indent="0">
              <a:buNone/>
            </a:pPr>
            <a:r>
              <a:rPr lang="en-US" sz="1100" i="1" dirty="0">
                <a:solidFill>
                  <a:srgbClr val="4F5F65"/>
                </a:solidFill>
                <a:latin typeface="Calibri" pitchFamily="34" charset="0"/>
                <a:ea typeface="Calibri" pitchFamily="34" charset="-122"/>
                <a:cs typeface="Calibri" pitchFamily="34" charset="-120"/>
              </a:rPr>
              <a:t>First campaign: v1 is mean ± std over 3 seeds. v2 is a seed-0 probe only — we will re-run it over 3 seeds before locking the method, and its Δ is measured against the same seed-0 source model (MSE climate 0.251, energy 0.169, finance 0.562), not against the 3-seed mean. Bold teal = best 3-seed label-free so far. * uses Domain 2 labels.</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07 · FIRST EXPERIMENTAL CAMPAIGN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Where the first campaign helped — and where it did not</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graphicFrame>
        <p:nvGraphicFramePr>
          <p:cNvPr id="5" name="Chart 0"/>
          <p:cNvGraphicFramePr/>
          <p:nvPr/>
        </p:nvGraphicFramePr>
        <p:xfrm>
          <a:off x="548640" y="1325880"/>
          <a:ext cx="7680960" cy="466344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3"/>
          <p:cNvSpPr txBox="1"/>
          <p:nvPr/>
        </p:nvSpPr>
        <p:spPr>
          <a:xfrm>
            <a:off x="731520" y="5989320"/>
            <a:ext cx="6400800" cy="274320"/>
          </a:xfrm>
          <a:prstGeom prst="rect">
            <a:avLst/>
          </a:prstGeom>
          <a:noFill/>
          <a:ln/>
        </p:spPr>
        <p:txBody>
          <a:bodyPr wrap="square" lIns="0" tIns="0" rIns="0" bIns="0" rtlCol="0" anchor="t"/>
          <a:lstStyle/>
          <a:p>
            <a:pPr marL="0" indent="0">
              <a:buNone/>
            </a:pPr>
            <a:r>
              <a:rPr lang="en-US" sz="1000" i="1" dirty="0">
                <a:solidFill>
                  <a:srgbClr val="7C8B90"/>
                </a:solidFill>
                <a:latin typeface="Calibri" pitchFamily="34" charset="0"/>
                <a:ea typeface="Calibri" pitchFamily="34" charset="-122"/>
                <a:cs typeface="Calibri" pitchFamily="34" charset="-120"/>
              </a:rPr>
              <a:t>Bars clipped at −12%: DANN on energy is −26%.</a:t>
            </a:r>
            <a:endParaRPr lang="en-US" sz="1000" dirty="0"/>
          </a:p>
        </p:txBody>
      </p:sp>
      <p:sp>
        <p:nvSpPr>
          <p:cNvPr id="7" name="Shape 4"/>
          <p:cNvSpPr/>
          <p:nvPr/>
        </p:nvSpPr>
        <p:spPr>
          <a:xfrm>
            <a:off x="8458200" y="1371600"/>
            <a:ext cx="3182112" cy="4892040"/>
          </a:xfrm>
          <a:prstGeom prst="roundRect">
            <a:avLst>
              <a:gd name="adj" fmla="val 2299"/>
            </a:avLst>
          </a:prstGeom>
          <a:solidFill>
            <a:srgbClr val="16232A"/>
          </a:solidFill>
          <a:ln w="12700">
            <a:solidFill>
              <a:srgbClr val="16232A"/>
            </a:solidFill>
            <a:prstDash val="solid"/>
          </a:ln>
        </p:spPr>
      </p:sp>
      <p:sp>
        <p:nvSpPr>
          <p:cNvPr id="8" name="Text 5"/>
          <p:cNvSpPr txBox="1"/>
          <p:nvPr/>
        </p:nvSpPr>
        <p:spPr>
          <a:xfrm>
            <a:off x="8686800" y="1536192"/>
            <a:ext cx="2834640" cy="320040"/>
          </a:xfrm>
          <a:prstGeom prst="rect">
            <a:avLst/>
          </a:prstGeom>
          <a:noFill/>
          <a:ln/>
        </p:spPr>
        <p:txBody>
          <a:bodyPr wrap="square" lIns="0" tIns="0" rIns="0" bIns="0" rtlCol="0" anchor="t"/>
          <a:lstStyle/>
          <a:p>
            <a:pPr marL="0" indent="0">
              <a:buNone/>
            </a:pPr>
            <a:r>
              <a:rPr lang="en-US" sz="1400" b="1" dirty="0">
                <a:solidFill>
                  <a:srgbClr val="6FB3A6"/>
                </a:solidFill>
                <a:latin typeface="Calibri" pitchFamily="34" charset="0"/>
                <a:ea typeface="Calibri" pitchFamily="34" charset="-122"/>
                <a:cs typeface="Calibri" pitchFamily="34" charset="-120"/>
              </a:rPr>
              <a:t>Best so far (still provisional)</a:t>
            </a:r>
            <a:endParaRPr lang="en-US" sz="1400" dirty="0"/>
          </a:p>
        </p:txBody>
      </p:sp>
      <p:sp>
        <p:nvSpPr>
          <p:cNvPr id="9" name="Text 6"/>
          <p:cNvSpPr txBox="1"/>
          <p:nvPr/>
        </p:nvSpPr>
        <p:spPr>
          <a:xfrm>
            <a:off x="8686800" y="1965960"/>
            <a:ext cx="2743200" cy="658368"/>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-7.9%</a:t>
            </a:r>
            <a:endParaRPr lang="en-US" sz="3600" dirty="0"/>
          </a:p>
        </p:txBody>
      </p:sp>
      <p:sp>
        <p:nvSpPr>
          <p:cNvPr id="10" name="Text 7"/>
          <p:cNvSpPr txBox="1"/>
          <p:nvPr/>
        </p:nvSpPr>
        <p:spPr>
          <a:xfrm>
            <a:off x="8686800" y="2624328"/>
            <a:ext cx="2880360" cy="320040"/>
          </a:xfrm>
          <a:prstGeom prst="rect">
            <a:avLst/>
          </a:prstGeom>
          <a:noFill/>
          <a:ln/>
        </p:spPr>
        <p:txBody>
          <a:bodyPr wrap="square" lIns="0" tIns="0" rIns="0" bIns="0" rtlCol="0" anchor="t"/>
          <a:lstStyle/>
          <a:p>
            <a:pPr marL="0" indent="0">
              <a:buNone/>
            </a:pPr>
            <a:r>
              <a:rPr lang="en-US" sz="1150" dirty="0">
                <a:solidFill>
                  <a:srgbClr val="E6F0EE"/>
                </a:solidFill>
                <a:latin typeface="Calibri" pitchFamily="34" charset="0"/>
                <a:ea typeface="Calibri" pitchFamily="34" charset="-122"/>
                <a:cs typeface="Calibri" pitchFamily="34" charset="-120"/>
              </a:rPr>
              <a:t>Climate · MMD  (oracle* -8.5%)</a:t>
            </a:r>
            <a:endParaRPr lang="en-US" sz="1150" dirty="0"/>
          </a:p>
        </p:txBody>
      </p:sp>
      <p:sp>
        <p:nvSpPr>
          <p:cNvPr id="11" name="Text 8"/>
          <p:cNvSpPr txBox="1"/>
          <p:nvPr/>
        </p:nvSpPr>
        <p:spPr>
          <a:xfrm>
            <a:off x="8686800" y="3383280"/>
            <a:ext cx="2743200" cy="658368"/>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-7.8%</a:t>
            </a:r>
            <a:endParaRPr lang="en-US" sz="3600" dirty="0"/>
          </a:p>
        </p:txBody>
      </p:sp>
      <p:sp>
        <p:nvSpPr>
          <p:cNvPr id="12" name="Text 9"/>
          <p:cNvSpPr txBox="1"/>
          <p:nvPr/>
        </p:nvSpPr>
        <p:spPr>
          <a:xfrm>
            <a:off x="8686800" y="4041648"/>
            <a:ext cx="2880360" cy="320040"/>
          </a:xfrm>
          <a:prstGeom prst="rect">
            <a:avLst/>
          </a:prstGeom>
          <a:noFill/>
          <a:ln/>
        </p:spPr>
        <p:txBody>
          <a:bodyPr wrap="square" lIns="0" tIns="0" rIns="0" bIns="0" rtlCol="0" anchor="t"/>
          <a:lstStyle/>
          <a:p>
            <a:pPr marL="0" indent="0">
              <a:buNone/>
            </a:pPr>
            <a:r>
              <a:rPr lang="en-US" sz="1150" dirty="0">
                <a:solidFill>
                  <a:srgbClr val="E6F0EE"/>
                </a:solidFill>
                <a:latin typeface="Calibri" pitchFamily="34" charset="0"/>
                <a:ea typeface="Calibri" pitchFamily="34" charset="-122"/>
                <a:cs typeface="Calibri" pitchFamily="34" charset="-120"/>
              </a:rPr>
              <a:t>Energy · CARE v2*  (oracle* -3.0%)</a:t>
            </a:r>
            <a:endParaRPr lang="en-US" sz="1150" dirty="0"/>
          </a:p>
        </p:txBody>
      </p:sp>
      <p:sp>
        <p:nvSpPr>
          <p:cNvPr id="13" name="Text 10"/>
          <p:cNvSpPr txBox="1"/>
          <p:nvPr/>
        </p:nvSpPr>
        <p:spPr>
          <a:xfrm>
            <a:off x="8686800" y="4800600"/>
            <a:ext cx="2743200" cy="658368"/>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-1.8%</a:t>
            </a:r>
            <a:endParaRPr lang="en-US" sz="3600" dirty="0"/>
          </a:p>
        </p:txBody>
      </p:sp>
      <p:sp>
        <p:nvSpPr>
          <p:cNvPr id="14" name="Text 11"/>
          <p:cNvSpPr txBox="1"/>
          <p:nvPr/>
        </p:nvSpPr>
        <p:spPr>
          <a:xfrm>
            <a:off x="8686800" y="5458968"/>
            <a:ext cx="2880360" cy="320040"/>
          </a:xfrm>
          <a:prstGeom prst="rect">
            <a:avLst/>
          </a:prstGeom>
          <a:noFill/>
          <a:ln/>
        </p:spPr>
        <p:txBody>
          <a:bodyPr wrap="square" lIns="0" tIns="0" rIns="0" bIns="0" rtlCol="0" anchor="t"/>
          <a:lstStyle/>
          <a:p>
            <a:pPr marL="0" indent="0">
              <a:buNone/>
            </a:pPr>
            <a:r>
              <a:rPr lang="en-US" sz="1150" dirty="0">
                <a:solidFill>
                  <a:srgbClr val="E6F0EE"/>
                </a:solidFill>
                <a:latin typeface="Calibri" pitchFamily="34" charset="0"/>
                <a:ea typeface="Calibri" pitchFamily="34" charset="-122"/>
                <a:cs typeface="Calibri" pitchFamily="34" charset="-120"/>
              </a:rPr>
              <a:t>Finance · CARE v2*  (oracle* -2.4%)</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07 · ADAPTATION BEHAVIOUR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What the logs and the forecasts look like (climate, seed 0)</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pic>
        <p:nvPicPr>
          <p:cNvPr id="5" name="Image 0" descr="C:\Users\miral\OneDrive\Documents\IE643_project\results\figures\climate_adaptation_curves.png"/>
          <p:cNvPicPr>
            <a:picLocks noChangeAspect="1"/>
          </p:cNvPicPr>
          <p:nvPr/>
        </p:nvPicPr>
        <p:blipFill>
          <a:blip r:embed="rId4"/>
          <a:stretch>
            <a:fillRect/>
          </a:stretch>
        </p:blipFill>
        <p:spPr>
          <a:xfrm>
            <a:off x="1135221" y="1280160"/>
            <a:ext cx="9918510" cy="2743200"/>
          </a:xfrm>
          <a:prstGeom prst="rect">
            <a:avLst/>
          </a:prstGeom>
        </p:spPr>
      </p:pic>
      <p:sp>
        <p:nvSpPr>
          <p:cNvPr id="6" name="Shape 3"/>
          <p:cNvSpPr/>
          <p:nvPr/>
        </p:nvSpPr>
        <p:spPr>
          <a:xfrm>
            <a:off x="548640" y="4160520"/>
            <a:ext cx="3520440" cy="2057400"/>
          </a:xfrm>
          <a:prstGeom prst="roundRect">
            <a:avLst>
              <a:gd name="adj" fmla="val 3556"/>
            </a:avLst>
          </a:prstGeom>
          <a:solidFill>
            <a:srgbClr val="F1F6F5"/>
          </a:solidFill>
          <a:ln w="12700">
            <a:solidFill>
              <a:srgbClr val="F1F6F5"/>
            </a:solidFill>
            <a:prstDash val="solid"/>
          </a:ln>
        </p:spPr>
      </p:sp>
      <p:sp>
        <p:nvSpPr>
          <p:cNvPr id="7" name="Text 4"/>
          <p:cNvSpPr txBox="1"/>
          <p:nvPr/>
        </p:nvSpPr>
        <p:spPr>
          <a:xfrm>
            <a:off x="731520" y="4279392"/>
            <a:ext cx="3154680" cy="566928"/>
          </a:xfrm>
          <a:prstGeom prst="rect">
            <a:avLst/>
          </a:prstGeom>
          <a:noFill/>
          <a:ln/>
        </p:spPr>
        <p:txBody>
          <a:bodyPr wrap="square" lIns="0" tIns="0" rIns="0" bIns="0" rtlCol="0" anchor="t"/>
          <a:lstStyle/>
          <a:p>
            <a:pPr marL="0" indent="0">
              <a:buNone/>
            </a:pPr>
            <a:r>
              <a:rPr lang="en-US" sz="1350" b="1" dirty="0">
                <a:solidFill>
                  <a:srgbClr val="2F7F73"/>
                </a:solidFill>
                <a:latin typeface="Calibri" pitchFamily="34" charset="0"/>
                <a:ea typeface="Calibri" pitchFamily="34" charset="-122"/>
                <a:cs typeface="Calibri" pitchFamily="34" charset="-120"/>
              </a:rPr>
              <a:t>Alignment happens, Domain 1 survives</a:t>
            </a:r>
            <a:endParaRPr lang="en-US" sz="1350" dirty="0"/>
          </a:p>
        </p:txBody>
      </p:sp>
      <p:sp>
        <p:nvSpPr>
          <p:cNvPr id="8" name="Text 5"/>
          <p:cNvSpPr txBox="1"/>
          <p:nvPr/>
        </p:nvSpPr>
        <p:spPr>
          <a:xfrm>
            <a:off x="731520" y="4882896"/>
            <a:ext cx="3154680" cy="128016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Latent MMD² between domains drops from 0.078 to 0.016, and Domain 1 error stays flat (-1.3%) — supervised fine-tuning instead costs +14%.</a:t>
            </a:r>
            <a:endParaRPr lang="en-US" sz="1150" dirty="0"/>
          </a:p>
        </p:txBody>
      </p:sp>
      <p:sp>
        <p:nvSpPr>
          <p:cNvPr id="9" name="Shape 6"/>
          <p:cNvSpPr/>
          <p:nvPr/>
        </p:nvSpPr>
        <p:spPr>
          <a:xfrm>
            <a:off x="4251960" y="4160520"/>
            <a:ext cx="3520440" cy="2057400"/>
          </a:xfrm>
          <a:prstGeom prst="roundRect">
            <a:avLst>
              <a:gd name="adj" fmla="val 3556"/>
            </a:avLst>
          </a:prstGeom>
          <a:solidFill>
            <a:srgbClr val="F1F6F5"/>
          </a:solidFill>
          <a:ln w="12700">
            <a:solidFill>
              <a:srgbClr val="F1F6F5"/>
            </a:solidFill>
            <a:prstDash val="solid"/>
          </a:ln>
        </p:spPr>
      </p:sp>
      <p:sp>
        <p:nvSpPr>
          <p:cNvPr id="10" name="Text 7"/>
          <p:cNvSpPr txBox="1"/>
          <p:nvPr/>
        </p:nvSpPr>
        <p:spPr>
          <a:xfrm>
            <a:off x="4434840" y="4279392"/>
            <a:ext cx="3154680" cy="566928"/>
          </a:xfrm>
          <a:prstGeom prst="rect">
            <a:avLst/>
          </a:prstGeom>
          <a:noFill/>
          <a:ln/>
        </p:spPr>
        <p:txBody>
          <a:bodyPr wrap="square" lIns="0" tIns="0" rIns="0" bIns="0" rtlCol="0" anchor="t"/>
          <a:lstStyle/>
          <a:p>
            <a:pPr marL="0" indent="0">
              <a:buNone/>
            </a:pPr>
            <a:r>
              <a:rPr lang="en-US" sz="1350" b="1" dirty="0">
                <a:solidFill>
                  <a:srgbClr val="A5650F"/>
                </a:solidFill>
                <a:latin typeface="Calibri" pitchFamily="34" charset="0"/>
                <a:ea typeface="Calibri" pitchFamily="34" charset="-122"/>
                <a:cs typeface="Calibri" pitchFamily="34" charset="-120"/>
              </a:rPr>
              <a:t>But a smaller gap ≠ better forecasts</a:t>
            </a:r>
            <a:endParaRPr lang="en-US" sz="1350" dirty="0"/>
          </a:p>
        </p:txBody>
      </p:sp>
      <p:sp>
        <p:nvSpPr>
          <p:cNvPr id="11" name="Text 8"/>
          <p:cNvSpPr txBox="1"/>
          <p:nvPr/>
        </p:nvSpPr>
        <p:spPr>
          <a:xfrm>
            <a:off x="4434840" y="4882896"/>
            <a:ext cx="3154680" cy="128016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CARE-DA v1 reaches the smallest discrepancy yet MMD-only forecasts better; DANN is unstable (MMD² 1.9) and its target error drifts upward. Alignment must keep forecast-relevant information.</a:t>
            </a:r>
            <a:endParaRPr lang="en-US" sz="1150" dirty="0"/>
          </a:p>
        </p:txBody>
      </p:sp>
      <p:pic>
        <p:nvPicPr>
          <p:cNvPr id="12" name="Image 1" descr="C:\Users\miral\OneDrive\Documents\IE643_project\results\figures\climate_forecast_example.png"/>
          <p:cNvPicPr>
            <a:picLocks noChangeAspect="1"/>
          </p:cNvPicPr>
          <p:nvPr/>
        </p:nvPicPr>
        <p:blipFill>
          <a:blip r:embed="rId5"/>
          <a:stretch>
            <a:fillRect/>
          </a:stretch>
        </p:blipFill>
        <p:spPr>
          <a:xfrm>
            <a:off x="7955280" y="4264064"/>
            <a:ext cx="3685032" cy="1804591"/>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07 · INSIGHTS SO FAR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What the first campaign taught us — open for the second half</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2304288"/>
        </p:xfrm>
        <a:graphic>
          <a:graphicData uri="http://schemas.openxmlformats.org/drawingml/2006/table">
            <a:tbl>
              <a:tblPr/>
              <a:tblGrid>
                <a:gridCol w="23317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8404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Variant (Δ MSE vs src-only)</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Climate</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Energy</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Finance</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2F7F73"/>
                          </a:solidFill>
                          <a:latin typeface="Calibri" pitchFamily="34" charset="0"/>
                          <a:ea typeface="Calibri" pitchFamily="34" charset="-122"/>
                          <a:cs typeface="Calibri" pitchFamily="34" charset="-120"/>
                        </a:rPr>
                        <a:t>CARE-DA v1</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-3.3%</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dirty="0">
                          <a:solidFill>
                            <a:srgbClr val="1B2B31"/>
                          </a:solidFill>
                          <a:latin typeface="Calibri" pitchFamily="34" charset="0"/>
                          <a:ea typeface="Calibri" pitchFamily="34" charset="-122"/>
                          <a:cs typeface="Calibri" pitchFamily="34" charset="-120"/>
                        </a:rPr>
                        <a:t>− alignment</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250" dirty="0">
                          <a:solidFill>
                            <a:srgbClr val="B5473A"/>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250" dirty="0">
                          <a:solidFill>
                            <a:srgbClr val="B5473A"/>
                          </a:solidFill>
                          <a:latin typeface="Calibri" pitchFamily="34" charset="0"/>
                          <a:ea typeface="Calibri" pitchFamily="34" charset="-122"/>
                          <a:cs typeface="Calibri" pitchFamily="34" charset="-120"/>
                        </a:rPr>
                        <a:t>+4.5%</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250" dirty="0">
                          <a:solidFill>
                            <a:srgbClr val="B5473A"/>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rgbClr val="1B2B31"/>
                          </a:solidFill>
                          <a:latin typeface="Calibri" pitchFamily="34" charset="0"/>
                          <a:ea typeface="Calibri" pitchFamily="34" charset="-122"/>
                          <a:cs typeface="Calibri" pitchFamily="34" charset="-120"/>
                        </a:rPr>
                        <a:t>− SSL</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-7.8%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-6.4%</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dirty="0">
                          <a:solidFill>
                            <a:srgbClr val="1B2B31"/>
                          </a:solidFill>
                          <a:latin typeface="Calibri" pitchFamily="34" charset="0"/>
                          <a:ea typeface="Calibri" pitchFamily="34" charset="-122"/>
                          <a:cs typeface="Calibri" pitchFamily="34" charset="-120"/>
                        </a:rPr>
                        <a:t>− anchor</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-3.8%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marL="0" indent="0" algn="ctr">
                        <a:buNone/>
                      </a:pPr>
                      <a:r>
                        <a:rPr lang="en-US" sz="1250" dirty="0">
                          <a:solidFill>
                            <a:srgbClr val="B5473A"/>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rgbClr val="1B2B31"/>
                          </a:solidFill>
                          <a:latin typeface="Calibri" pitchFamily="34" charset="0"/>
                          <a:ea typeface="Calibri" pitchFamily="34" charset="-122"/>
                          <a:cs typeface="Calibri" pitchFamily="34" charset="-120"/>
                        </a:rPr>
                        <a:t>CARE-DA v2 (probe)</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-6.2%</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-7.8%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B31"/>
                          </a:solidFill>
                          <a:latin typeface="Calibri" pitchFamily="34" charset="0"/>
                          <a:ea typeface="Calibri" pitchFamily="34" charset="-122"/>
                          <a:cs typeface="Calibri" pitchFamily="34" charset="-120"/>
                        </a:rPr>
                        <a:t>-1.8%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6" name="Image 0" descr="C:\Users\miral\OneDrive\Documents\IE643_project\results\figures\sensitivity.png"/>
          <p:cNvPicPr>
            <a:picLocks noChangeAspect="1"/>
          </p:cNvPicPr>
          <p:nvPr/>
        </p:nvPicPr>
        <p:blipFill>
          <a:blip r:embed="rId4"/>
          <a:stretch>
            <a:fillRect/>
          </a:stretch>
        </p:blipFill>
        <p:spPr>
          <a:xfrm>
            <a:off x="548640" y="3886568"/>
            <a:ext cx="5486400" cy="1919505"/>
          </a:xfrm>
          <a:prstGeom prst="rect">
            <a:avLst/>
          </a:prstGeom>
        </p:spPr>
      </p:pic>
      <p:sp>
        <p:nvSpPr>
          <p:cNvPr id="7" name="Shape 3"/>
          <p:cNvSpPr/>
          <p:nvPr/>
        </p:nvSpPr>
        <p:spPr>
          <a:xfrm>
            <a:off x="6355080" y="1371600"/>
            <a:ext cx="5285232" cy="1481328"/>
          </a:xfrm>
          <a:prstGeom prst="roundRect">
            <a:avLst>
              <a:gd name="adj" fmla="val 4938"/>
            </a:avLst>
          </a:prstGeom>
          <a:solidFill>
            <a:srgbClr val="F1F6F5"/>
          </a:solidFill>
          <a:ln w="12700">
            <a:solidFill>
              <a:srgbClr val="F1F6F5"/>
            </a:solidFill>
            <a:prstDash val="solid"/>
          </a:ln>
        </p:spPr>
      </p:sp>
      <p:sp>
        <p:nvSpPr>
          <p:cNvPr id="8" name="Shape 4"/>
          <p:cNvSpPr/>
          <p:nvPr/>
        </p:nvSpPr>
        <p:spPr>
          <a:xfrm>
            <a:off x="6537960" y="1554480"/>
            <a:ext cx="475488" cy="475488"/>
          </a:xfrm>
          <a:prstGeom prst="ellipse">
            <a:avLst/>
          </a:prstGeom>
          <a:solidFill>
            <a:srgbClr val="2F7F73"/>
          </a:solidFill>
          <a:ln w="12700">
            <a:solidFill>
              <a:srgbClr val="2F7F73"/>
            </a:solidFill>
            <a:prstDash val="solid"/>
          </a:ln>
        </p:spPr>
      </p:sp>
      <p:pic>
        <p:nvPicPr>
          <p:cNvPr id="9" name="Image 1" descr="preencoded.png"/>
          <p:cNvPicPr>
            <a:picLocks noChangeAspect="1"/>
          </p:cNvPicPr>
          <p:nvPr/>
        </p:nvPicPr>
        <p:blipFill>
          <a:blip r:embed="rId5"/>
          <a:stretch>
            <a:fillRect/>
          </a:stretch>
        </p:blipFill>
        <p:spPr>
          <a:xfrm>
            <a:off x="6661587" y="1678107"/>
            <a:ext cx="228234" cy="228234"/>
          </a:xfrm>
          <a:prstGeom prst="rect">
            <a:avLst/>
          </a:prstGeom>
        </p:spPr>
      </p:pic>
      <p:sp>
        <p:nvSpPr>
          <p:cNvPr id="10" name="Text 5"/>
          <p:cNvSpPr txBox="1"/>
          <p:nvPr/>
        </p:nvSpPr>
        <p:spPr>
          <a:xfrm>
            <a:off x="7178040" y="1517904"/>
            <a:ext cx="4343400" cy="320040"/>
          </a:xfrm>
          <a:prstGeom prst="rect">
            <a:avLst/>
          </a:prstGeom>
          <a:noFill/>
          <a:ln/>
        </p:spPr>
        <p:txBody>
          <a:bodyPr wrap="square" lIns="0" tIns="0" rIns="0" bIns="0" rtlCol="0" anchor="t"/>
          <a:lstStyle/>
          <a:p>
            <a:pPr marL="0" indent="0">
              <a:buNone/>
            </a:pPr>
            <a:r>
              <a:rPr lang="en-US" sz="1400" b="1" dirty="0">
                <a:solidFill>
                  <a:srgbClr val="1B2B31"/>
                </a:solidFill>
                <a:latin typeface="Calibri" pitchFamily="34" charset="0"/>
                <a:ea typeface="Calibri" pitchFamily="34" charset="-122"/>
                <a:cs typeface="Calibri" pitchFamily="34" charset="-120"/>
              </a:rPr>
              <a:t>Alignment is the working core</a:t>
            </a:r>
            <a:endParaRPr lang="en-US" sz="1400" dirty="0"/>
          </a:p>
        </p:txBody>
      </p:sp>
      <p:sp>
        <p:nvSpPr>
          <p:cNvPr id="11" name="Text 6"/>
          <p:cNvSpPr txBox="1"/>
          <p:nvPr/>
        </p:nvSpPr>
        <p:spPr>
          <a:xfrm>
            <a:off x="7178040" y="1847088"/>
            <a:ext cx="4343400" cy="96012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Removing the MMD + CORAL terms turns every gain into negative transfer. Matching feature distributions is what adapts the model.</a:t>
            </a:r>
            <a:endParaRPr lang="en-US" sz="1150" dirty="0"/>
          </a:p>
        </p:txBody>
      </p:sp>
      <p:sp>
        <p:nvSpPr>
          <p:cNvPr id="12" name="Shape 7"/>
          <p:cNvSpPr/>
          <p:nvPr/>
        </p:nvSpPr>
        <p:spPr>
          <a:xfrm>
            <a:off x="6355080" y="3017520"/>
            <a:ext cx="5285232" cy="1481328"/>
          </a:xfrm>
          <a:prstGeom prst="roundRect">
            <a:avLst>
              <a:gd name="adj" fmla="val 4938"/>
            </a:avLst>
          </a:prstGeom>
          <a:solidFill>
            <a:srgbClr val="F1F6F5"/>
          </a:solidFill>
          <a:ln w="12700">
            <a:solidFill>
              <a:srgbClr val="F1F6F5"/>
            </a:solidFill>
            <a:prstDash val="solid"/>
          </a:ln>
        </p:spPr>
      </p:sp>
      <p:sp>
        <p:nvSpPr>
          <p:cNvPr id="13" name="Shape 8"/>
          <p:cNvSpPr/>
          <p:nvPr/>
        </p:nvSpPr>
        <p:spPr>
          <a:xfrm>
            <a:off x="6537960" y="3200400"/>
            <a:ext cx="475488" cy="475488"/>
          </a:xfrm>
          <a:prstGeom prst="ellipse">
            <a:avLst/>
          </a:prstGeom>
          <a:solidFill>
            <a:srgbClr val="D98A1E"/>
          </a:solidFill>
          <a:ln w="12700">
            <a:solidFill>
              <a:srgbClr val="D98A1E"/>
            </a:solidFill>
            <a:prstDash val="solid"/>
          </a:ln>
        </p:spPr>
      </p:sp>
      <p:pic>
        <p:nvPicPr>
          <p:cNvPr id="14" name="Image 2" descr="preencoded.png"/>
          <p:cNvPicPr>
            <a:picLocks noChangeAspect="1"/>
          </p:cNvPicPr>
          <p:nvPr/>
        </p:nvPicPr>
        <p:blipFill>
          <a:blip r:embed="rId6"/>
          <a:stretch>
            <a:fillRect/>
          </a:stretch>
        </p:blipFill>
        <p:spPr>
          <a:xfrm>
            <a:off x="6661587" y="3324027"/>
            <a:ext cx="228234" cy="228234"/>
          </a:xfrm>
          <a:prstGeom prst="rect">
            <a:avLst/>
          </a:prstGeom>
        </p:spPr>
      </p:pic>
      <p:sp>
        <p:nvSpPr>
          <p:cNvPr id="15" name="Text 9"/>
          <p:cNvSpPr txBox="1"/>
          <p:nvPr/>
        </p:nvSpPr>
        <p:spPr>
          <a:xfrm>
            <a:off x="7178040" y="3163824"/>
            <a:ext cx="4343400" cy="320040"/>
          </a:xfrm>
          <a:prstGeom prst="rect">
            <a:avLst/>
          </a:prstGeom>
          <a:noFill/>
          <a:ln/>
        </p:spPr>
        <p:txBody>
          <a:bodyPr wrap="square" lIns="0" tIns="0" rIns="0" bIns="0" rtlCol="0" anchor="t"/>
          <a:lstStyle/>
          <a:p>
            <a:pPr marL="0" indent="0">
              <a:buNone/>
            </a:pPr>
            <a:r>
              <a:rPr lang="en-US" sz="1400" b="1" dirty="0">
                <a:solidFill>
                  <a:srgbClr val="1B2B31"/>
                </a:solidFill>
                <a:latin typeface="Calibri" pitchFamily="34" charset="0"/>
                <a:ea typeface="Calibri" pitchFamily="34" charset="-122"/>
                <a:cs typeface="Calibri" pitchFamily="34" charset="-120"/>
              </a:rPr>
              <a:t>SSL hurt; v2 is the next experiment</a:t>
            </a:r>
            <a:endParaRPr lang="en-US" sz="1400" dirty="0"/>
          </a:p>
        </p:txBody>
      </p:sp>
      <p:sp>
        <p:nvSpPr>
          <p:cNvPr id="16" name="Text 10"/>
          <p:cNvSpPr txBox="1"/>
          <p:nvPr/>
        </p:nvSpPr>
        <p:spPr>
          <a:xfrm>
            <a:off x="7178040" y="3493008"/>
            <a:ext cx="4343400" cy="96012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Mask-recon raised error as λ_R grew. A seed-0 v2 probe looks better (climate −6.2%, energy −7.8%, finance −1.8%) but is not locked until we run 3 seeds.</a:t>
            </a:r>
            <a:endParaRPr lang="en-US" sz="1150" dirty="0"/>
          </a:p>
        </p:txBody>
      </p:sp>
      <p:sp>
        <p:nvSpPr>
          <p:cNvPr id="17" name="Shape 11"/>
          <p:cNvSpPr/>
          <p:nvPr/>
        </p:nvSpPr>
        <p:spPr>
          <a:xfrm>
            <a:off x="6355080" y="4663440"/>
            <a:ext cx="5285232" cy="1481328"/>
          </a:xfrm>
          <a:prstGeom prst="roundRect">
            <a:avLst>
              <a:gd name="adj" fmla="val 4938"/>
            </a:avLst>
          </a:prstGeom>
          <a:solidFill>
            <a:srgbClr val="F1F6F5"/>
          </a:solidFill>
          <a:ln w="12700">
            <a:solidFill>
              <a:srgbClr val="F1F6F5"/>
            </a:solidFill>
            <a:prstDash val="solid"/>
          </a:ln>
        </p:spPr>
      </p:sp>
      <p:sp>
        <p:nvSpPr>
          <p:cNvPr id="5" name="Shape 12"/>
          <p:cNvSpPr/>
          <p:nvPr/>
        </p:nvSpPr>
        <p:spPr>
          <a:xfrm>
            <a:off x="6537960" y="4846320"/>
            <a:ext cx="475488" cy="475488"/>
          </a:xfrm>
          <a:prstGeom prst="ellipse">
            <a:avLst/>
          </a:prstGeom>
          <a:solidFill>
            <a:srgbClr val="2F7F73"/>
          </a:solidFill>
          <a:ln w="12700">
            <a:solidFill>
              <a:srgbClr val="2F7F73"/>
            </a:solidFill>
            <a:prstDash val="solid"/>
          </a:ln>
        </p:spPr>
      </p:sp>
      <p:pic>
        <p:nvPicPr>
          <p:cNvPr id="19" name="Image 3" descr="preencoded.png"/>
          <p:cNvPicPr>
            <a:picLocks noChangeAspect="1"/>
          </p:cNvPicPr>
          <p:nvPr/>
        </p:nvPicPr>
        <p:blipFill>
          <a:blip r:embed="rId7"/>
          <a:stretch>
            <a:fillRect/>
          </a:stretch>
        </p:blipFill>
        <p:spPr>
          <a:xfrm>
            <a:off x="6661587" y="4969947"/>
            <a:ext cx="228234" cy="228234"/>
          </a:xfrm>
          <a:prstGeom prst="rect">
            <a:avLst/>
          </a:prstGeom>
        </p:spPr>
      </p:pic>
      <p:sp>
        <p:nvSpPr>
          <p:cNvPr id="20" name="Text 13"/>
          <p:cNvSpPr txBox="1"/>
          <p:nvPr/>
        </p:nvSpPr>
        <p:spPr>
          <a:xfrm>
            <a:off x="7178040" y="4809744"/>
            <a:ext cx="4343400" cy="320040"/>
          </a:xfrm>
          <a:prstGeom prst="rect">
            <a:avLst/>
          </a:prstGeom>
          <a:noFill/>
          <a:ln/>
        </p:spPr>
        <p:txBody>
          <a:bodyPr wrap="square" lIns="0" tIns="0" rIns="0" bIns="0" rtlCol="0" anchor="t"/>
          <a:lstStyle/>
          <a:p>
            <a:pPr marL="0" indent="0">
              <a:buNone/>
            </a:pPr>
            <a:r>
              <a:rPr lang="en-US" sz="1400" b="1" dirty="0">
                <a:solidFill>
                  <a:srgbClr val="1B2B31"/>
                </a:solidFill>
                <a:latin typeface="Calibri" pitchFamily="34" charset="0"/>
                <a:ea typeface="Calibri" pitchFamily="34" charset="-122"/>
                <a:cs typeface="Calibri" pitchFamily="34" charset="-120"/>
              </a:rPr>
              <a:t>Anchor helps where the shift is strong</a:t>
            </a:r>
            <a:endParaRPr lang="en-US" sz="1400" dirty="0"/>
          </a:p>
        </p:txBody>
      </p:sp>
      <p:sp>
        <p:nvSpPr>
          <p:cNvPr id="21" name="Text 14"/>
          <p:cNvSpPr txBox="1"/>
          <p:nvPr/>
        </p:nvSpPr>
        <p:spPr>
          <a:xfrm>
            <a:off x="7178040" y="5138928"/>
            <a:ext cx="4343400" cy="960120"/>
          </a:xfrm>
          <a:prstGeom prst="rect">
            <a:avLst/>
          </a:prstGeom>
          <a:noFill/>
          <a:ln/>
        </p:spPr>
        <p:txBody>
          <a:bodyPr wrap="square" lIns="0" tIns="0" rIns="0" bIns="0" rtlCol="0" anchor="t"/>
          <a:lstStyle/>
          <a:p>
            <a:pPr marL="0" indent="0">
              <a:buNone/>
            </a:pPr>
            <a:r>
              <a:rPr lang="en-US" sz="1150" dirty="0">
                <a:solidFill>
                  <a:srgbClr val="4F5F65"/>
                </a:solidFill>
                <a:latin typeface="Calibri" pitchFamily="34" charset="0"/>
                <a:ea typeface="Calibri" pitchFamily="34" charset="-122"/>
                <a:cs typeface="Calibri" pitchFamily="34" charset="-120"/>
              </a:rPr>
              <a:t>On energy the anchor turns −0.1% into −3.3%; DANN or CORAL alone cause negative transfer. Finance has little to gain (oracle only −2.4%).</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08 · INTERFACE PROTOTYPE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Working demo — still to polish before the intensive assessment</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sp>
        <p:nvSpPr>
          <p:cNvPr id="5" name="Shape 3"/>
          <p:cNvSpPr/>
          <p:nvPr/>
        </p:nvSpPr>
        <p:spPr>
          <a:xfrm>
            <a:off x="548640" y="1417320"/>
            <a:ext cx="6858000" cy="4800600"/>
          </a:xfrm>
          <a:prstGeom prst="roundRect">
            <a:avLst>
              <a:gd name="adj" fmla="val 1143"/>
            </a:avLst>
          </a:prstGeom>
          <a:solidFill>
            <a:srgbClr val="F1F6F5"/>
          </a:solidFill>
          <a:ln w="12700">
            <a:solidFill>
              <a:srgbClr val="CFDAD8"/>
            </a:solidFill>
            <a:prstDash val="solid"/>
          </a:ln>
        </p:spPr>
      </p:sp>
      <p:pic>
        <p:nvPicPr>
          <p:cNvPr id="6" name="Image 0" descr="C:\Users\miral\OneDrive\Documents\IE643_project\presentation\assets\app_screenshot.png"/>
          <p:cNvPicPr>
            <a:picLocks noChangeAspect="1"/>
          </p:cNvPicPr>
          <p:nvPr/>
        </p:nvPicPr>
        <p:blipFill>
          <a:blip r:embed="rId4"/>
          <a:stretch>
            <a:fillRect/>
          </a:stretch>
        </p:blipFill>
        <p:spPr>
          <a:xfrm>
            <a:off x="679269" y="1508760"/>
            <a:ext cx="6596743" cy="4617720"/>
          </a:xfrm>
          <a:prstGeom prst="rect">
            <a:avLst/>
          </a:prstGeom>
        </p:spPr>
      </p:pic>
      <p:sp>
        <p:nvSpPr>
          <p:cNvPr id="7" name="Shape 4"/>
          <p:cNvSpPr/>
          <p:nvPr/>
        </p:nvSpPr>
        <p:spPr>
          <a:xfrm>
            <a:off x="7680960" y="1508760"/>
            <a:ext cx="457200" cy="457200"/>
          </a:xfrm>
          <a:prstGeom prst="ellipse">
            <a:avLst/>
          </a:prstGeom>
          <a:solidFill>
            <a:srgbClr val="2F7F73"/>
          </a:solidFill>
          <a:ln w="12700">
            <a:solidFill>
              <a:srgbClr val="2F7F73"/>
            </a:solidFill>
            <a:prstDash val="solid"/>
          </a:ln>
        </p:spPr>
      </p:sp>
      <p:pic>
        <p:nvPicPr>
          <p:cNvPr id="8" name="Image 1" descr="preencoded.png"/>
          <p:cNvPicPr>
            <a:picLocks noChangeAspect="1"/>
          </p:cNvPicPr>
          <p:nvPr/>
        </p:nvPicPr>
        <p:blipFill>
          <a:blip r:embed="rId5"/>
          <a:stretch>
            <a:fillRect/>
          </a:stretch>
        </p:blipFill>
        <p:spPr>
          <a:xfrm>
            <a:off x="7799832" y="1627632"/>
            <a:ext cx="219456" cy="219456"/>
          </a:xfrm>
          <a:prstGeom prst="rect">
            <a:avLst/>
          </a:prstGeom>
        </p:spPr>
      </p:pic>
      <p:sp>
        <p:nvSpPr>
          <p:cNvPr id="9" name="Text 5"/>
          <p:cNvSpPr txBox="1"/>
          <p:nvPr/>
        </p:nvSpPr>
        <p:spPr>
          <a:xfrm>
            <a:off x="8275320" y="1463040"/>
            <a:ext cx="3364992" cy="960120"/>
          </a:xfrm>
          <a:prstGeom prst="rect">
            <a:avLst/>
          </a:prstGeom>
          <a:noFill/>
          <a:ln/>
        </p:spPr>
        <p:txBody>
          <a:bodyPr wrap="square" lIns="0" tIns="0" rIns="0" bIns="0" rtlCol="0" anchor="t"/>
          <a:lstStyle/>
          <a:p>
            <a:pPr marL="0" indent="0">
              <a:buNone/>
            </a:pPr>
            <a:r>
              <a:rPr lang="en-US" sz="1200" dirty="0">
                <a:solidFill>
                  <a:srgbClr val="4F5F65"/>
                </a:solidFill>
                <a:latin typeface="Calibri" pitchFamily="34" charset="0"/>
                <a:ea typeface="Calibri" pitchFamily="34" charset="-122"/>
                <a:cs typeface="Calibri" pitchFamily="34" charset="-120"/>
              </a:rPr>
              <a:t>Pick benchmark and domain, then upload a multivariate CSV (or use the bundled samples). Raw OHLCV is converted to features automatically.</a:t>
            </a:r>
            <a:endParaRPr lang="en-US" sz="1200" dirty="0"/>
          </a:p>
        </p:txBody>
      </p:sp>
      <p:sp>
        <p:nvSpPr>
          <p:cNvPr id="10" name="Shape 6"/>
          <p:cNvSpPr/>
          <p:nvPr/>
        </p:nvSpPr>
        <p:spPr>
          <a:xfrm>
            <a:off x="7680960" y="2587752"/>
            <a:ext cx="457200" cy="457200"/>
          </a:xfrm>
          <a:prstGeom prst="ellipse">
            <a:avLst/>
          </a:prstGeom>
          <a:solidFill>
            <a:srgbClr val="D98A1E"/>
          </a:solidFill>
          <a:ln w="12700">
            <a:solidFill>
              <a:srgbClr val="D98A1E"/>
            </a:solidFill>
            <a:prstDash val="solid"/>
          </a:ln>
        </p:spPr>
      </p:sp>
      <p:pic>
        <p:nvPicPr>
          <p:cNvPr id="11" name="Image 2" descr="preencoded.png"/>
          <p:cNvPicPr>
            <a:picLocks noChangeAspect="1"/>
          </p:cNvPicPr>
          <p:nvPr/>
        </p:nvPicPr>
        <p:blipFill>
          <a:blip r:embed="rId6"/>
          <a:stretch>
            <a:fillRect/>
          </a:stretch>
        </p:blipFill>
        <p:spPr>
          <a:xfrm>
            <a:off x="7799832" y="2706624"/>
            <a:ext cx="219456" cy="219456"/>
          </a:xfrm>
          <a:prstGeom prst="rect">
            <a:avLst/>
          </a:prstGeom>
        </p:spPr>
      </p:pic>
      <p:sp>
        <p:nvSpPr>
          <p:cNvPr id="12" name="Text 7"/>
          <p:cNvSpPr txBox="1"/>
          <p:nvPr/>
        </p:nvSpPr>
        <p:spPr>
          <a:xfrm>
            <a:off x="8275320" y="2542032"/>
            <a:ext cx="3364992" cy="960120"/>
          </a:xfrm>
          <a:prstGeom prst="rect">
            <a:avLst/>
          </a:prstGeom>
          <a:noFill/>
          <a:ln/>
        </p:spPr>
        <p:txBody>
          <a:bodyPr wrap="square" lIns="0" tIns="0" rIns="0" bIns="0" rtlCol="0" anchor="t"/>
          <a:lstStyle/>
          <a:p>
            <a:pPr marL="0" indent="0">
              <a:buNone/>
            </a:pPr>
            <a:r>
              <a:rPr lang="en-US" sz="1200" dirty="0">
                <a:solidFill>
                  <a:srgbClr val="4F5F65"/>
                </a:solidFill>
                <a:latin typeface="Calibri" pitchFamily="34" charset="0"/>
                <a:ea typeface="Calibri" pitchFamily="34" charset="-122"/>
                <a:cs typeface="Calibri" pitchFamily="34" charset="-120"/>
              </a:rPr>
              <a:t>Per-variable plots of input, actual and forecast. Domain 2 can overlay the un-adapted source model (prototype comparison).</a:t>
            </a:r>
            <a:endParaRPr lang="en-US" sz="1200" dirty="0"/>
          </a:p>
        </p:txBody>
      </p:sp>
      <p:sp>
        <p:nvSpPr>
          <p:cNvPr id="13" name="Shape 8"/>
          <p:cNvSpPr/>
          <p:nvPr/>
        </p:nvSpPr>
        <p:spPr>
          <a:xfrm>
            <a:off x="7680960" y="3666744"/>
            <a:ext cx="457200" cy="457200"/>
          </a:xfrm>
          <a:prstGeom prst="ellipse">
            <a:avLst/>
          </a:prstGeom>
          <a:solidFill>
            <a:srgbClr val="2F7F73"/>
          </a:solidFill>
          <a:ln w="12700">
            <a:solidFill>
              <a:srgbClr val="2F7F73"/>
            </a:solidFill>
            <a:prstDash val="solid"/>
          </a:ln>
        </p:spPr>
      </p:sp>
      <p:pic>
        <p:nvPicPr>
          <p:cNvPr id="14" name="Image 3" descr="preencoded.png"/>
          <p:cNvPicPr>
            <a:picLocks noChangeAspect="1"/>
          </p:cNvPicPr>
          <p:nvPr/>
        </p:nvPicPr>
        <p:blipFill>
          <a:blip r:embed="rId7"/>
          <a:stretch>
            <a:fillRect/>
          </a:stretch>
        </p:blipFill>
        <p:spPr>
          <a:xfrm>
            <a:off x="7799832" y="3785616"/>
            <a:ext cx="219456" cy="219456"/>
          </a:xfrm>
          <a:prstGeom prst="rect">
            <a:avLst/>
          </a:prstGeom>
        </p:spPr>
      </p:pic>
      <p:sp>
        <p:nvSpPr>
          <p:cNvPr id="15" name="Text 9"/>
          <p:cNvSpPr txBox="1"/>
          <p:nvPr/>
        </p:nvSpPr>
        <p:spPr>
          <a:xfrm>
            <a:off x="8275320" y="3621024"/>
            <a:ext cx="3364992" cy="960120"/>
          </a:xfrm>
          <a:prstGeom prst="rect">
            <a:avLst/>
          </a:prstGeom>
          <a:noFill/>
          <a:ln/>
        </p:spPr>
        <p:txBody>
          <a:bodyPr wrap="square" lIns="0" tIns="0" rIns="0" bIns="0" rtlCol="0" anchor="t"/>
          <a:lstStyle/>
          <a:p>
            <a:pPr marL="0" indent="0">
              <a:buNone/>
            </a:pPr>
            <a:r>
              <a:rPr lang="en-US" sz="1200" dirty="0">
                <a:solidFill>
                  <a:srgbClr val="4F5F65"/>
                </a:solidFill>
                <a:latin typeface="Calibri" pitchFamily="34" charset="0"/>
                <a:ea typeface="Calibri" pitchFamily="34" charset="-122"/>
                <a:cs typeface="Calibri" pitchFamily="34" charset="-120"/>
              </a:rPr>
              <a:t>Window-level MSE, MAE, MASE and key-variable RMSE, plus a whole-file rolling evaluation against baselines.</a:t>
            </a:r>
            <a:endParaRPr lang="en-US" sz="1200" dirty="0"/>
          </a:p>
        </p:txBody>
      </p:sp>
      <p:sp>
        <p:nvSpPr>
          <p:cNvPr id="16" name="Shape 10"/>
          <p:cNvSpPr/>
          <p:nvPr/>
        </p:nvSpPr>
        <p:spPr>
          <a:xfrm>
            <a:off x="7680960" y="4745736"/>
            <a:ext cx="457200" cy="457200"/>
          </a:xfrm>
          <a:prstGeom prst="ellipse">
            <a:avLst/>
          </a:prstGeom>
          <a:solidFill>
            <a:srgbClr val="D98A1E"/>
          </a:solidFill>
          <a:ln w="12700">
            <a:solidFill>
              <a:srgbClr val="D98A1E"/>
            </a:solidFill>
            <a:prstDash val="solid"/>
          </a:ln>
        </p:spPr>
      </p:sp>
      <p:pic>
        <p:nvPicPr>
          <p:cNvPr id="17" name="Image 4" descr="preencoded.png"/>
          <p:cNvPicPr>
            <a:picLocks noChangeAspect="1"/>
          </p:cNvPicPr>
          <p:nvPr/>
        </p:nvPicPr>
        <p:blipFill>
          <a:blip r:embed="rId8"/>
          <a:stretch>
            <a:fillRect/>
          </a:stretch>
        </p:blipFill>
        <p:spPr>
          <a:xfrm>
            <a:off x="7799832" y="4864608"/>
            <a:ext cx="219456" cy="219456"/>
          </a:xfrm>
          <a:prstGeom prst="rect">
            <a:avLst/>
          </a:prstGeom>
        </p:spPr>
      </p:pic>
      <p:sp>
        <p:nvSpPr>
          <p:cNvPr id="18" name="Text 11"/>
          <p:cNvSpPr txBox="1"/>
          <p:nvPr/>
        </p:nvSpPr>
        <p:spPr>
          <a:xfrm>
            <a:off x="8275320" y="4700016"/>
            <a:ext cx="3364992" cy="960120"/>
          </a:xfrm>
          <a:prstGeom prst="rect">
            <a:avLst/>
          </a:prstGeom>
          <a:noFill/>
          <a:ln/>
        </p:spPr>
        <p:txBody>
          <a:bodyPr wrap="square" lIns="0" tIns="0" rIns="0" bIns="0" rtlCol="0" anchor="t"/>
          <a:lstStyle/>
          <a:p>
            <a:pPr marL="0" indent="0">
              <a:buNone/>
            </a:pPr>
            <a:r>
              <a:rPr lang="en-US" sz="1200" dirty="0">
                <a:solidFill>
                  <a:srgbClr val="4F5F65"/>
                </a:solidFill>
                <a:latin typeface="Calibri" pitchFamily="34" charset="0"/>
                <a:ea typeface="Calibri" pitchFamily="34" charset="-122"/>
                <a:cs typeface="Calibri" pitchFamily="34" charset="-120"/>
              </a:rPr>
              <a:t>Still to add: batch upload, per-variable metric cards, uncertainty bands, and a cleaner Domain-2 comparison.</a:t>
            </a:r>
            <a:endParaRPr lang="en-US" sz="1200" dirty="0"/>
          </a:p>
        </p:txBody>
      </p:sp>
      <p:sp>
        <p:nvSpPr>
          <p:cNvPr id="19" name="Shape 12"/>
          <p:cNvSpPr/>
          <p:nvPr/>
        </p:nvSpPr>
        <p:spPr>
          <a:xfrm>
            <a:off x="7680960" y="5806440"/>
            <a:ext cx="3959352" cy="411480"/>
          </a:xfrm>
          <a:prstGeom prst="roundRect">
            <a:avLst>
              <a:gd name="adj" fmla="val 17778"/>
            </a:avLst>
          </a:prstGeom>
          <a:solidFill>
            <a:srgbClr val="16232A"/>
          </a:solidFill>
          <a:ln w="12700">
            <a:solidFill>
              <a:srgbClr val="16232A"/>
            </a:solidFill>
            <a:prstDash val="solid"/>
          </a:ln>
        </p:spPr>
      </p:sp>
      <p:sp>
        <p:nvSpPr>
          <p:cNvPr id="20" name="Text 13"/>
          <p:cNvSpPr txBox="1"/>
          <p:nvPr/>
        </p:nvSpPr>
        <p:spPr>
          <a:xfrm>
            <a:off x="7680960" y="5806440"/>
            <a:ext cx="3959352" cy="411480"/>
          </a:xfrm>
          <a:prstGeom prst="rect">
            <a:avLst/>
          </a:prstGeom>
          <a:noFill/>
          <a:ln/>
        </p:spPr>
        <p:txBody>
          <a:bodyPr wrap="square" lIns="0" tIns="0" rIns="0" bIns="0" rtlCol="0" anchor="ctr"/>
          <a:lstStyle/>
          <a:p>
            <a:pPr marL="0" indent="0" algn="ctr">
              <a:buNone/>
            </a:pPr>
            <a:r>
              <a:rPr lang="en-US" sz="1300" dirty="0">
                <a:solidFill>
                  <a:srgbClr val="FFFFFF"/>
                </a:solidFill>
                <a:latin typeface="Consolas" pitchFamily="34" charset="0"/>
                <a:ea typeface="Consolas" pitchFamily="34" charset="-122"/>
                <a:cs typeface="Consolas" pitchFamily="34" charset="-120"/>
              </a:rPr>
              <a:t>streamlit run app/app.py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08 · PLAN AHEAD</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Roadmap: sub-tasks, status and next steps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sp>
        <p:nvSpPr>
          <p:cNvPr id="5" name="Shape 3"/>
          <p:cNvSpPr/>
          <p:nvPr/>
        </p:nvSpPr>
        <p:spPr>
          <a:xfrm>
            <a:off x="594360" y="1554480"/>
            <a:ext cx="384048" cy="384048"/>
          </a:xfrm>
          <a:prstGeom prst="ellipse">
            <a:avLst/>
          </a:prstGeom>
          <a:solidFill>
            <a:srgbClr val="2F7F73"/>
          </a:solidFill>
          <a:ln w="12700">
            <a:solidFill>
              <a:srgbClr val="2F7F73"/>
            </a:solidFill>
            <a:prstDash val="solid"/>
          </a:ln>
        </p:spPr>
      </p:sp>
      <p:pic>
        <p:nvPicPr>
          <p:cNvPr id="6" name="Image 0" descr="preencoded.png"/>
          <p:cNvPicPr>
            <a:picLocks noChangeAspect="1"/>
          </p:cNvPicPr>
          <p:nvPr/>
        </p:nvPicPr>
        <p:blipFill>
          <a:blip r:embed="rId4"/>
          <a:stretch>
            <a:fillRect/>
          </a:stretch>
        </p:blipFill>
        <p:spPr>
          <a:xfrm>
            <a:off x="685800" y="1645920"/>
            <a:ext cx="201168" cy="201168"/>
          </a:xfrm>
          <a:prstGeom prst="rect">
            <a:avLst/>
          </a:prstGeom>
        </p:spPr>
      </p:pic>
      <p:sp>
        <p:nvSpPr>
          <p:cNvPr id="7" name="Shape 4"/>
          <p:cNvSpPr/>
          <p:nvPr/>
        </p:nvSpPr>
        <p:spPr>
          <a:xfrm>
            <a:off x="1051560" y="1746504"/>
            <a:ext cx="3154680" cy="0"/>
          </a:xfrm>
          <a:prstGeom prst="line">
            <a:avLst/>
          </a:prstGeom>
          <a:noFill/>
          <a:ln w="25400">
            <a:solidFill>
              <a:srgbClr val="CFDAD8"/>
            </a:solidFill>
            <a:prstDash val="dash"/>
          </a:ln>
        </p:spPr>
      </p:sp>
      <p:sp>
        <p:nvSpPr>
          <p:cNvPr id="8" name="Text 5"/>
          <p:cNvSpPr txBox="1"/>
          <p:nvPr/>
        </p:nvSpPr>
        <p:spPr>
          <a:xfrm>
            <a:off x="1097280" y="1572768"/>
            <a:ext cx="3017520" cy="365760"/>
          </a:xfrm>
          <a:prstGeom prst="rect">
            <a:avLst/>
          </a:prstGeom>
          <a:noFill/>
          <a:ln/>
        </p:spPr>
        <p:txBody>
          <a:bodyPr wrap="square" lIns="0" tIns="0" rIns="0" bIns="0" rtlCol="0" anchor="t"/>
          <a:lstStyle/>
          <a:p>
            <a:pPr marL="0" indent="0">
              <a:buNone/>
            </a:pPr>
            <a:r>
              <a:rPr lang="en-US" sz="1600" b="1" dirty="0">
                <a:solidFill>
                  <a:srgbClr val="2F7F73"/>
                </a:solidFill>
                <a:latin typeface="Calibri" pitchFamily="34" charset="0"/>
                <a:ea typeface="Calibri" pitchFamily="34" charset="-122"/>
                <a:cs typeface="Calibri" pitchFamily="34" charset="-120"/>
              </a:rPr>
              <a:t>First half (done)</a:t>
            </a:r>
            <a:endParaRPr lang="en-US" sz="1600" dirty="0"/>
          </a:p>
        </p:txBody>
      </p:sp>
      <p:sp>
        <p:nvSpPr>
          <p:cNvPr id="9" name="Shape 6"/>
          <p:cNvSpPr/>
          <p:nvPr/>
        </p:nvSpPr>
        <p:spPr>
          <a:xfrm>
            <a:off x="548640" y="2148840"/>
            <a:ext cx="3566160" cy="2788920"/>
          </a:xfrm>
          <a:prstGeom prst="roundRect">
            <a:avLst>
              <a:gd name="adj" fmla="val 2623"/>
            </a:avLst>
          </a:prstGeom>
          <a:solidFill>
            <a:srgbClr val="E6F0EE"/>
          </a:solidFill>
          <a:ln w="12700">
            <a:solidFill>
              <a:srgbClr val="E6F0EE"/>
            </a:solidFill>
            <a:prstDash val="solid"/>
          </a:ln>
        </p:spPr>
      </p:sp>
      <p:sp>
        <p:nvSpPr>
          <p:cNvPr id="10" name="Text 7"/>
          <p:cNvSpPr txBox="1"/>
          <p:nvPr/>
        </p:nvSpPr>
        <p:spPr>
          <a:xfrm>
            <a:off x="731520" y="2286000"/>
            <a:ext cx="320040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Problem study and literature review</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3 domain-pair datasets curated (pending TA)</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LiteTCN + CARE-DA v1 first campaign (3 seeds)</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Metrics, logs, plots defined</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Interface prototype (both domains)</a:t>
            </a:r>
            <a:endParaRPr lang="en-US" sz="1250" dirty="0"/>
          </a:p>
        </p:txBody>
      </p:sp>
      <p:sp>
        <p:nvSpPr>
          <p:cNvPr id="11" name="Shape 8"/>
          <p:cNvSpPr/>
          <p:nvPr/>
        </p:nvSpPr>
        <p:spPr>
          <a:xfrm>
            <a:off x="4343400" y="1554480"/>
            <a:ext cx="384048" cy="384048"/>
          </a:xfrm>
          <a:prstGeom prst="ellipse">
            <a:avLst/>
          </a:prstGeom>
          <a:solidFill>
            <a:srgbClr val="D98A1E"/>
          </a:solidFill>
          <a:ln w="12700">
            <a:solidFill>
              <a:srgbClr val="D98A1E"/>
            </a:solidFill>
            <a:prstDash val="solid"/>
          </a:ln>
        </p:spPr>
      </p:sp>
      <p:pic>
        <p:nvPicPr>
          <p:cNvPr id="12" name="Image 1" descr="preencoded.png"/>
          <p:cNvPicPr>
            <a:picLocks noChangeAspect="1"/>
          </p:cNvPicPr>
          <p:nvPr/>
        </p:nvPicPr>
        <p:blipFill>
          <a:blip r:embed="rId5"/>
          <a:stretch>
            <a:fillRect/>
          </a:stretch>
        </p:blipFill>
        <p:spPr>
          <a:xfrm>
            <a:off x="4434840" y="1645920"/>
            <a:ext cx="201168" cy="201168"/>
          </a:xfrm>
          <a:prstGeom prst="rect">
            <a:avLst/>
          </a:prstGeom>
        </p:spPr>
      </p:pic>
      <p:sp>
        <p:nvSpPr>
          <p:cNvPr id="13" name="Shape 9"/>
          <p:cNvSpPr/>
          <p:nvPr/>
        </p:nvSpPr>
        <p:spPr>
          <a:xfrm>
            <a:off x="4800600" y="1746504"/>
            <a:ext cx="3154680" cy="0"/>
          </a:xfrm>
          <a:prstGeom prst="line">
            <a:avLst/>
          </a:prstGeom>
          <a:noFill/>
          <a:ln w="25400">
            <a:solidFill>
              <a:srgbClr val="CFDAD8"/>
            </a:solidFill>
            <a:prstDash val="dash"/>
          </a:ln>
        </p:spPr>
      </p:sp>
      <p:sp>
        <p:nvSpPr>
          <p:cNvPr id="14" name="Text 10"/>
          <p:cNvSpPr txBox="1"/>
          <p:nvPr/>
        </p:nvSpPr>
        <p:spPr>
          <a:xfrm>
            <a:off x="4846320" y="1572768"/>
            <a:ext cx="3017520" cy="365760"/>
          </a:xfrm>
          <a:prstGeom prst="rect">
            <a:avLst/>
          </a:prstGeom>
          <a:noFill/>
          <a:ln/>
        </p:spPr>
        <p:txBody>
          <a:bodyPr wrap="square" lIns="0" tIns="0" rIns="0" bIns="0" rtlCol="0" anchor="t"/>
          <a:lstStyle/>
          <a:p>
            <a:pPr marL="0" indent="0">
              <a:buNone/>
            </a:pPr>
            <a:r>
              <a:rPr lang="en-US" sz="1600" b="1" dirty="0">
                <a:solidFill>
                  <a:srgbClr val="A5650F"/>
                </a:solidFill>
                <a:latin typeface="Calibri" pitchFamily="34" charset="0"/>
                <a:ea typeface="Calibri" pitchFamily="34" charset="-122"/>
                <a:cs typeface="Calibri" pitchFamily="34" charset="-120"/>
              </a:rPr>
              <a:t>Second half (next)</a:t>
            </a:r>
            <a:endParaRPr lang="en-US" sz="1600" dirty="0"/>
          </a:p>
        </p:txBody>
      </p:sp>
      <p:sp>
        <p:nvSpPr>
          <p:cNvPr id="15" name="Shape 11"/>
          <p:cNvSpPr/>
          <p:nvPr/>
        </p:nvSpPr>
        <p:spPr>
          <a:xfrm>
            <a:off x="4297680" y="2148840"/>
            <a:ext cx="3566160" cy="2788920"/>
          </a:xfrm>
          <a:prstGeom prst="roundRect">
            <a:avLst>
              <a:gd name="adj" fmla="val 2623"/>
            </a:avLst>
          </a:prstGeom>
          <a:solidFill>
            <a:srgbClr val="F1F6F5"/>
          </a:solidFill>
          <a:ln w="12700">
            <a:solidFill>
              <a:srgbClr val="F1F6F5"/>
            </a:solidFill>
            <a:prstDash val="solid"/>
          </a:ln>
        </p:spPr>
      </p:sp>
      <p:sp>
        <p:nvSpPr>
          <p:cNvPr id="16" name="Text 12"/>
          <p:cNvSpPr txBox="1"/>
          <p:nvPr/>
        </p:nvSpPr>
        <p:spPr>
          <a:xfrm>
            <a:off x="4480560" y="2286000"/>
            <a:ext cx="320040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Lock CARE-DA v2 over 3 seeds + ablations</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Unsupervised λ / checkpoint selection</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Polish the interface and write the full report</a:t>
            </a:r>
            <a:endParaRPr lang="en-US" sz="1250" dirty="0"/>
          </a:p>
        </p:txBody>
      </p:sp>
      <p:sp>
        <p:nvSpPr>
          <p:cNvPr id="17" name="Shape 13"/>
          <p:cNvSpPr/>
          <p:nvPr/>
        </p:nvSpPr>
        <p:spPr>
          <a:xfrm>
            <a:off x="8092440" y="1554480"/>
            <a:ext cx="384048" cy="384048"/>
          </a:xfrm>
          <a:prstGeom prst="ellipse">
            <a:avLst/>
          </a:prstGeom>
          <a:solidFill>
            <a:srgbClr val="4F5F65"/>
          </a:solidFill>
          <a:ln w="12700">
            <a:solidFill>
              <a:srgbClr val="4F5F65"/>
            </a:solidFill>
            <a:prstDash val="solid"/>
          </a:ln>
        </p:spPr>
      </p:sp>
      <p:pic>
        <p:nvPicPr>
          <p:cNvPr id="18" name="Image 2" descr="preencoded.png"/>
          <p:cNvPicPr>
            <a:picLocks noChangeAspect="1"/>
          </p:cNvPicPr>
          <p:nvPr/>
        </p:nvPicPr>
        <p:blipFill>
          <a:blip r:embed="rId6"/>
          <a:stretch>
            <a:fillRect/>
          </a:stretch>
        </p:blipFill>
        <p:spPr>
          <a:xfrm>
            <a:off x="8183880" y="1645920"/>
            <a:ext cx="201168" cy="201168"/>
          </a:xfrm>
          <a:prstGeom prst="rect">
            <a:avLst/>
          </a:prstGeom>
        </p:spPr>
      </p:pic>
      <p:sp>
        <p:nvSpPr>
          <p:cNvPr id="19" name="Text 14"/>
          <p:cNvSpPr txBox="1"/>
          <p:nvPr/>
        </p:nvSpPr>
        <p:spPr>
          <a:xfrm>
            <a:off x="8595360" y="1572768"/>
            <a:ext cx="3017520" cy="365760"/>
          </a:xfrm>
          <a:prstGeom prst="rect">
            <a:avLst/>
          </a:prstGeom>
          <a:noFill/>
          <a:ln/>
        </p:spPr>
        <p:txBody>
          <a:bodyPr wrap="square" lIns="0" tIns="0" rIns="0" bIns="0" rtlCol="0" anchor="t"/>
          <a:lstStyle/>
          <a:p>
            <a:pPr marL="0" indent="0">
              <a:buNone/>
            </a:pPr>
            <a:r>
              <a:rPr lang="en-US" sz="1600" b="1" dirty="0">
                <a:solidFill>
                  <a:srgbClr val="4F5F65"/>
                </a:solidFill>
                <a:latin typeface="Calibri" pitchFamily="34" charset="0"/>
                <a:ea typeface="Calibri" pitchFamily="34" charset="-122"/>
                <a:cs typeface="Calibri" pitchFamily="34" charset="-120"/>
              </a:rPr>
              <a:t>Before intensive assessment</a:t>
            </a:r>
            <a:endParaRPr lang="en-US" sz="1600" dirty="0"/>
          </a:p>
        </p:txBody>
      </p:sp>
      <p:sp>
        <p:nvSpPr>
          <p:cNvPr id="20" name="Shape 15"/>
          <p:cNvSpPr/>
          <p:nvPr/>
        </p:nvSpPr>
        <p:spPr>
          <a:xfrm>
            <a:off x="8046720" y="2148840"/>
            <a:ext cx="3566160" cy="2788920"/>
          </a:xfrm>
          <a:prstGeom prst="roundRect">
            <a:avLst>
              <a:gd name="adj" fmla="val 2623"/>
            </a:avLst>
          </a:prstGeom>
          <a:solidFill>
            <a:srgbClr val="F1F6F5"/>
          </a:solidFill>
          <a:ln w="12700">
            <a:solidFill>
              <a:srgbClr val="F1F6F5"/>
            </a:solidFill>
            <a:prstDash val="solid"/>
          </a:ln>
        </p:spPr>
      </p:sp>
      <p:sp>
        <p:nvSpPr>
          <p:cNvPr id="21" name="Text 16"/>
          <p:cNvSpPr txBox="1"/>
          <p:nvPr/>
        </p:nvSpPr>
        <p:spPr>
          <a:xfrm>
            <a:off x="8229600" y="2286000"/>
            <a:ext cx="320040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Stage-wise report (final version)</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Few-shot / extra-domain extras if time</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Recorded demo + live walkthrough</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Final presentation of locked results</a:t>
            </a:r>
            <a:endParaRPr lang="en-US" sz="1250" dirty="0"/>
          </a:p>
        </p:txBody>
      </p:sp>
      <p:sp>
        <p:nvSpPr>
          <p:cNvPr id="22" name="Text 17"/>
          <p:cNvSpPr txBox="1"/>
          <p:nvPr/>
        </p:nvSpPr>
        <p:spPr>
          <a:xfrm>
            <a:off x="548640" y="5120640"/>
            <a:ext cx="5486400" cy="320040"/>
          </a:xfrm>
          <a:prstGeom prst="rect">
            <a:avLst/>
          </a:prstGeom>
          <a:noFill/>
          <a:ln/>
        </p:spPr>
        <p:txBody>
          <a:bodyPr wrap="square" lIns="0" tIns="0" rIns="0" bIns="0" rtlCol="0" anchor="t"/>
          <a:lstStyle/>
          <a:p>
            <a:pPr marL="0" indent="0">
              <a:buNone/>
            </a:pPr>
            <a:r>
              <a:rPr lang="en-US" sz="1300" b="1" dirty="0">
                <a:solidFill>
                  <a:srgbClr val="2F7F73"/>
                </a:solidFill>
                <a:latin typeface="Calibri" pitchFamily="34" charset="0"/>
                <a:ea typeface="Calibri" pitchFamily="34" charset="-122"/>
                <a:cs typeface="Calibri" pitchFamily="34" charset="-120"/>
              </a:rPr>
              <a:t>Course deliverables status</a:t>
            </a:r>
            <a:endParaRPr lang="en-US" sz="1300" dirty="0"/>
          </a:p>
        </p:txBody>
      </p:sp>
      <p:sp>
        <p:nvSpPr>
          <p:cNvPr id="23" name="Shape 18"/>
          <p:cNvSpPr/>
          <p:nvPr/>
        </p:nvSpPr>
        <p:spPr>
          <a:xfrm>
            <a:off x="548640" y="5486400"/>
            <a:ext cx="1755648" cy="658368"/>
          </a:xfrm>
          <a:prstGeom prst="roundRect">
            <a:avLst>
              <a:gd name="adj" fmla="val 11111"/>
            </a:avLst>
          </a:prstGeom>
          <a:solidFill>
            <a:srgbClr val="D98A1E"/>
          </a:solidFill>
          <a:ln w="12700">
            <a:solidFill>
              <a:srgbClr val="D98A1E"/>
            </a:solidFill>
            <a:prstDash val="solid"/>
          </a:ln>
        </p:spPr>
      </p:sp>
      <p:sp>
        <p:nvSpPr>
          <p:cNvPr id="24" name="Text 19"/>
          <p:cNvSpPr txBox="1"/>
          <p:nvPr/>
        </p:nvSpPr>
        <p:spPr>
          <a:xfrm>
            <a:off x="640080" y="5513832"/>
            <a:ext cx="1600200" cy="603504"/>
          </a:xfrm>
          <a:prstGeom prst="rect">
            <a:avLst/>
          </a:prstGeom>
          <a:noFill/>
          <a:ln/>
        </p:spPr>
        <p:txBody>
          <a:bodyPr wrap="square" lIns="0" tIns="0" rIns="0" bIns="0" rtlCol="0" anchor="ctr"/>
          <a:lstStyle/>
          <a:p>
            <a:pPr marL="0" indent="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marL="0" indent="0">
              <a:buNone/>
            </a:pPr>
            <a:r>
              <a:rPr lang="en-US" sz="1100" dirty="0">
                <a:solidFill>
                  <a:srgbClr val="16232A"/>
                </a:solidFill>
                <a:latin typeface="Calibri" pitchFamily="34" charset="0"/>
                <a:ea typeface="Calibri" pitchFamily="34" charset="-122"/>
                <a:cs typeface="Calibri" pitchFamily="34" charset="-120"/>
              </a:rPr>
              <a:t>Domain 1 + adapted models</a:t>
            </a:r>
            <a:endParaRPr lang="en-US" sz="1400" dirty="0"/>
          </a:p>
        </p:txBody>
      </p:sp>
      <p:sp>
        <p:nvSpPr>
          <p:cNvPr id="25" name="Shape 20"/>
          <p:cNvSpPr/>
          <p:nvPr/>
        </p:nvSpPr>
        <p:spPr>
          <a:xfrm>
            <a:off x="2414016" y="5486400"/>
            <a:ext cx="1755648" cy="658368"/>
          </a:xfrm>
          <a:prstGeom prst="roundRect">
            <a:avLst>
              <a:gd name="adj" fmla="val 11111"/>
            </a:avLst>
          </a:prstGeom>
          <a:solidFill>
            <a:srgbClr val="D98A1E"/>
          </a:solidFill>
          <a:ln w="12700">
            <a:solidFill>
              <a:srgbClr val="D98A1E"/>
            </a:solidFill>
            <a:prstDash val="solid"/>
          </a:ln>
        </p:spPr>
      </p:sp>
      <p:sp>
        <p:nvSpPr>
          <p:cNvPr id="26" name="Text 21"/>
          <p:cNvSpPr txBox="1"/>
          <p:nvPr/>
        </p:nvSpPr>
        <p:spPr>
          <a:xfrm>
            <a:off x="2505456" y="5513832"/>
            <a:ext cx="1600200" cy="603504"/>
          </a:xfrm>
          <a:prstGeom prst="rect">
            <a:avLst/>
          </a:prstGeom>
          <a:noFill/>
          <a:ln/>
        </p:spPr>
        <p:txBody>
          <a:bodyPr wrap="square" lIns="0" tIns="0" rIns="0" bIns="0" rtlCol="0" anchor="ctr"/>
          <a:lstStyle/>
          <a:p>
            <a:pPr marL="0" indent="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marL="0" indent="0">
              <a:buNone/>
            </a:pPr>
            <a:r>
              <a:rPr lang="en-US" sz="1100" dirty="0">
                <a:solidFill>
                  <a:srgbClr val="16232A"/>
                </a:solidFill>
                <a:latin typeface="Calibri" pitchFamily="34" charset="0"/>
                <a:ea typeface="Calibri" pitchFamily="34" charset="-122"/>
                <a:cs typeface="Calibri" pitchFamily="34" charset="-120"/>
              </a:rPr>
              <a:t>Interface: Domain 1</a:t>
            </a:r>
            <a:endParaRPr lang="en-US" sz="1400" dirty="0"/>
          </a:p>
        </p:txBody>
      </p:sp>
      <p:sp>
        <p:nvSpPr>
          <p:cNvPr id="27" name="Shape 22"/>
          <p:cNvSpPr/>
          <p:nvPr/>
        </p:nvSpPr>
        <p:spPr>
          <a:xfrm>
            <a:off x="4279392" y="5486400"/>
            <a:ext cx="1755648" cy="658368"/>
          </a:xfrm>
          <a:prstGeom prst="roundRect">
            <a:avLst>
              <a:gd name="adj" fmla="val 11111"/>
            </a:avLst>
          </a:prstGeom>
          <a:solidFill>
            <a:srgbClr val="D98A1E"/>
          </a:solidFill>
          <a:ln w="12700">
            <a:solidFill>
              <a:srgbClr val="D98A1E"/>
            </a:solidFill>
            <a:prstDash val="solid"/>
          </a:ln>
        </p:spPr>
      </p:sp>
      <p:sp>
        <p:nvSpPr>
          <p:cNvPr id="28" name="Text 23"/>
          <p:cNvSpPr txBox="1"/>
          <p:nvPr/>
        </p:nvSpPr>
        <p:spPr>
          <a:xfrm>
            <a:off x="4370832" y="5513832"/>
            <a:ext cx="1600200" cy="603504"/>
          </a:xfrm>
          <a:prstGeom prst="rect">
            <a:avLst/>
          </a:prstGeom>
          <a:noFill/>
          <a:ln/>
        </p:spPr>
        <p:txBody>
          <a:bodyPr wrap="square" lIns="0" tIns="0" rIns="0" bIns="0" rtlCol="0" anchor="ctr"/>
          <a:lstStyle/>
          <a:p>
            <a:pPr marL="0" indent="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marL="0" indent="0">
              <a:buNone/>
            </a:pPr>
            <a:r>
              <a:rPr lang="en-US" sz="1100" dirty="0">
                <a:solidFill>
                  <a:srgbClr val="16232A"/>
                </a:solidFill>
                <a:latin typeface="Calibri" pitchFamily="34" charset="0"/>
                <a:ea typeface="Calibri" pitchFamily="34" charset="-122"/>
                <a:cs typeface="Calibri" pitchFamily="34" charset="-120"/>
              </a:rPr>
              <a:t>Interface: Domain 2</a:t>
            </a:r>
            <a:endParaRPr lang="en-US" sz="1400" dirty="0"/>
          </a:p>
        </p:txBody>
      </p:sp>
      <p:sp>
        <p:nvSpPr>
          <p:cNvPr id="29" name="Shape 24"/>
          <p:cNvSpPr/>
          <p:nvPr/>
        </p:nvSpPr>
        <p:spPr>
          <a:xfrm>
            <a:off x="6144768" y="5486400"/>
            <a:ext cx="1755648" cy="658368"/>
          </a:xfrm>
          <a:prstGeom prst="roundRect">
            <a:avLst>
              <a:gd name="adj" fmla="val 11111"/>
            </a:avLst>
          </a:prstGeom>
          <a:solidFill>
            <a:srgbClr val="D98A1E"/>
          </a:solidFill>
          <a:ln w="12700">
            <a:solidFill>
              <a:srgbClr val="D98A1E"/>
            </a:solidFill>
            <a:prstDash val="solid"/>
          </a:ln>
        </p:spPr>
      </p:sp>
      <p:sp>
        <p:nvSpPr>
          <p:cNvPr id="30" name="Text 25"/>
          <p:cNvSpPr txBox="1"/>
          <p:nvPr/>
        </p:nvSpPr>
        <p:spPr>
          <a:xfrm>
            <a:off x="6236208" y="5513832"/>
            <a:ext cx="1600200" cy="603504"/>
          </a:xfrm>
          <a:prstGeom prst="rect">
            <a:avLst/>
          </a:prstGeom>
          <a:noFill/>
          <a:ln/>
        </p:spPr>
        <p:txBody>
          <a:bodyPr wrap="square" lIns="0" tIns="0" rIns="0" bIns="0" rtlCol="0" anchor="ctr"/>
          <a:lstStyle/>
          <a:p>
            <a:pPr marL="0" indent="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marL="0" indent="0">
              <a:buNone/>
            </a:pPr>
            <a:r>
              <a:rPr lang="en-US" sz="1100" dirty="0">
                <a:solidFill>
                  <a:srgbClr val="16232A"/>
                </a:solidFill>
                <a:latin typeface="Calibri" pitchFamily="34" charset="0"/>
                <a:ea typeface="Calibri" pitchFamily="34" charset="-122"/>
                <a:cs typeface="Calibri" pitchFamily="34" charset="-120"/>
              </a:rPr>
              <a:t>Performance metrics</a:t>
            </a:r>
            <a:endParaRPr lang="en-US" sz="1400" dirty="0"/>
          </a:p>
        </p:txBody>
      </p:sp>
      <p:sp>
        <p:nvSpPr>
          <p:cNvPr id="31" name="Shape 26"/>
          <p:cNvSpPr/>
          <p:nvPr/>
        </p:nvSpPr>
        <p:spPr>
          <a:xfrm>
            <a:off x="8010144" y="5486400"/>
            <a:ext cx="1755648" cy="658368"/>
          </a:xfrm>
          <a:prstGeom prst="roundRect">
            <a:avLst>
              <a:gd name="adj" fmla="val 11111"/>
            </a:avLst>
          </a:prstGeom>
          <a:solidFill>
            <a:srgbClr val="D98A1E"/>
          </a:solidFill>
          <a:ln w="12700">
            <a:solidFill>
              <a:srgbClr val="D98A1E"/>
            </a:solidFill>
            <a:prstDash val="solid"/>
          </a:ln>
        </p:spPr>
      </p:sp>
      <p:sp>
        <p:nvSpPr>
          <p:cNvPr id="32" name="Text 27"/>
          <p:cNvSpPr txBox="1"/>
          <p:nvPr/>
        </p:nvSpPr>
        <p:spPr>
          <a:xfrm>
            <a:off x="8101584" y="5513832"/>
            <a:ext cx="1600200" cy="603504"/>
          </a:xfrm>
          <a:prstGeom prst="rect">
            <a:avLst/>
          </a:prstGeom>
          <a:noFill/>
          <a:ln/>
        </p:spPr>
        <p:txBody>
          <a:bodyPr wrap="square" lIns="0" tIns="0" rIns="0" bIns="0" rtlCol="0" anchor="ctr"/>
          <a:lstStyle/>
          <a:p>
            <a:pPr marL="0" indent="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marL="0" indent="0">
              <a:buNone/>
            </a:pPr>
            <a:r>
              <a:rPr lang="en-US" sz="1100" dirty="0">
                <a:solidFill>
                  <a:srgbClr val="16232A"/>
                </a:solidFill>
                <a:latin typeface="Calibri" pitchFamily="34" charset="0"/>
                <a:ea typeface="Calibri" pitchFamily="34" charset="-122"/>
                <a:cs typeface="Calibri" pitchFamily="34" charset="-120"/>
              </a:rPr>
              <a:t>Stage-wise report</a:t>
            </a:r>
            <a:endParaRPr lang="en-US" sz="1400" dirty="0"/>
          </a:p>
        </p:txBody>
      </p:sp>
      <p:sp>
        <p:nvSpPr>
          <p:cNvPr id="33" name="Shape 28"/>
          <p:cNvSpPr/>
          <p:nvPr/>
        </p:nvSpPr>
        <p:spPr>
          <a:xfrm>
            <a:off x="9875520" y="5486400"/>
            <a:ext cx="1755648" cy="658368"/>
          </a:xfrm>
          <a:prstGeom prst="roundRect">
            <a:avLst>
              <a:gd name="adj" fmla="val 11111"/>
            </a:avLst>
          </a:prstGeom>
          <a:solidFill>
            <a:srgbClr val="B9C4C2"/>
          </a:solidFill>
          <a:ln w="12700">
            <a:solidFill>
              <a:srgbClr val="B9C4C2"/>
            </a:solidFill>
            <a:prstDash val="solid"/>
          </a:ln>
        </p:spPr>
      </p:sp>
      <p:sp>
        <p:nvSpPr>
          <p:cNvPr id="34" name="Text 29"/>
          <p:cNvSpPr txBox="1"/>
          <p:nvPr/>
        </p:nvSpPr>
        <p:spPr>
          <a:xfrm>
            <a:off x="9966960" y="5513832"/>
            <a:ext cx="1600200" cy="60350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not started</a:t>
            </a:r>
            <a:endParaRPr lang="en-US" sz="1400" dirty="0"/>
          </a:p>
          <a:p>
            <a:pPr marL="0" indent="0">
              <a:buNone/>
            </a:pPr>
            <a:r>
              <a:rPr lang="en-US" sz="1100" dirty="0">
                <a:solidFill>
                  <a:srgbClr val="FFFFFF"/>
                </a:solidFill>
                <a:latin typeface="Calibri" pitchFamily="34" charset="0"/>
                <a:ea typeface="Calibri" pitchFamily="34" charset="-122"/>
                <a:cs typeface="Calibri" pitchFamily="34" charset="-120"/>
              </a:rPr>
              <a:t>Intensive assessment</a:t>
            </a:r>
            <a:endParaRPr lang="en-US" sz="140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marL="0" indent="0">
              <a:buNone/>
            </a:pPr>
            <a:r>
              <a:rPr lang="en-US" sz="1100" b="1" kern="0" spc="300" dirty="0">
                <a:solidFill>
                  <a:srgbClr val="2F7F73"/>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marL="0" indent="0">
              <a:buNone/>
            </a:pPr>
            <a:r>
              <a:rPr lang="en-US" sz="3000" b="1" dirty="0">
                <a:solidFill>
                  <a:srgbClr val="1B2B31"/>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900" dirty="0">
                <a:solidFill>
                  <a:srgbClr val="7C8B90"/>
                </a:solidFill>
                <a:latin typeface="Calibri" pitchFamily="34" charset="0"/>
                <a:ea typeface="Calibri" pitchFamily="34" charset="-122"/>
                <a:cs typeface="Calibri" pitchFamily="34" charset="-120"/>
              </a:rPr>
              <a:t>IE 643 Course Project  ·  </a:t>
            </a:r>
            <a:r>
              <a:rPr lang="en-US" sz="900" dirty="0" err="1">
                <a:solidFill>
                  <a:srgbClr val="7C8B90"/>
                </a:solidFill>
                <a:latin typeface="Calibri" pitchFamily="34" charset="0"/>
                <a:ea typeface="Calibri" pitchFamily="34" charset="-122"/>
                <a:cs typeface="Calibri" pitchFamily="34" charset="-120"/>
              </a:rPr>
              <a:t>DeepGen</a:t>
            </a:r>
            <a:endParaRPr lang="en-US" sz="900" dirty="0"/>
          </a:p>
        </p:txBody>
      </p:sp>
      <p:sp>
        <p:nvSpPr>
          <p:cNvPr id="5" name="Text 3"/>
          <p:cNvSpPr txBox="1"/>
          <p:nvPr/>
        </p:nvSpPr>
        <p:spPr>
          <a:xfrm>
            <a:off x="548640" y="1325880"/>
            <a:ext cx="5394960" cy="4846320"/>
          </a:xfrm>
          <a:prstGeom prst="rect">
            <a:avLst/>
          </a:prstGeom>
          <a:noFill/>
          <a:ln/>
        </p:spPr>
        <p:txBody>
          <a:bodyPr wrap="square" lIns="0" tIns="0" rIns="0" bIns="0" rtlCol="0" anchor="t"/>
          <a:lstStyle/>
          <a:p>
            <a:pPr marL="0" indent="0">
              <a:spcAft>
                <a:spcPts val="400"/>
              </a:spcAft>
              <a:buNone/>
            </a:pPr>
            <a:r>
              <a:rPr lang="en-US" sz="1050" b="1" dirty="0">
                <a:solidFill>
                  <a:srgbClr val="2F7F73"/>
                </a:solidFill>
                <a:latin typeface="Calibri" pitchFamily="34" charset="0"/>
                <a:ea typeface="Calibri" pitchFamily="34" charset="-122"/>
                <a:cs typeface="Calibri" pitchFamily="34" charset="-120"/>
              </a:rPr>
              <a:t>Research papers (1/2)</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  Shai Ben-David, John Blitzer, Koby Crammer, Alex Kulesza, Fernando Pereira and Jennifer Wortman Vaughan. A theory of learning from different domains, Machine Learning, 2010. https://doi.org/10.1007/s10994-009-5152-4</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[2]  Yaroslav Ganin, Evgeniya Ustinova, Hana Ajakan, Pascal Germain, Hugo Larochelle, François Laviolette, Mario Marchand and Victor Lempitsky. Domain-Adversarial Training of Neural Networks, Journal of Machine Learning Research, 2016. https://arxiv.org/abs/1505.07818</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[3]  Baochen Sun and Kate Saenko. Deep CORAL: Correlation Alignment for Deep Domain Adaptation, ECCV Workshops, 2016. https://arxiv.org/abs/1607.01719</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[4]  Mingsheng Long, Yue Cao, Jianmin Wang and Michael I. Jordan. Learning Transferable Features with Deep Adaptation Networks, ICML, 2015. https://arxiv.org/abs/1502.02791</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[5]  Arthur Gretton, Karsten M. Borgwardt, Malte J. Rasch, Bernhard Schölkopf and Alexander Smola. A Kernel Two-Sample Test, Journal of Machine Learning Research, 2012. https://jmlr.org/papers/v13/gretton12a.html</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[6]  Xuhong Li, Yves Grandvalet and Franck Davoine. Explicit Inductive Bias for Transfer Learning with Convolutional Networks, ICML, 2018. https://arxiv.org/abs/1802.01483</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[7]  Yu Sun, Xiaolong Wang, Zhuang Liu, John Miller, Alexei A. Efros and Moritz Hardt. Test-Time Training with Self-Supervision for Generalization under Distribution Shifts, ICML, 2020. https://arxiv.org/abs/1909.13231</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[8]  Xiaoyong Jin, Youngsuk Park, Danielle C. Maddix, Hao Wang and Yuyang Wang. Domain Adaptation for Time Series Forecasting via Attention Sharing, ICML, 2022. https://arxiv.org/abs/2102.06828</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[9]  Garrett Wilson, Janardhan Rao Doppa and Diane J. Cook. Multi-Source Deep Domain Adaptation with Weak Supervision for Time-Series Sensor Data, KDD, 2020. https://arxiv.org/abs/2005.10996</a:t>
            </a:r>
            <a:endParaRPr lang="en-US" sz="900" dirty="0"/>
          </a:p>
        </p:txBody>
      </p:sp>
      <p:sp>
        <p:nvSpPr>
          <p:cNvPr id="6" name="Text 4"/>
          <p:cNvSpPr txBox="1"/>
          <p:nvPr/>
        </p:nvSpPr>
        <p:spPr>
          <a:xfrm>
            <a:off x="6245352" y="1325880"/>
            <a:ext cx="5394960" cy="4572000"/>
          </a:xfrm>
          <a:prstGeom prst="rect">
            <a:avLst/>
          </a:prstGeom>
          <a:noFill/>
          <a:ln/>
        </p:spPr>
        <p:txBody>
          <a:bodyPr wrap="square" lIns="0" tIns="0" rIns="0" bIns="0" rtlCol="0" anchor="t"/>
          <a:lstStyle/>
          <a:p>
            <a:pPr marL="0" indent="0">
              <a:spcAft>
                <a:spcPts val="400"/>
              </a:spcAft>
              <a:buNone/>
            </a:pPr>
            <a:r>
              <a:rPr lang="en-US" sz="1050" b="1" dirty="0">
                <a:solidFill>
                  <a:srgbClr val="2F7F73"/>
                </a:solidFill>
                <a:latin typeface="Calibri" pitchFamily="34" charset="0"/>
                <a:ea typeface="Calibri" pitchFamily="34" charset="-122"/>
                <a:cs typeface="Calibri" pitchFamily="34" charset="-120"/>
              </a:rPr>
              <a:t>Research papers (2/2)</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[10]  Ruichu Cai, Jiawei Chen, Zijian Li, Wei Chen, Keli Zhang, Junjian Ye, Zhuozhang Li, Xiaoyan Yang and Zhenjie Zhang. Time Series Domain Adaptation via Sparse Associative Structure Alignment, AAAI, 2021. https://arxiv.org/abs/2012.11797</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[11]  Yilmazcan Ozyurt, Stefan Feuerriegel and Ce Zhang. Contrastive Learning for Unsupervised Domain Adaptation of Time Series, ICLR, 2023. https://arxiv.org/abs/2206.06243</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[12]  Huan He, Owen Queen, Teddy Koker, Consuelo Cuevas, Theodoros Tsiligkaridis and Marinka Zitnik. Domain Adaptation for Time Series Under Feature and Label Shifts, ICML, 2023. https://arxiv.org/abs/2302.03133</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[13]  Taesung Kim, Jinhee Kim, Yunwon Tae, Cheonbok Park, Jang-Ho Choi and Jaegul Choo. Reversible Instance Normalization for Accurate Time-Series Forecasting against Distribution Shift, ICLR, 2022. https://openreview.net/forum?id=cGDAkQo1C0p</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[14]  Ailing Zeng, Muxi Chen, Lei Zhang and Qiang Xu. Are Transformers Effective for Time Series Forecasting?, AAAI, 2023. https://arxiv.org/abs/2205.13504</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[15]  Yuqi Nie, Nam H. Nguyen, Phanwadee Sinthong and Jayant Kalagnanam. A Time Series is Worth 64 Words: Long-term Forecasting with Transformers, ICLR, 2023. https://arxiv.org/abs/2211.14730</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[16]  Shaojie Bai, J. Zico Kolter and Vladlen Koltun. An Empirical Evaluation of Generic Convolutional and Recurrent Networks for Sequence Modeling, arXiv preprint, 2018. https://arxiv.org/abs/1803.01271</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[17]  Haoyi Zhou, Shanghang Zhang, Jieqi Peng, Shuai Zhang, Jianxin Li, Hui Xiong and Wancai Zhang. Informer: Beyond Efficient Transformer for Long Sequence Time-Series Forecasting (ETT dataset), AAAI, 2021. https://arxiv.org/abs/2012.07436</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[18]  Rob J. Hyndman and Anne B. Koehler. Another look at measures of forecast accuracy, International Journal of Forecasting, 2006. https://doi.org/10.1016/j.ijforecast.2006.03.001</a:t>
            </a:r>
            <a:endParaRPr lang="en-US" sz="900" dirty="0"/>
          </a:p>
          <a:p>
            <a:pPr marL="0" indent="0">
              <a:spcAft>
                <a:spcPts val="400"/>
              </a:spcAft>
              <a:buNone/>
            </a:pPr>
            <a:r>
              <a:rPr lang="en-US" sz="1050" b="1" dirty="0">
                <a:solidFill>
                  <a:srgbClr val="2F7F73"/>
                </a:solidFill>
                <a:latin typeface="Calibri" pitchFamily="34" charset="0"/>
                <a:ea typeface="Calibri" pitchFamily="34" charset="-122"/>
                <a:cs typeface="Calibri" pitchFamily="34" charset="-120"/>
              </a:rPr>
              <a:t>Websites</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[19]  Open-Meteo. https://open-meteo.com/en/docs/historical-weather-api. Accessed on: 18th September, 2026.</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[20]  Ran Aroussi. https://github.com/ranaroussi/yfinance. Accessed on: 18th September, 2026.</a:t>
            </a:r>
            <a:endParaRPr lang="en-US" sz="900" dirty="0"/>
          </a:p>
          <a:p>
            <a:pPr marL="0" indent="0">
              <a:spcAft>
                <a:spcPts val="400"/>
              </a:spcAft>
              <a:buNone/>
            </a:pPr>
            <a:r>
              <a:rPr lang="en-US" sz="900" dirty="0">
                <a:solidFill>
                  <a:srgbClr val="1B2B31"/>
                </a:solidFill>
                <a:latin typeface="Calibri" pitchFamily="34" charset="0"/>
                <a:ea typeface="Calibri" pitchFamily="34" charset="-122"/>
                <a:cs typeface="Calibri" pitchFamily="34" charset="-120"/>
              </a:rPr>
              <a:t>[21]  Haoyi Zhou. https://github.com/zhouhaoyi/ETDataset. Accessed on: 18th September, 2026.</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5116</Words>
  <Application>Microsoft Office PowerPoint</Application>
  <PresentationFormat>Widescreen</PresentationFormat>
  <Paragraphs>577</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Domain Adaptation for Time-Series Forecasting - IE 643</dc:title>
  <dc:subject>PptxGenJS Presentation</dc:subject>
  <dc:creator>[Team Name]</dc:creator>
  <cp:lastModifiedBy>AYUSH PATEL</cp:lastModifiedBy>
  <cp:revision>1</cp:revision>
  <dcterms:created xsi:type="dcterms:W3CDTF">2026-09-20T13:59:38Z</dcterms:created>
  <dcterms:modified xsi:type="dcterms:W3CDTF">2026-09-23T09:59:40Z</dcterms:modified>
</cp:coreProperties>
</file>