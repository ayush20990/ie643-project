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Climate</c:v>
                </c:pt>
              </c:strCache>
            </c:strRef>
          </c:tx>
          <c:spPr>
            <a:solidFill>
              <a:srgbClr val="2F7F7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DANN</c:v>
                  </c:pt>
                  <c:pt idx="1">
                    <c:v>CORAL</c:v>
                  </c:pt>
                  <c:pt idx="2">
                    <c:v>MMD</c:v>
                  </c:pt>
                  <c:pt idx="3">
                    <c:v>CARE −align</c:v>
                  </c:pt>
                  <c:pt idx="4">
                    <c:v>CARE −SSL</c:v>
                  </c:pt>
                  <c:pt idx="5">
                    <c:v>CARE −anchor</c:v>
                  </c:pt>
                  <c:pt idx="6">
                    <c:v>CARE-DA</c:v>
                  </c:pt>
                  <c:pt idx="7">
                    <c:v>Oracle*</c:v>
                  </c:pt>
                </c:lvl>
              </c:multiLvlStrCache>
            </c:multiLvlStrRef>
          </c:cat>
          <c:val>
            <c:numRef>
              <c:f>Sheet1!$B$2:$B$9</c:f>
              <c:numCache>
                <c:formatCode>General</c:formatCode>
                <c:ptCount val="8"/>
                <c:pt idx="0">
                  <c:v>-5.5</c:v>
                </c:pt>
                <c:pt idx="1">
                  <c:v>-7.1</c:v>
                </c:pt>
                <c:pt idx="2">
                  <c:v>7.9</c:v>
                </c:pt>
                <c:pt idx="3">
                  <c:v>-5.8</c:v>
                </c:pt>
                <c:pt idx="4">
                  <c:v>7.8</c:v>
                </c:pt>
                <c:pt idx="5">
                  <c:v>3.8</c:v>
                </c:pt>
                <c:pt idx="6">
                  <c:v>3.6</c:v>
                </c:pt>
                <c:pt idx="7">
                  <c:v>8.5</c:v>
                </c:pt>
              </c:numCache>
            </c:numRef>
          </c:val>
        </c:ser>
        <c:ser>
          <c:idx val="1"/>
          <c:order val="1"/>
          <c:tx>
            <c:strRef>
              <c:f>Sheet1!$C$1</c:f>
              <c:strCache>
                <c:ptCount val="1"/>
                <c:pt idx="0">
                  <c:v>Energy</c:v>
                </c:pt>
              </c:strCache>
            </c:strRef>
          </c:tx>
          <c:spPr>
            <a:solidFill>
              <a:srgbClr val="D98A1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DANN</c:v>
                  </c:pt>
                  <c:pt idx="1">
                    <c:v>CORAL</c:v>
                  </c:pt>
                  <c:pt idx="2">
                    <c:v>MMD</c:v>
                  </c:pt>
                  <c:pt idx="3">
                    <c:v>CARE −align</c:v>
                  </c:pt>
                  <c:pt idx="4">
                    <c:v>CARE −SSL</c:v>
                  </c:pt>
                  <c:pt idx="5">
                    <c:v>CARE −anchor</c:v>
                  </c:pt>
                  <c:pt idx="6">
                    <c:v>CARE-DA</c:v>
                  </c:pt>
                  <c:pt idx="7">
                    <c:v>Oracle*</c:v>
                  </c:pt>
                </c:lvl>
              </c:multiLvlStrCache>
            </c:multiLvlStrRef>
          </c:cat>
          <c:val>
            <c:numRef>
              <c:f>Sheet1!$C$2:$C$9</c:f>
              <c:numCache>
                <c:formatCode>General</c:formatCode>
                <c:ptCount val="8"/>
                <c:pt idx="0">
                  <c:v>-12</c:v>
                </c:pt>
                <c:pt idx="1">
                  <c:v>-11.4</c:v>
                </c:pt>
                <c:pt idx="2">
                  <c:v>4.4</c:v>
                </c:pt>
                <c:pt idx="3">
                  <c:v>-4.5</c:v>
                </c:pt>
                <c:pt idx="4">
                  <c:v>6.4</c:v>
                </c:pt>
                <c:pt idx="5">
                  <c:v>0.1</c:v>
                </c:pt>
                <c:pt idx="6">
                  <c:v>3.3</c:v>
                </c:pt>
                <c:pt idx="7">
                  <c:v>3</c:v>
                </c:pt>
              </c:numCache>
            </c:numRef>
          </c:val>
        </c:ser>
        <c:ser>
          <c:idx val="2"/>
          <c:order val="2"/>
          <c:tx>
            <c:strRef>
              <c:f>Sheet1!$D$1</c:f>
              <c:strCache>
                <c:ptCount val="1"/>
                <c:pt idx="0">
                  <c:v>Finance</c:v>
                </c:pt>
              </c:strCache>
            </c:strRef>
          </c:tx>
          <c:spPr>
            <a:solidFill>
              <a:srgbClr val="8A97A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DANN</c:v>
                  </c:pt>
                  <c:pt idx="1">
                    <c:v>CORAL</c:v>
                  </c:pt>
                  <c:pt idx="2">
                    <c:v>MMD</c:v>
                  </c:pt>
                  <c:pt idx="3">
                    <c:v>CARE −align</c:v>
                  </c:pt>
                  <c:pt idx="4">
                    <c:v>CARE −SSL</c:v>
                  </c:pt>
                  <c:pt idx="5">
                    <c:v>CARE −anchor</c:v>
                  </c:pt>
                  <c:pt idx="6">
                    <c:v>CARE-DA</c:v>
                  </c:pt>
                  <c:pt idx="7">
                    <c:v>Oracle*</c:v>
                  </c:pt>
                </c:lvl>
              </c:multiLvlStrCache>
            </c:multiLvlStrRef>
          </c:cat>
          <c:val>
            <c:numRef>
              <c:f>Sheet1!$D$2:$D$9</c:f>
              <c:numCache>
                <c:formatCode>General</c:formatCode>
                <c:ptCount val="8"/>
                <c:pt idx="0">
                  <c:v>-2</c:v>
                </c:pt>
                <c:pt idx="1">
                  <c:v>-2</c:v>
                </c:pt>
                <c:pt idx="2">
                  <c:v>0.5</c:v>
                </c:pt>
                <c:pt idx="3">
                  <c:v>-0.6</c:v>
                </c:pt>
                <c:pt idx="4">
                  <c:v>0.6</c:v>
                </c:pt>
                <c:pt idx="5">
                  <c:v>-0.5</c:v>
                </c:pt>
                <c:pt idx="6">
                  <c:v>-0.1</c:v>
                </c:pt>
                <c:pt idx="7">
                  <c:v>2.4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4F5F65"/>
                </a:solidFill>
                <a:latin typeface="Calibri"/>
              </a:defRPr>
            </a:pPr>
            <a:endParaRPr lang="en-US"/>
          </a:p>
        </c:txPr>
        <c:crossAx val="2094734552"/>
        <c:crosses val="autoZero"/>
        <c:auto val="1"/>
        <c:lblAlgn val="ctr"/>
        <c:noMultiLvlLbl val="1"/>
      </c:catAx>
      <c:valAx>
        <c:axId val="2094734552"/>
        <c:scaling>
          <c:orientation val="minMax"/>
          <c:max val="12"/>
          <c:min val="-12"/>
        </c:scaling>
        <c:delete val="0"/>
        <c:axPos val="l"/>
        <c:majorGridlines>
          <c:spPr>
            <a:ln w="9525" cap="flat">
              <a:solidFill>
                <a:srgbClr val="E3E8E7"/>
              </a:solidFill>
              <a:prstDash val="solid"/>
              <a:round/>
            </a:ln>
          </c:spPr>
        </c:majorGridlines>
        <c:title>
          <c:tx>
            <c:rich>
              <a:bodyPr/>
              <a:lstStyle/>
              <a:p>
                <a:pPr>
                  <a:defRPr sz="1100" b="0" i="0" u="none" strike="noStrike">
                    <a:solidFill>
                      <a:srgbClr val="4F5F65"/>
                    </a:solidFill>
                    <a:latin typeface="Arial"/>
                  </a:defRPr>
                </a:pPr>
                <a:r>
                  <a:rPr sz="1100" b="0" i="0" u="none" strike="noStrike">
                    <a:solidFill>
                      <a:srgbClr val="4F5F65"/>
                    </a:solidFill>
                    <a:latin typeface="Arial"/>
                  </a:rPr>
                  <a:t>MSE reduction vs source-only (%), higher is better</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F5F65"/>
                </a:solidFill>
                <a:latin typeface="Arial"/>
              </a:defRPr>
            </a:pPr>
            <a:endParaRPr lang="en-US"/>
          </a:p>
        </c:txPr>
        <c:crossAx val="2094734554"/>
        <c:crosses val="autoZero"/>
        <c:crossBetween val="between"/>
        <c:majorUnit val="4"/>
      </c:valAx>
      <c:spPr>
        <a:noFill/>
        <a:ln>
          <a:noFill/>
        </a:ln>
        <a:effectLst/>
      </c:spPr>
    </c:plotArea>
    <c:legend>
      <c:legendPos val="t"/>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topic in 20 seconds. Frame: models trained in one domain degrade in another; we adapt without target labels. The contour motif = terrain, our running example (hilly -&gt; 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breath per item; don't read them. Emphasise that we already have end-to-end experiments, not only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with the temperature story from the project brief. Stress the constraint: in the target domain we observe inputs but do not use future values for training — that is what makes it UDA. Mention the finance and energy analogues briefly.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histogram: the two domains barely overlap. Then separate three kinds of shift. The first one is easy (normalisation); the second and third are why we need an adaptation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lightweight: the brief asks for it, and adaptation is repeated per domain, so it must be cheap. DLinear shows simple models are strong; TCN gives a compact nonlinear encoder whose features we can align; RevIN deals with level shift for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equation motivates every term of our loss. Walk left to right: source error, divergence, joint error. The third term is the trap: aligning at any cost can make forecasting impossible, so we add self-supervision and anchoring.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map of the literature. Emphasise we did not invent a family; we composed complementary pieces and justify each one with the bound on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one takeaway per paper: CoDATS = adversarial; SASA = variable relationships; DAF = forecasting but with labels; CLUDA = contrastive; RAINCOAT = frequency. Then state our niche.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are public and reproducible with one script. The climate pair maps directly to the brief (hilly -&gt; plain). Finance maps to the IT -&gt; pharma example. ETT is a standard forecasting benchmark with two stations. Datasets to be confirmed with 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pipeline left to right. The important design choice is step 5: each domain gets its own scaler, and for the target that only needs unlabeled inputs — legitimate under UDA. Then the leakage 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Energy has a strong shift; finance has a subtler one. That contrast becomes important when we interpret results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one window through the model. Two ideas: (1) the latent z is where we align domains; (2) the reconstruction head gives us a label-free task in the target domain. The linear path keeps a strong DLinear-like baseline inside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name: C = correlation (CORAL) and MMD alignment, R = reconstruction self-supervision, E = elastic anchor. The key is balance: alignment pulls domains together, SSL keeps target features informative, the anchor prevents the model from drifting away from what it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deliverable 5, the designed loss. Connect each row to the bound. Mention the weights were fixed, not tuned per dataset, which makes the comparison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6. Accuracy metrics are standard; GCR is what tells us whether adaptation is worth it relative to simply collecting labels. Forgetting tells us whether Domain 1 still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fairness: every method starts from the same source checkpoint and gets the same budget; checkpoints for UDA are never chosen using target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by columns: source-only is the floor, the oracle is the label-using reference. MMD-style alignment gives the best label-free results; on energy the alignment variants even beat the supervised oracle. Be explicit: the full CARE-DA as designed helps, but its ablation without SSL is better; we come back to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Positive bars = better than simply reusing the Domain 1 model. Alignment-based variants help on climate and energy; DANN and CORAL cause negative transfer on all three. On energy the best label-free variant beats the oracle that used labels. Finance: even the oracle only gains about 2%, so there is little to adapt.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adaptation logs (deliverable 4). Target MSE is plotted for monitoring only, never used to pick checkpoints. Three messages: alignment works as intended, a smaller feature distance does not guarantee better forecasts, and label-free adaptation does not destroy Domain 1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Qualitative evidence. Pick one forecast window and explain where the source-only model is biased and how the adapted one moves towards the actual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important learning slide. The sensitivity plot is post-hoc (seed 0) and is NOT used to pick the reported model. Presenting the SSL result honestly shows we understand why: the reconstruction objective pulls features towards input details rather than forecast-relevant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permits, switch to a live demo here: upload the Delhi CSV, move the slider, toggle the source-only overlay. This covers deliverables 2, 3 and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technical part with the plan. Mention the deliverable mapping: models, interface for both domains, metrics and report are already scaffolded, so the remaining time goes into strengthening the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follow the course-prescribed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in one sentence: lightweight forecaster + principled label-free adaptation + honest metrics. Thank the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18-image-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7680960" cy="6858000"/>
          </a:xfrm>
          <a:prstGeom prst="rect">
            <a:avLst/>
          </a:prstGeom>
          <a:solidFill>
            <a:srgbClr val="16232A">
              <a:alpha val="88000"/>
            </a:srgbClr>
          </a:solidFill>
          <a:ln w="12700">
            <a:solidFill>
              <a:srgbClr val="16232A">
                <a:alpha val="0"/>
              </a:srgbClr>
            </a:solidFill>
            <a:prstDash val="solid"/>
          </a:ln>
        </p:spPr>
      </p:sp>
      <p:sp>
        <p:nvSpPr>
          <p:cNvPr id="3" name="Text 1"/>
          <p:cNvSpPr txBox="1"/>
          <p:nvPr/>
        </p:nvSpPr>
        <p:spPr>
          <a:xfrm>
            <a:off x="640080" y="685800"/>
            <a:ext cx="6858000" cy="274320"/>
          </a:xfrm>
          <a:prstGeom prst="rect">
            <a:avLst/>
          </a:prstGeom>
          <a:noFill/>
          <a:ln/>
        </p:spPr>
        <p:txBody>
          <a:bodyPr wrap="square" lIns="0" tIns="0" rIns="0" bIns="0" rtlCol="0" anchor="t"/>
          <a:lstStyle/>
          <a:p>
            <a:pPr indent="0" marL="0">
              <a:buNone/>
            </a:pPr>
            <a:r>
              <a:rPr lang="en-US" sz="1200" b="1" spc="300" kern="0" dirty="0">
                <a:solidFill>
                  <a:srgbClr val="6FB3A6"/>
                </a:solidFill>
                <a:latin typeface="Calibri" pitchFamily="34" charset="0"/>
                <a:ea typeface="Calibri" pitchFamily="34" charset="-122"/>
                <a:cs typeface="Calibri" pitchFamily="34" charset="-120"/>
              </a:rPr>
              <a:t>IE 643 COURSE PROJECT  ·  PREP PRESENTATION</a:t>
            </a:r>
            <a:endParaRPr lang="en-US" sz="1200" dirty="0"/>
          </a:p>
        </p:txBody>
      </p:sp>
      <p:sp>
        <p:nvSpPr>
          <p:cNvPr id="4" name="Text 2"/>
          <p:cNvSpPr txBox="1"/>
          <p:nvPr/>
        </p:nvSpPr>
        <p:spPr>
          <a:xfrm>
            <a:off x="640080" y="1097280"/>
            <a:ext cx="6766560" cy="210312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Unsupervised Domain Adaptation for Forecasting Multivariate Time-Series Data</a:t>
            </a:r>
            <a:endParaRPr lang="en-US" sz="3800" dirty="0"/>
          </a:p>
        </p:txBody>
      </p:sp>
      <p:sp>
        <p:nvSpPr>
          <p:cNvPr id="5" name="Text 3"/>
          <p:cNvSpPr txBox="1"/>
          <p:nvPr/>
        </p:nvSpPr>
        <p:spPr>
          <a:xfrm>
            <a:off x="640080" y="3246120"/>
            <a:ext cx="6583680" cy="822960"/>
          </a:xfrm>
          <a:prstGeom prst="rect">
            <a:avLst/>
          </a:prstGeom>
          <a:noFill/>
          <a:ln/>
        </p:spPr>
        <p:txBody>
          <a:bodyPr wrap="square" lIns="0" tIns="0" rIns="0" bIns="0" rtlCol="0" anchor="t"/>
          <a:lstStyle/>
          <a:p>
            <a:pPr indent="0" marL="0">
              <a:buNone/>
            </a:pPr>
            <a:r>
              <a:rPr lang="en-US" sz="1500" dirty="0">
                <a:solidFill>
                  <a:srgbClr val="E6F0EE"/>
                </a:solidFill>
                <a:latin typeface="Calibri" pitchFamily="34" charset="0"/>
                <a:ea typeface="Calibri" pitchFamily="34" charset="-122"/>
                <a:cs typeface="Calibri" pitchFamily="34" charset="-120"/>
              </a:rPr>
              <a:t>Adapting one lightweight forecaster from hilly to plain terrain, from IT to pharma stocks and from one power transformer to another, using no target-domain labels.</a:t>
            </a:r>
            <a:endParaRPr lang="en-US" sz="1500" dirty="0"/>
          </a:p>
        </p:txBody>
      </p:sp>
      <p:sp>
        <p:nvSpPr>
          <p:cNvPr id="6" name="Text 4"/>
          <p:cNvSpPr txBox="1"/>
          <p:nvPr/>
        </p:nvSpPr>
        <p:spPr>
          <a:xfrm>
            <a:off x="640080" y="4343400"/>
            <a:ext cx="6400800"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Team: [Team Name]</a:t>
            </a:r>
            <a:endParaRPr lang="en-US" sz="1600" dirty="0"/>
          </a:p>
        </p:txBody>
      </p:sp>
      <p:sp>
        <p:nvSpPr>
          <p:cNvPr id="7" name="Text 5"/>
          <p:cNvSpPr txBox="1"/>
          <p:nvPr/>
        </p:nvSpPr>
        <p:spPr>
          <a:xfrm>
            <a:off x="640080" y="4709160"/>
            <a:ext cx="6400800" cy="1143000"/>
          </a:xfrm>
          <a:prstGeom prst="rect">
            <a:avLst/>
          </a:prstGeom>
          <a:noFill/>
          <a:ln/>
        </p:spPr>
        <p:txBody>
          <a:bodyPr wrap="square" lIns="0" tIns="0" rIns="0" bIns="0" rtlCol="0" anchor="t"/>
          <a:lstStyle/>
          <a:p>
            <a:pPr indent="0" marL="0">
              <a:spcAft>
                <a:spcPts val="300"/>
              </a:spcAft>
              <a:buNone/>
            </a:pPr>
            <a:r>
              <a:rPr lang="en-US" sz="1300" dirty="0">
                <a:solidFill>
                  <a:srgbClr val="E6F0EE"/>
                </a:solidFill>
                <a:latin typeface="Calibri" pitchFamily="34" charset="0"/>
                <a:ea typeface="Calibri" pitchFamily="34" charset="-122"/>
                <a:cs typeface="Calibri" pitchFamily="34" charset="-120"/>
              </a:rPr>
              <a:t>[Member 1 Name]  —  [Roll No.]</a:t>
            </a:r>
            <a:endParaRPr lang="en-US" sz="1300" dirty="0"/>
          </a:p>
          <a:p>
            <a:pPr indent="0" marL="0">
              <a:spcAft>
                <a:spcPts val="300"/>
              </a:spcAft>
              <a:buNone/>
            </a:pPr>
            <a:r>
              <a:rPr lang="en-US" sz="1300" dirty="0">
                <a:solidFill>
                  <a:srgbClr val="E6F0EE"/>
                </a:solidFill>
                <a:latin typeface="Calibri" pitchFamily="34" charset="0"/>
                <a:ea typeface="Calibri" pitchFamily="34" charset="-122"/>
                <a:cs typeface="Calibri" pitchFamily="34" charset="-120"/>
              </a:rPr>
              <a:t>[Member 2 Name]  —  [Roll No.]</a:t>
            </a:r>
            <a:endParaRPr lang="en-US" sz="1300" dirty="0"/>
          </a:p>
          <a:p>
            <a:pPr indent="0" marL="0">
              <a:spcAft>
                <a:spcPts val="300"/>
              </a:spcAft>
              <a:buNone/>
            </a:pPr>
            <a:r>
              <a:rPr lang="en-US" sz="1300" dirty="0">
                <a:solidFill>
                  <a:srgbClr val="E6F0EE"/>
                </a:solidFill>
                <a:latin typeface="Calibri" pitchFamily="34" charset="0"/>
                <a:ea typeface="Calibri" pitchFamily="34" charset="-122"/>
                <a:cs typeface="Calibri" pitchFamily="34" charset="-120"/>
              </a:rPr>
              <a:t>[Member 3 Name]  —  [Roll No.]</a:t>
            </a:r>
            <a:endParaRPr lang="en-US" sz="1300" dirty="0"/>
          </a:p>
          <a:p>
            <a:pPr indent="0" marL="0">
              <a:spcAft>
                <a:spcPts val="300"/>
              </a:spcAft>
              <a:buNone/>
            </a:pPr>
            <a:r>
              <a:rPr lang="en-US" sz="1300" dirty="0">
                <a:solidFill>
                  <a:srgbClr val="E6F0EE"/>
                </a:solidFill>
                <a:latin typeface="Calibri" pitchFamily="34" charset="0"/>
                <a:ea typeface="Calibri" pitchFamily="34" charset="-122"/>
                <a:cs typeface="Calibri" pitchFamily="34" charset="-120"/>
              </a:rPr>
              <a:t>[Member 4 Name]  —  [Roll No.]</a:t>
            </a:r>
            <a:endParaRPr lang="en-US" sz="1300" dirty="0"/>
          </a:p>
        </p:txBody>
      </p:sp>
      <p:sp>
        <p:nvSpPr>
          <p:cNvPr id="8" name="Text 6"/>
          <p:cNvSpPr txBox="1"/>
          <p:nvPr/>
        </p:nvSpPr>
        <p:spPr>
          <a:xfrm>
            <a:off x="640080" y="6080760"/>
            <a:ext cx="3657600" cy="274320"/>
          </a:xfrm>
          <a:prstGeom prst="rect">
            <a:avLst/>
          </a:prstGeom>
          <a:noFill/>
          <a:ln/>
        </p:spPr>
        <p:txBody>
          <a:bodyPr wrap="square" lIns="0" tIns="0" rIns="0" bIns="0" rtlCol="0" anchor="t"/>
          <a:lstStyle/>
          <a:p>
            <a:pPr indent="0" marL="0">
              <a:buNone/>
            </a:pPr>
            <a:r>
              <a:rPr lang="en-US" sz="1100" dirty="0">
                <a:solidFill>
                  <a:srgbClr val="6FB3A6"/>
                </a:solidFill>
                <a:latin typeface="Calibri" pitchFamily="34" charset="0"/>
                <a:ea typeface="Calibri" pitchFamily="34" charset="-122"/>
                <a:cs typeface="Calibri" pitchFamily="34" charset="-120"/>
              </a:rPr>
              <a:t>September 2026</a:t>
            </a:r>
            <a:endParaRPr lang="en-US" sz="1100" dirty="0"/>
          </a:p>
        </p:txBody>
      </p:sp>
      <p:sp>
        <p:nvSpPr>
          <p:cNvPr id="9" name="Shape 7"/>
          <p:cNvSpPr/>
          <p:nvPr/>
        </p:nvSpPr>
        <p:spPr>
          <a:xfrm>
            <a:off x="8366760" y="5989320"/>
            <a:ext cx="1600200" cy="329184"/>
          </a:xfrm>
          <a:prstGeom prst="roundRect">
            <a:avLst>
              <a:gd name="adj" fmla="val 50000"/>
            </a:avLst>
          </a:prstGeom>
          <a:solidFill>
            <a:srgbClr val="2F7F73"/>
          </a:solidFill>
          <a:ln w="12700">
            <a:solidFill>
              <a:srgbClr val="2F7F73"/>
            </a:solidFill>
            <a:prstDash val="solid"/>
          </a:ln>
        </p:spPr>
      </p:sp>
      <p:sp>
        <p:nvSpPr>
          <p:cNvPr id="10" name="Text 8"/>
          <p:cNvSpPr txBox="1"/>
          <p:nvPr/>
        </p:nvSpPr>
        <p:spPr>
          <a:xfrm>
            <a:off x="8366760" y="5989320"/>
            <a:ext cx="160020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DOMAIN 1  ·  source</a:t>
            </a:r>
            <a:endParaRPr lang="en-US" sz="1100" dirty="0"/>
          </a:p>
        </p:txBody>
      </p:sp>
      <p:sp>
        <p:nvSpPr>
          <p:cNvPr id="11" name="Shape 9"/>
          <p:cNvSpPr/>
          <p:nvPr/>
        </p:nvSpPr>
        <p:spPr>
          <a:xfrm>
            <a:off x="10040112" y="6153912"/>
            <a:ext cx="274320" cy="914"/>
          </a:xfrm>
          <a:prstGeom prst="line">
            <a:avLst/>
          </a:prstGeom>
          <a:noFill/>
          <a:ln w="19050">
            <a:solidFill>
              <a:srgbClr val="FFFFFF"/>
            </a:solidFill>
            <a:prstDash val="solid"/>
            <a:tailEnd type="triangle"/>
          </a:ln>
        </p:spPr>
      </p:sp>
      <p:sp>
        <p:nvSpPr>
          <p:cNvPr id="12" name="Shape 10"/>
          <p:cNvSpPr/>
          <p:nvPr/>
        </p:nvSpPr>
        <p:spPr>
          <a:xfrm>
            <a:off x="10378440" y="5989320"/>
            <a:ext cx="1600200" cy="329184"/>
          </a:xfrm>
          <a:prstGeom prst="roundRect">
            <a:avLst>
              <a:gd name="adj" fmla="val 50000"/>
            </a:avLst>
          </a:prstGeom>
          <a:solidFill>
            <a:srgbClr val="D98A1E"/>
          </a:solidFill>
          <a:ln w="12700">
            <a:solidFill>
              <a:srgbClr val="D98A1E"/>
            </a:solidFill>
            <a:prstDash val="solid"/>
          </a:ln>
        </p:spPr>
      </p:sp>
      <p:sp>
        <p:nvSpPr>
          <p:cNvPr id="13" name="Text 11"/>
          <p:cNvSpPr txBox="1"/>
          <p:nvPr/>
        </p:nvSpPr>
        <p:spPr>
          <a:xfrm>
            <a:off x="10378440" y="5989320"/>
            <a:ext cx="1600200" cy="329184"/>
          </a:xfrm>
          <a:prstGeom prst="rect">
            <a:avLst/>
          </a:prstGeom>
          <a:noFill/>
          <a:ln/>
        </p:spPr>
        <p:txBody>
          <a:bodyPr wrap="square" lIns="0" tIns="0" rIns="0" bIns="0" rtlCol="0" anchor="ctr"/>
          <a:lstStyle/>
          <a:p>
            <a:pPr algn="ctr" indent="0" marL="0">
              <a:buNone/>
            </a:pPr>
            <a:r>
              <a:rPr lang="en-US" sz="1100" b="1" dirty="0">
                <a:solidFill>
                  <a:srgbClr val="16232A"/>
                </a:solidFill>
                <a:latin typeface="Calibri" pitchFamily="34" charset="0"/>
                <a:ea typeface="Calibri" pitchFamily="34" charset="-122"/>
                <a:cs typeface="Calibri" pitchFamily="34" charset="-120"/>
              </a:rPr>
              <a:t>DOMAIN 2  ·  target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ROADMAP OF THIS TALK</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Outline</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sp>
        <p:nvSpPr>
          <p:cNvPr id="5" name="Shape 3"/>
          <p:cNvSpPr/>
          <p:nvPr/>
        </p:nvSpPr>
        <p:spPr>
          <a:xfrm>
            <a:off x="548640" y="1508760"/>
            <a:ext cx="5349240" cy="987552"/>
          </a:xfrm>
          <a:prstGeom prst="roundRect">
            <a:avLst>
              <a:gd name="adj" fmla="val 7407"/>
            </a:avLst>
          </a:prstGeom>
          <a:solidFill>
            <a:srgbClr val="F1F6F5"/>
          </a:solidFill>
          <a:ln w="12700">
            <a:solidFill>
              <a:srgbClr val="F1F6F5"/>
            </a:solidFill>
            <a:prstDash val="solid"/>
          </a:ln>
        </p:spPr>
      </p:sp>
      <p:sp>
        <p:nvSpPr>
          <p:cNvPr id="6" name="Text 4"/>
          <p:cNvSpPr txBox="1"/>
          <p:nvPr/>
        </p:nvSpPr>
        <p:spPr>
          <a:xfrm>
            <a:off x="777240" y="1636776"/>
            <a:ext cx="822960" cy="731520"/>
          </a:xfrm>
          <a:prstGeom prst="rect">
            <a:avLst/>
          </a:prstGeom>
          <a:noFill/>
          <a:ln/>
        </p:spPr>
        <p:txBody>
          <a:bodyPr wrap="square" lIns="0" tIns="0" rIns="0" bIns="0" rtlCol="0" anchor="ctr"/>
          <a:lstStyle/>
          <a:p>
            <a:pPr indent="0" marL="0">
              <a:buNone/>
            </a:pPr>
            <a:r>
              <a:rPr lang="en-US" sz="3400" b="1" dirty="0">
                <a:solidFill>
                  <a:srgbClr val="2F7F73"/>
                </a:solidFill>
                <a:latin typeface="Cambria" pitchFamily="34" charset="0"/>
                <a:ea typeface="Cambria" pitchFamily="34" charset="-122"/>
                <a:cs typeface="Cambria" pitchFamily="34" charset="-120"/>
              </a:rPr>
              <a:t>01</a:t>
            </a:r>
            <a:endParaRPr lang="en-US" sz="3400" dirty="0"/>
          </a:p>
        </p:txBody>
      </p:sp>
      <p:sp>
        <p:nvSpPr>
          <p:cNvPr id="7" name="Text 5"/>
          <p:cNvSpPr txBox="1"/>
          <p:nvPr/>
        </p:nvSpPr>
        <p:spPr>
          <a:xfrm>
            <a:off x="1645920" y="1664208"/>
            <a:ext cx="4114800" cy="365760"/>
          </a:xfrm>
          <a:prstGeom prst="rect">
            <a:avLst/>
          </a:prstGeom>
          <a:noFill/>
          <a:ln/>
        </p:spPr>
        <p:txBody>
          <a:bodyPr wrap="square" lIns="0" tIns="0" rIns="0" bIns="0" rtlCol="0" anchor="t"/>
          <a:lstStyle/>
          <a:p>
            <a:pPr indent="0" marL="0">
              <a:buNone/>
            </a:pPr>
            <a:r>
              <a:rPr lang="en-US" sz="1700" b="1" dirty="0">
                <a:solidFill>
                  <a:srgbClr val="1B2B31"/>
                </a:solidFill>
                <a:latin typeface="Calibri" pitchFamily="34" charset="0"/>
                <a:ea typeface="Calibri" pitchFamily="34" charset="-122"/>
                <a:cs typeface="Calibri" pitchFamily="34" charset="-120"/>
              </a:rPr>
              <a:t>Problem understanding</a:t>
            </a:r>
            <a:endParaRPr lang="en-US" sz="1700" dirty="0"/>
          </a:p>
        </p:txBody>
      </p:sp>
      <p:sp>
        <p:nvSpPr>
          <p:cNvPr id="8" name="Text 6"/>
          <p:cNvSpPr txBox="1"/>
          <p:nvPr/>
        </p:nvSpPr>
        <p:spPr>
          <a:xfrm>
            <a:off x="1645920" y="2011680"/>
            <a:ext cx="4114800" cy="365760"/>
          </a:xfrm>
          <a:prstGeom prst="rect">
            <a:avLst/>
          </a:prstGeom>
          <a:noFill/>
          <a:ln/>
        </p:spPr>
        <p:txBody>
          <a:bodyPr wrap="square" lIns="0" tIns="0" rIns="0" bIns="0" rtlCol="0" anchor="t"/>
          <a:lstStyle/>
          <a:p>
            <a:pPr indent="0" marL="0">
              <a:buNone/>
            </a:pPr>
            <a:r>
              <a:rPr lang="en-US" sz="1250" dirty="0">
                <a:solidFill>
                  <a:srgbClr val="4F5F65"/>
                </a:solidFill>
                <a:latin typeface="Calibri" pitchFamily="34" charset="0"/>
                <a:ea typeface="Calibri" pitchFamily="34" charset="-122"/>
                <a:cs typeface="Calibri" pitchFamily="34" charset="-120"/>
              </a:rPr>
              <a:t>What changes between domains and why forecasts break</a:t>
            </a:r>
            <a:endParaRPr lang="en-US" sz="1250" dirty="0"/>
          </a:p>
        </p:txBody>
      </p:sp>
      <p:sp>
        <p:nvSpPr>
          <p:cNvPr id="9" name="Shape 7"/>
          <p:cNvSpPr/>
          <p:nvPr/>
        </p:nvSpPr>
        <p:spPr>
          <a:xfrm>
            <a:off x="548640" y="2679192"/>
            <a:ext cx="5349240" cy="987552"/>
          </a:xfrm>
          <a:prstGeom prst="roundRect">
            <a:avLst>
              <a:gd name="adj" fmla="val 7407"/>
            </a:avLst>
          </a:prstGeom>
          <a:solidFill>
            <a:srgbClr val="F1F6F5"/>
          </a:solidFill>
          <a:ln w="12700">
            <a:solidFill>
              <a:srgbClr val="F1F6F5"/>
            </a:solidFill>
            <a:prstDash val="solid"/>
          </a:ln>
        </p:spPr>
      </p:sp>
      <p:sp>
        <p:nvSpPr>
          <p:cNvPr id="10" name="Text 8"/>
          <p:cNvSpPr txBox="1"/>
          <p:nvPr/>
        </p:nvSpPr>
        <p:spPr>
          <a:xfrm>
            <a:off x="777240" y="2807208"/>
            <a:ext cx="822960" cy="731520"/>
          </a:xfrm>
          <a:prstGeom prst="rect">
            <a:avLst/>
          </a:prstGeom>
          <a:noFill/>
          <a:ln/>
        </p:spPr>
        <p:txBody>
          <a:bodyPr wrap="square" lIns="0" tIns="0" rIns="0" bIns="0" rtlCol="0" anchor="ctr"/>
          <a:lstStyle/>
          <a:p>
            <a:pPr indent="0" marL="0">
              <a:buNone/>
            </a:pPr>
            <a:r>
              <a:rPr lang="en-US" sz="3400" b="1" dirty="0">
                <a:solidFill>
                  <a:srgbClr val="D98A1E"/>
                </a:solidFill>
                <a:latin typeface="Cambria" pitchFamily="34" charset="0"/>
                <a:ea typeface="Cambria" pitchFamily="34" charset="-122"/>
                <a:cs typeface="Cambria" pitchFamily="34" charset="-120"/>
              </a:rPr>
              <a:t>02</a:t>
            </a:r>
            <a:endParaRPr lang="en-US" sz="3400" dirty="0"/>
          </a:p>
        </p:txBody>
      </p:sp>
      <p:sp>
        <p:nvSpPr>
          <p:cNvPr id="11" name="Text 9"/>
          <p:cNvSpPr txBox="1"/>
          <p:nvPr/>
        </p:nvSpPr>
        <p:spPr>
          <a:xfrm>
            <a:off x="1645920" y="2834640"/>
            <a:ext cx="4114800" cy="365760"/>
          </a:xfrm>
          <a:prstGeom prst="rect">
            <a:avLst/>
          </a:prstGeom>
          <a:noFill/>
          <a:ln/>
        </p:spPr>
        <p:txBody>
          <a:bodyPr wrap="square" lIns="0" tIns="0" rIns="0" bIns="0" rtlCol="0" anchor="t"/>
          <a:lstStyle/>
          <a:p>
            <a:pPr indent="0" marL="0">
              <a:buNone/>
            </a:pPr>
            <a:r>
              <a:rPr lang="en-US" sz="1700" b="1" dirty="0">
                <a:solidFill>
                  <a:srgbClr val="1B2B31"/>
                </a:solidFill>
                <a:latin typeface="Calibri" pitchFamily="34" charset="0"/>
                <a:ea typeface="Calibri" pitchFamily="34" charset="-122"/>
                <a:cs typeface="Calibri" pitchFamily="34" charset="-120"/>
              </a:rPr>
              <a:t>Background reading</a:t>
            </a:r>
            <a:endParaRPr lang="en-US" sz="1700" dirty="0"/>
          </a:p>
        </p:txBody>
      </p:sp>
      <p:sp>
        <p:nvSpPr>
          <p:cNvPr id="12" name="Text 10"/>
          <p:cNvSpPr txBox="1"/>
          <p:nvPr/>
        </p:nvSpPr>
        <p:spPr>
          <a:xfrm>
            <a:off x="1645920" y="3182112"/>
            <a:ext cx="4114800" cy="365760"/>
          </a:xfrm>
          <a:prstGeom prst="rect">
            <a:avLst/>
          </a:prstGeom>
          <a:noFill/>
          <a:ln/>
        </p:spPr>
        <p:txBody>
          <a:bodyPr wrap="square" lIns="0" tIns="0" rIns="0" bIns="0" rtlCol="0" anchor="t"/>
          <a:lstStyle/>
          <a:p>
            <a:pPr indent="0" marL="0">
              <a:buNone/>
            </a:pPr>
            <a:r>
              <a:rPr lang="en-US" sz="1250" dirty="0">
                <a:solidFill>
                  <a:srgbClr val="4F5F65"/>
                </a:solidFill>
                <a:latin typeface="Calibri" pitchFamily="34" charset="0"/>
                <a:ea typeface="Calibri" pitchFamily="34" charset="-122"/>
                <a:cs typeface="Calibri" pitchFamily="34" charset="-120"/>
              </a:rPr>
              <a:t>Forecasting models, domain-adaptation theory and methods</a:t>
            </a:r>
            <a:endParaRPr lang="en-US" sz="1250" dirty="0"/>
          </a:p>
        </p:txBody>
      </p:sp>
      <p:sp>
        <p:nvSpPr>
          <p:cNvPr id="13" name="Shape 11"/>
          <p:cNvSpPr/>
          <p:nvPr/>
        </p:nvSpPr>
        <p:spPr>
          <a:xfrm>
            <a:off x="548640" y="3849624"/>
            <a:ext cx="5349240" cy="987552"/>
          </a:xfrm>
          <a:prstGeom prst="roundRect">
            <a:avLst>
              <a:gd name="adj" fmla="val 7407"/>
            </a:avLst>
          </a:prstGeom>
          <a:solidFill>
            <a:srgbClr val="F1F6F5"/>
          </a:solidFill>
          <a:ln w="12700">
            <a:solidFill>
              <a:srgbClr val="F1F6F5"/>
            </a:solidFill>
            <a:prstDash val="solid"/>
          </a:ln>
        </p:spPr>
      </p:sp>
      <p:sp>
        <p:nvSpPr>
          <p:cNvPr id="14" name="Text 12"/>
          <p:cNvSpPr txBox="1"/>
          <p:nvPr/>
        </p:nvSpPr>
        <p:spPr>
          <a:xfrm>
            <a:off x="777240" y="3977640"/>
            <a:ext cx="822960" cy="731520"/>
          </a:xfrm>
          <a:prstGeom prst="rect">
            <a:avLst/>
          </a:prstGeom>
          <a:noFill/>
          <a:ln/>
        </p:spPr>
        <p:txBody>
          <a:bodyPr wrap="square" lIns="0" tIns="0" rIns="0" bIns="0" rtlCol="0" anchor="ctr"/>
          <a:lstStyle/>
          <a:p>
            <a:pPr indent="0" marL="0">
              <a:buNone/>
            </a:pPr>
            <a:r>
              <a:rPr lang="en-US" sz="3400" b="1" dirty="0">
                <a:solidFill>
                  <a:srgbClr val="2F7F73"/>
                </a:solidFill>
                <a:latin typeface="Cambria" pitchFamily="34" charset="0"/>
                <a:ea typeface="Cambria" pitchFamily="34" charset="-122"/>
                <a:cs typeface="Cambria" pitchFamily="34" charset="-120"/>
              </a:rPr>
              <a:t>03</a:t>
            </a:r>
            <a:endParaRPr lang="en-US" sz="3400" dirty="0"/>
          </a:p>
        </p:txBody>
      </p:sp>
      <p:sp>
        <p:nvSpPr>
          <p:cNvPr id="15" name="Text 13"/>
          <p:cNvSpPr txBox="1"/>
          <p:nvPr/>
        </p:nvSpPr>
        <p:spPr>
          <a:xfrm>
            <a:off x="1645920" y="4005072"/>
            <a:ext cx="4114800" cy="365760"/>
          </a:xfrm>
          <a:prstGeom prst="rect">
            <a:avLst/>
          </a:prstGeom>
          <a:noFill/>
          <a:ln/>
        </p:spPr>
        <p:txBody>
          <a:bodyPr wrap="square" lIns="0" tIns="0" rIns="0" bIns="0" rtlCol="0" anchor="t"/>
          <a:lstStyle/>
          <a:p>
            <a:pPr indent="0" marL="0">
              <a:buNone/>
            </a:pPr>
            <a:r>
              <a:rPr lang="en-US" sz="1700" b="1" dirty="0">
                <a:solidFill>
                  <a:srgbClr val="1B2B31"/>
                </a:solidFill>
                <a:latin typeface="Calibri" pitchFamily="34" charset="0"/>
                <a:ea typeface="Calibri" pitchFamily="34" charset="-122"/>
                <a:cs typeface="Calibri" pitchFamily="34" charset="-120"/>
              </a:rPr>
              <a:t>Datasets &amp; preparation</a:t>
            </a:r>
            <a:endParaRPr lang="en-US" sz="1700" dirty="0"/>
          </a:p>
        </p:txBody>
      </p:sp>
      <p:sp>
        <p:nvSpPr>
          <p:cNvPr id="16" name="Text 14"/>
          <p:cNvSpPr txBox="1"/>
          <p:nvPr/>
        </p:nvSpPr>
        <p:spPr>
          <a:xfrm>
            <a:off x="1645920" y="4352544"/>
            <a:ext cx="4114800" cy="365760"/>
          </a:xfrm>
          <a:prstGeom prst="rect">
            <a:avLst/>
          </a:prstGeom>
          <a:noFill/>
          <a:ln/>
        </p:spPr>
        <p:txBody>
          <a:bodyPr wrap="square" lIns="0" tIns="0" rIns="0" bIns="0" rtlCol="0" anchor="t"/>
          <a:lstStyle/>
          <a:p>
            <a:pPr indent="0" marL="0">
              <a:buNone/>
            </a:pPr>
            <a:r>
              <a:rPr lang="en-US" sz="1250" dirty="0">
                <a:solidFill>
                  <a:srgbClr val="4F5F65"/>
                </a:solidFill>
                <a:latin typeface="Calibri" pitchFamily="34" charset="0"/>
                <a:ea typeface="Calibri" pitchFamily="34" charset="-122"/>
                <a:cs typeface="Calibri" pitchFamily="34" charset="-120"/>
              </a:rPr>
              <a:t>Three source → target pairs; extraction and curation steps</a:t>
            </a:r>
            <a:endParaRPr lang="en-US" sz="1250" dirty="0"/>
          </a:p>
        </p:txBody>
      </p:sp>
      <p:sp>
        <p:nvSpPr>
          <p:cNvPr id="17" name="Shape 15"/>
          <p:cNvSpPr/>
          <p:nvPr/>
        </p:nvSpPr>
        <p:spPr>
          <a:xfrm>
            <a:off x="548640" y="5020056"/>
            <a:ext cx="5349240" cy="987552"/>
          </a:xfrm>
          <a:prstGeom prst="roundRect">
            <a:avLst>
              <a:gd name="adj" fmla="val 7407"/>
            </a:avLst>
          </a:prstGeom>
          <a:solidFill>
            <a:srgbClr val="F1F6F5"/>
          </a:solidFill>
          <a:ln w="12700">
            <a:solidFill>
              <a:srgbClr val="F1F6F5"/>
            </a:solidFill>
            <a:prstDash val="solid"/>
          </a:ln>
        </p:spPr>
      </p:sp>
      <p:sp>
        <p:nvSpPr>
          <p:cNvPr id="18" name="Text 16"/>
          <p:cNvSpPr txBox="1"/>
          <p:nvPr/>
        </p:nvSpPr>
        <p:spPr>
          <a:xfrm>
            <a:off x="777240" y="5148072"/>
            <a:ext cx="822960" cy="731520"/>
          </a:xfrm>
          <a:prstGeom prst="rect">
            <a:avLst/>
          </a:prstGeom>
          <a:noFill/>
          <a:ln/>
        </p:spPr>
        <p:txBody>
          <a:bodyPr wrap="square" lIns="0" tIns="0" rIns="0" bIns="0" rtlCol="0" anchor="ctr"/>
          <a:lstStyle/>
          <a:p>
            <a:pPr indent="0" marL="0">
              <a:buNone/>
            </a:pPr>
            <a:r>
              <a:rPr lang="en-US" sz="3400" b="1" dirty="0">
                <a:solidFill>
                  <a:srgbClr val="D98A1E"/>
                </a:solidFill>
                <a:latin typeface="Cambria" pitchFamily="34" charset="0"/>
                <a:ea typeface="Cambria" pitchFamily="34" charset="-122"/>
                <a:cs typeface="Cambria" pitchFamily="34" charset="-120"/>
              </a:rPr>
              <a:t>04</a:t>
            </a:r>
            <a:endParaRPr lang="en-US" sz="3400" dirty="0"/>
          </a:p>
        </p:txBody>
      </p:sp>
      <p:sp>
        <p:nvSpPr>
          <p:cNvPr id="19" name="Text 17"/>
          <p:cNvSpPr txBox="1"/>
          <p:nvPr/>
        </p:nvSpPr>
        <p:spPr>
          <a:xfrm>
            <a:off x="1645920" y="5175504"/>
            <a:ext cx="4114800" cy="365760"/>
          </a:xfrm>
          <a:prstGeom prst="rect">
            <a:avLst/>
          </a:prstGeom>
          <a:noFill/>
          <a:ln/>
        </p:spPr>
        <p:txBody>
          <a:bodyPr wrap="square" lIns="0" tIns="0" rIns="0" bIns="0" rtlCol="0" anchor="t"/>
          <a:lstStyle/>
          <a:p>
            <a:pPr indent="0" marL="0">
              <a:buNone/>
            </a:pPr>
            <a:r>
              <a:rPr lang="en-US" sz="1700" b="1" dirty="0">
                <a:solidFill>
                  <a:srgbClr val="1B2B31"/>
                </a:solidFill>
                <a:latin typeface="Calibri" pitchFamily="34" charset="0"/>
                <a:ea typeface="Calibri" pitchFamily="34" charset="-122"/>
                <a:cs typeface="Calibri" pitchFamily="34" charset="-120"/>
              </a:rPr>
              <a:t>Lightweight forecaster</a:t>
            </a:r>
            <a:endParaRPr lang="en-US" sz="1700" dirty="0"/>
          </a:p>
        </p:txBody>
      </p:sp>
      <p:sp>
        <p:nvSpPr>
          <p:cNvPr id="20" name="Text 18"/>
          <p:cNvSpPr txBox="1"/>
          <p:nvPr/>
        </p:nvSpPr>
        <p:spPr>
          <a:xfrm>
            <a:off x="1645920" y="5522976"/>
            <a:ext cx="4114800" cy="365760"/>
          </a:xfrm>
          <a:prstGeom prst="rect">
            <a:avLst/>
          </a:prstGeom>
          <a:noFill/>
          <a:ln/>
        </p:spPr>
        <p:txBody>
          <a:bodyPr wrap="square" lIns="0" tIns="0" rIns="0" bIns="0" rtlCol="0" anchor="t"/>
          <a:lstStyle/>
          <a:p>
            <a:pPr indent="0" marL="0">
              <a:buNone/>
            </a:pPr>
            <a:r>
              <a:rPr lang="en-US" sz="1250" dirty="0">
                <a:solidFill>
                  <a:srgbClr val="4F5F65"/>
                </a:solidFill>
                <a:latin typeface="Calibri" pitchFamily="34" charset="0"/>
                <a:ea typeface="Calibri" pitchFamily="34" charset="-122"/>
                <a:cs typeface="Calibri" pitchFamily="34" charset="-120"/>
              </a:rPr>
              <a:t>LiteTCN: RevIN + dilated convolutions + linear path</a:t>
            </a:r>
            <a:endParaRPr lang="en-US" sz="1250" dirty="0"/>
          </a:p>
        </p:txBody>
      </p:sp>
      <p:sp>
        <p:nvSpPr>
          <p:cNvPr id="21" name="Shape 19"/>
          <p:cNvSpPr/>
          <p:nvPr/>
        </p:nvSpPr>
        <p:spPr>
          <a:xfrm>
            <a:off x="6217920" y="1508760"/>
            <a:ext cx="5349240" cy="987552"/>
          </a:xfrm>
          <a:prstGeom prst="roundRect">
            <a:avLst>
              <a:gd name="adj" fmla="val 7407"/>
            </a:avLst>
          </a:prstGeom>
          <a:solidFill>
            <a:srgbClr val="F1F6F5"/>
          </a:solidFill>
          <a:ln w="12700">
            <a:solidFill>
              <a:srgbClr val="F1F6F5"/>
            </a:solidFill>
            <a:prstDash val="solid"/>
          </a:ln>
        </p:spPr>
      </p:sp>
      <p:sp>
        <p:nvSpPr>
          <p:cNvPr id="22" name="Text 20"/>
          <p:cNvSpPr txBox="1"/>
          <p:nvPr/>
        </p:nvSpPr>
        <p:spPr>
          <a:xfrm>
            <a:off x="6446520" y="1636776"/>
            <a:ext cx="822960" cy="731520"/>
          </a:xfrm>
          <a:prstGeom prst="rect">
            <a:avLst/>
          </a:prstGeom>
          <a:noFill/>
          <a:ln/>
        </p:spPr>
        <p:txBody>
          <a:bodyPr wrap="square" lIns="0" tIns="0" rIns="0" bIns="0" rtlCol="0" anchor="ctr"/>
          <a:lstStyle/>
          <a:p>
            <a:pPr indent="0" marL="0">
              <a:buNone/>
            </a:pPr>
            <a:r>
              <a:rPr lang="en-US" sz="3400" b="1" dirty="0">
                <a:solidFill>
                  <a:srgbClr val="2F7F73"/>
                </a:solidFill>
                <a:latin typeface="Cambria" pitchFamily="34" charset="0"/>
                <a:ea typeface="Cambria" pitchFamily="34" charset="-122"/>
                <a:cs typeface="Cambria" pitchFamily="34" charset="-120"/>
              </a:rPr>
              <a:t>05</a:t>
            </a:r>
            <a:endParaRPr lang="en-US" sz="3400" dirty="0"/>
          </a:p>
        </p:txBody>
      </p:sp>
      <p:sp>
        <p:nvSpPr>
          <p:cNvPr id="23" name="Text 21"/>
          <p:cNvSpPr txBox="1"/>
          <p:nvPr/>
        </p:nvSpPr>
        <p:spPr>
          <a:xfrm>
            <a:off x="7315200" y="1664208"/>
            <a:ext cx="4114800" cy="365760"/>
          </a:xfrm>
          <a:prstGeom prst="rect">
            <a:avLst/>
          </a:prstGeom>
          <a:noFill/>
          <a:ln/>
        </p:spPr>
        <p:txBody>
          <a:bodyPr wrap="square" lIns="0" tIns="0" rIns="0" bIns="0" rtlCol="0" anchor="t"/>
          <a:lstStyle/>
          <a:p>
            <a:pPr indent="0" marL="0">
              <a:buNone/>
            </a:pPr>
            <a:r>
              <a:rPr lang="en-US" sz="1700" b="1" dirty="0">
                <a:solidFill>
                  <a:srgbClr val="1B2B31"/>
                </a:solidFill>
                <a:latin typeface="Calibri" pitchFamily="34" charset="0"/>
                <a:ea typeface="Calibri" pitchFamily="34" charset="-122"/>
                <a:cs typeface="Calibri" pitchFamily="34" charset="-120"/>
              </a:rPr>
              <a:t>CARE-DA strategy &amp; loss</a:t>
            </a:r>
            <a:endParaRPr lang="en-US" sz="1700" dirty="0"/>
          </a:p>
        </p:txBody>
      </p:sp>
      <p:sp>
        <p:nvSpPr>
          <p:cNvPr id="24" name="Text 22"/>
          <p:cNvSpPr txBox="1"/>
          <p:nvPr/>
        </p:nvSpPr>
        <p:spPr>
          <a:xfrm>
            <a:off x="7315200" y="2011680"/>
            <a:ext cx="4114800" cy="365760"/>
          </a:xfrm>
          <a:prstGeom prst="rect">
            <a:avLst/>
          </a:prstGeom>
          <a:noFill/>
          <a:ln/>
        </p:spPr>
        <p:txBody>
          <a:bodyPr wrap="square" lIns="0" tIns="0" rIns="0" bIns="0" rtlCol="0" anchor="t"/>
          <a:lstStyle/>
          <a:p>
            <a:pPr indent="0" marL="0">
              <a:buNone/>
            </a:pPr>
            <a:r>
              <a:rPr lang="en-US" sz="1250" dirty="0">
                <a:solidFill>
                  <a:srgbClr val="4F5F65"/>
                </a:solidFill>
                <a:latin typeface="Calibri" pitchFamily="34" charset="0"/>
                <a:ea typeface="Calibri" pitchFamily="34" charset="-122"/>
                <a:cs typeface="Calibri" pitchFamily="34" charset="-120"/>
              </a:rPr>
              <a:t>Alignment + self-supervision + elastic anchoring</a:t>
            </a:r>
            <a:endParaRPr lang="en-US" sz="1250" dirty="0"/>
          </a:p>
        </p:txBody>
      </p:sp>
      <p:sp>
        <p:nvSpPr>
          <p:cNvPr id="25" name="Shape 23"/>
          <p:cNvSpPr/>
          <p:nvPr/>
        </p:nvSpPr>
        <p:spPr>
          <a:xfrm>
            <a:off x="6217920" y="2679192"/>
            <a:ext cx="5349240" cy="987552"/>
          </a:xfrm>
          <a:prstGeom prst="roundRect">
            <a:avLst>
              <a:gd name="adj" fmla="val 7407"/>
            </a:avLst>
          </a:prstGeom>
          <a:solidFill>
            <a:srgbClr val="F1F6F5"/>
          </a:solidFill>
          <a:ln w="12700">
            <a:solidFill>
              <a:srgbClr val="F1F6F5"/>
            </a:solidFill>
            <a:prstDash val="solid"/>
          </a:ln>
        </p:spPr>
      </p:sp>
      <p:sp>
        <p:nvSpPr>
          <p:cNvPr id="26" name="Text 24"/>
          <p:cNvSpPr txBox="1"/>
          <p:nvPr/>
        </p:nvSpPr>
        <p:spPr>
          <a:xfrm>
            <a:off x="6446520" y="2807208"/>
            <a:ext cx="822960" cy="731520"/>
          </a:xfrm>
          <a:prstGeom prst="rect">
            <a:avLst/>
          </a:prstGeom>
          <a:noFill/>
          <a:ln/>
        </p:spPr>
        <p:txBody>
          <a:bodyPr wrap="square" lIns="0" tIns="0" rIns="0" bIns="0" rtlCol="0" anchor="ctr"/>
          <a:lstStyle/>
          <a:p>
            <a:pPr indent="0" marL="0">
              <a:buNone/>
            </a:pPr>
            <a:r>
              <a:rPr lang="en-US" sz="3400" b="1" dirty="0">
                <a:solidFill>
                  <a:srgbClr val="D98A1E"/>
                </a:solidFill>
                <a:latin typeface="Cambria" pitchFamily="34" charset="0"/>
                <a:ea typeface="Cambria" pitchFamily="34" charset="-122"/>
                <a:cs typeface="Cambria" pitchFamily="34" charset="-120"/>
              </a:rPr>
              <a:t>06</a:t>
            </a:r>
            <a:endParaRPr lang="en-US" sz="3400" dirty="0"/>
          </a:p>
        </p:txBody>
      </p:sp>
      <p:sp>
        <p:nvSpPr>
          <p:cNvPr id="27" name="Text 25"/>
          <p:cNvSpPr txBox="1"/>
          <p:nvPr/>
        </p:nvSpPr>
        <p:spPr>
          <a:xfrm>
            <a:off x="7315200" y="2834640"/>
            <a:ext cx="4114800" cy="365760"/>
          </a:xfrm>
          <a:prstGeom prst="rect">
            <a:avLst/>
          </a:prstGeom>
          <a:noFill/>
          <a:ln/>
        </p:spPr>
        <p:txBody>
          <a:bodyPr wrap="square" lIns="0" tIns="0" rIns="0" bIns="0" rtlCol="0" anchor="t"/>
          <a:lstStyle/>
          <a:p>
            <a:pPr indent="0" marL="0">
              <a:buNone/>
            </a:pPr>
            <a:r>
              <a:rPr lang="en-US" sz="1700" b="1" dirty="0">
                <a:solidFill>
                  <a:srgbClr val="1B2B31"/>
                </a:solidFill>
                <a:latin typeface="Calibri" pitchFamily="34" charset="0"/>
                <a:ea typeface="Calibri" pitchFamily="34" charset="-122"/>
                <a:cs typeface="Calibri" pitchFamily="34" charset="-120"/>
              </a:rPr>
              <a:t>Metrics &amp; protocol</a:t>
            </a:r>
            <a:endParaRPr lang="en-US" sz="1700" dirty="0"/>
          </a:p>
        </p:txBody>
      </p:sp>
      <p:sp>
        <p:nvSpPr>
          <p:cNvPr id="28" name="Text 26"/>
          <p:cNvSpPr txBox="1"/>
          <p:nvPr/>
        </p:nvSpPr>
        <p:spPr>
          <a:xfrm>
            <a:off x="7315200" y="3182112"/>
            <a:ext cx="4114800" cy="365760"/>
          </a:xfrm>
          <a:prstGeom prst="rect">
            <a:avLst/>
          </a:prstGeom>
          <a:noFill/>
          <a:ln/>
        </p:spPr>
        <p:txBody>
          <a:bodyPr wrap="square" lIns="0" tIns="0" rIns="0" bIns="0" rtlCol="0" anchor="t"/>
          <a:lstStyle/>
          <a:p>
            <a:pPr indent="0" marL="0">
              <a:buNone/>
            </a:pPr>
            <a:r>
              <a:rPr lang="en-US" sz="1250" dirty="0">
                <a:solidFill>
                  <a:srgbClr val="4F5F65"/>
                </a:solidFill>
                <a:latin typeface="Calibri" pitchFamily="34" charset="0"/>
                <a:ea typeface="Calibri" pitchFamily="34" charset="-122"/>
                <a:cs typeface="Calibri" pitchFamily="34" charset="-120"/>
              </a:rPr>
              <a:t>Forecast accuracy and adaptation-efficiency metrics</a:t>
            </a:r>
            <a:endParaRPr lang="en-US" sz="1250" dirty="0"/>
          </a:p>
        </p:txBody>
      </p:sp>
      <p:sp>
        <p:nvSpPr>
          <p:cNvPr id="29" name="Shape 27"/>
          <p:cNvSpPr/>
          <p:nvPr/>
        </p:nvSpPr>
        <p:spPr>
          <a:xfrm>
            <a:off x="6217920" y="3849624"/>
            <a:ext cx="5349240" cy="987552"/>
          </a:xfrm>
          <a:prstGeom prst="roundRect">
            <a:avLst>
              <a:gd name="adj" fmla="val 7407"/>
            </a:avLst>
          </a:prstGeom>
          <a:solidFill>
            <a:srgbClr val="F1F6F5"/>
          </a:solidFill>
          <a:ln w="12700">
            <a:solidFill>
              <a:srgbClr val="F1F6F5"/>
            </a:solidFill>
            <a:prstDash val="solid"/>
          </a:ln>
        </p:spPr>
      </p:sp>
      <p:sp>
        <p:nvSpPr>
          <p:cNvPr id="30" name="Text 28"/>
          <p:cNvSpPr txBox="1"/>
          <p:nvPr/>
        </p:nvSpPr>
        <p:spPr>
          <a:xfrm>
            <a:off x="6446520" y="3977640"/>
            <a:ext cx="822960" cy="731520"/>
          </a:xfrm>
          <a:prstGeom prst="rect">
            <a:avLst/>
          </a:prstGeom>
          <a:noFill/>
          <a:ln/>
        </p:spPr>
        <p:txBody>
          <a:bodyPr wrap="square" lIns="0" tIns="0" rIns="0" bIns="0" rtlCol="0" anchor="ctr"/>
          <a:lstStyle/>
          <a:p>
            <a:pPr indent="0" marL="0">
              <a:buNone/>
            </a:pPr>
            <a:r>
              <a:rPr lang="en-US" sz="3400" b="1" dirty="0">
                <a:solidFill>
                  <a:srgbClr val="2F7F73"/>
                </a:solidFill>
                <a:latin typeface="Cambria" pitchFamily="34" charset="0"/>
                <a:ea typeface="Cambria" pitchFamily="34" charset="-122"/>
                <a:cs typeface="Cambria" pitchFamily="34" charset="-120"/>
              </a:rPr>
              <a:t>07</a:t>
            </a:r>
            <a:endParaRPr lang="en-US" sz="3400" dirty="0"/>
          </a:p>
        </p:txBody>
      </p:sp>
      <p:sp>
        <p:nvSpPr>
          <p:cNvPr id="31" name="Text 29"/>
          <p:cNvSpPr txBox="1"/>
          <p:nvPr/>
        </p:nvSpPr>
        <p:spPr>
          <a:xfrm>
            <a:off x="7315200" y="4005072"/>
            <a:ext cx="4114800" cy="365760"/>
          </a:xfrm>
          <a:prstGeom prst="rect">
            <a:avLst/>
          </a:prstGeom>
          <a:noFill/>
          <a:ln/>
        </p:spPr>
        <p:txBody>
          <a:bodyPr wrap="square" lIns="0" tIns="0" rIns="0" bIns="0" rtlCol="0" anchor="t"/>
          <a:lstStyle/>
          <a:p>
            <a:pPr indent="0" marL="0">
              <a:buNone/>
            </a:pPr>
            <a:r>
              <a:rPr lang="en-US" sz="1700" b="1" dirty="0">
                <a:solidFill>
                  <a:srgbClr val="1B2B31"/>
                </a:solidFill>
                <a:latin typeface="Calibri" pitchFamily="34" charset="0"/>
                <a:ea typeface="Calibri" pitchFamily="34" charset="-122"/>
                <a:cs typeface="Calibri" pitchFamily="34" charset="-120"/>
              </a:rPr>
              <a:t>Experiments so far</a:t>
            </a:r>
            <a:endParaRPr lang="en-US" sz="1700" dirty="0"/>
          </a:p>
        </p:txBody>
      </p:sp>
      <p:sp>
        <p:nvSpPr>
          <p:cNvPr id="32" name="Text 30"/>
          <p:cNvSpPr txBox="1"/>
          <p:nvPr/>
        </p:nvSpPr>
        <p:spPr>
          <a:xfrm>
            <a:off x="7315200" y="4352544"/>
            <a:ext cx="4114800" cy="365760"/>
          </a:xfrm>
          <a:prstGeom prst="rect">
            <a:avLst/>
          </a:prstGeom>
          <a:noFill/>
          <a:ln/>
        </p:spPr>
        <p:txBody>
          <a:bodyPr wrap="square" lIns="0" tIns="0" rIns="0" bIns="0" rtlCol="0" anchor="t"/>
          <a:lstStyle/>
          <a:p>
            <a:pPr indent="0" marL="0">
              <a:buNone/>
            </a:pPr>
            <a:r>
              <a:rPr lang="en-US" sz="1250" dirty="0">
                <a:solidFill>
                  <a:srgbClr val="4F5F65"/>
                </a:solidFill>
                <a:latin typeface="Calibri" pitchFamily="34" charset="0"/>
                <a:ea typeface="Calibri" pitchFamily="34" charset="-122"/>
                <a:cs typeface="Calibri" pitchFamily="34" charset="-120"/>
              </a:rPr>
              <a:t>Baselines, ablations, adaptation behaviour</a:t>
            </a:r>
            <a:endParaRPr lang="en-US" sz="1250" dirty="0"/>
          </a:p>
        </p:txBody>
      </p:sp>
      <p:sp>
        <p:nvSpPr>
          <p:cNvPr id="33" name="Shape 31"/>
          <p:cNvSpPr/>
          <p:nvPr/>
        </p:nvSpPr>
        <p:spPr>
          <a:xfrm>
            <a:off x="6217920" y="5020056"/>
            <a:ext cx="5349240" cy="987552"/>
          </a:xfrm>
          <a:prstGeom prst="roundRect">
            <a:avLst>
              <a:gd name="adj" fmla="val 7407"/>
            </a:avLst>
          </a:prstGeom>
          <a:solidFill>
            <a:srgbClr val="F1F6F5"/>
          </a:solidFill>
          <a:ln w="12700">
            <a:solidFill>
              <a:srgbClr val="F1F6F5"/>
            </a:solidFill>
            <a:prstDash val="solid"/>
          </a:ln>
        </p:spPr>
      </p:sp>
      <p:sp>
        <p:nvSpPr>
          <p:cNvPr id="34" name="Text 32"/>
          <p:cNvSpPr txBox="1"/>
          <p:nvPr/>
        </p:nvSpPr>
        <p:spPr>
          <a:xfrm>
            <a:off x="6446520" y="5148072"/>
            <a:ext cx="822960" cy="731520"/>
          </a:xfrm>
          <a:prstGeom prst="rect">
            <a:avLst/>
          </a:prstGeom>
          <a:noFill/>
          <a:ln/>
        </p:spPr>
        <p:txBody>
          <a:bodyPr wrap="square" lIns="0" tIns="0" rIns="0" bIns="0" rtlCol="0" anchor="ctr"/>
          <a:lstStyle/>
          <a:p>
            <a:pPr indent="0" marL="0">
              <a:buNone/>
            </a:pPr>
            <a:r>
              <a:rPr lang="en-US" sz="3400" b="1" dirty="0">
                <a:solidFill>
                  <a:srgbClr val="D98A1E"/>
                </a:solidFill>
                <a:latin typeface="Cambria" pitchFamily="34" charset="0"/>
                <a:ea typeface="Cambria" pitchFamily="34" charset="-122"/>
                <a:cs typeface="Cambria" pitchFamily="34" charset="-120"/>
              </a:rPr>
              <a:t>08</a:t>
            </a:r>
            <a:endParaRPr lang="en-US" sz="3400" dirty="0"/>
          </a:p>
        </p:txBody>
      </p:sp>
      <p:sp>
        <p:nvSpPr>
          <p:cNvPr id="35" name="Text 33"/>
          <p:cNvSpPr txBox="1"/>
          <p:nvPr/>
        </p:nvSpPr>
        <p:spPr>
          <a:xfrm>
            <a:off x="7315200" y="5175504"/>
            <a:ext cx="4114800" cy="365760"/>
          </a:xfrm>
          <a:prstGeom prst="rect">
            <a:avLst/>
          </a:prstGeom>
          <a:noFill/>
          <a:ln/>
        </p:spPr>
        <p:txBody>
          <a:bodyPr wrap="square" lIns="0" tIns="0" rIns="0" bIns="0" rtlCol="0" anchor="t"/>
          <a:lstStyle/>
          <a:p>
            <a:pPr indent="0" marL="0">
              <a:buNone/>
            </a:pPr>
            <a:r>
              <a:rPr lang="en-US" sz="1700" b="1" dirty="0">
                <a:solidFill>
                  <a:srgbClr val="1B2B31"/>
                </a:solidFill>
                <a:latin typeface="Calibri" pitchFamily="34" charset="0"/>
                <a:ea typeface="Calibri" pitchFamily="34" charset="-122"/>
                <a:cs typeface="Calibri" pitchFamily="34" charset="-120"/>
              </a:rPr>
              <a:t>Interface &amp; plan ahead</a:t>
            </a:r>
            <a:endParaRPr lang="en-US" sz="1700" dirty="0"/>
          </a:p>
        </p:txBody>
      </p:sp>
      <p:sp>
        <p:nvSpPr>
          <p:cNvPr id="36" name="Text 34"/>
          <p:cNvSpPr txBox="1"/>
          <p:nvPr/>
        </p:nvSpPr>
        <p:spPr>
          <a:xfrm>
            <a:off x="7315200" y="5522976"/>
            <a:ext cx="4114800" cy="365760"/>
          </a:xfrm>
          <a:prstGeom prst="rect">
            <a:avLst/>
          </a:prstGeom>
          <a:noFill/>
          <a:ln/>
        </p:spPr>
        <p:txBody>
          <a:bodyPr wrap="square" lIns="0" tIns="0" rIns="0" bIns="0" rtlCol="0" anchor="t"/>
          <a:lstStyle/>
          <a:p>
            <a:pPr indent="0" marL="0">
              <a:buNone/>
            </a:pPr>
            <a:r>
              <a:rPr lang="en-US" sz="1250" dirty="0">
                <a:solidFill>
                  <a:srgbClr val="4F5F65"/>
                </a:solidFill>
                <a:latin typeface="Calibri" pitchFamily="34" charset="0"/>
                <a:ea typeface="Calibri" pitchFamily="34" charset="-122"/>
                <a:cs typeface="Calibri" pitchFamily="34" charset="-120"/>
              </a:rPr>
              <a:t>Streamlit demo, sub-task roadmap, references</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01 · PROBLEM UNDERSTANDING</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Train on one domain, forecast well in another</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sp>
        <p:nvSpPr>
          <p:cNvPr id="5" name="Shape 3"/>
          <p:cNvSpPr/>
          <p:nvPr/>
        </p:nvSpPr>
        <p:spPr>
          <a:xfrm>
            <a:off x="548640" y="1463040"/>
            <a:ext cx="3749040" cy="2651760"/>
          </a:xfrm>
          <a:prstGeom prst="roundRect">
            <a:avLst>
              <a:gd name="adj" fmla="val 2759"/>
            </a:avLst>
          </a:prstGeom>
          <a:solidFill>
            <a:srgbClr val="E6F0EE"/>
          </a:solidFill>
          <a:ln w="12700">
            <a:solidFill>
              <a:srgbClr val="E6F0EE"/>
            </a:solidFill>
            <a:prstDash val="solid"/>
          </a:ln>
        </p:spPr>
      </p:sp>
      <p:sp>
        <p:nvSpPr>
          <p:cNvPr id="6" name="Shape 4"/>
          <p:cNvSpPr/>
          <p:nvPr/>
        </p:nvSpPr>
        <p:spPr>
          <a:xfrm>
            <a:off x="777240" y="1664208"/>
            <a:ext cx="566928" cy="566928"/>
          </a:xfrm>
          <a:prstGeom prst="ellipse">
            <a:avLst/>
          </a:prstGeom>
          <a:solidFill>
            <a:srgbClr val="2F7F73"/>
          </a:solidFill>
          <a:ln w="12700">
            <a:solidFill>
              <a:srgbClr val="2F7F73"/>
            </a:solidFill>
            <a:prstDash val="solid"/>
          </a:ln>
        </p:spPr>
      </p:sp>
      <p:pic>
        <p:nvPicPr>
          <p:cNvPr id="7" name="Image 0" descr="preencoded.png">    </p:cNvPr>
          <p:cNvPicPr>
            <a:picLocks noChangeAspect="1"/>
          </p:cNvPicPr>
          <p:nvPr/>
        </p:nvPicPr>
        <p:blipFill>
          <a:blip r:embed="rId2"/>
          <a:stretch>
            <a:fillRect/>
          </a:stretch>
        </p:blipFill>
        <p:spPr>
          <a:xfrm>
            <a:off x="924641" y="1811609"/>
            <a:ext cx="272125" cy="272125"/>
          </a:xfrm>
          <a:prstGeom prst="rect">
            <a:avLst/>
          </a:prstGeom>
        </p:spPr>
      </p:pic>
      <p:sp>
        <p:nvSpPr>
          <p:cNvPr id="8" name="Text 5"/>
          <p:cNvSpPr txBox="1"/>
          <p:nvPr/>
        </p:nvSpPr>
        <p:spPr>
          <a:xfrm>
            <a:off x="1481328" y="1691640"/>
            <a:ext cx="2743200" cy="274320"/>
          </a:xfrm>
          <a:prstGeom prst="rect">
            <a:avLst/>
          </a:prstGeom>
          <a:noFill/>
          <a:ln/>
        </p:spPr>
        <p:txBody>
          <a:bodyPr wrap="square" lIns="0" tIns="0" rIns="0" bIns="0" rtlCol="0" anchor="t"/>
          <a:lstStyle/>
          <a:p>
            <a:pPr indent="0" marL="0">
              <a:buNone/>
            </a:pPr>
            <a:r>
              <a:rPr lang="en-US" sz="1200" b="1" dirty="0">
                <a:solidFill>
                  <a:srgbClr val="2F7F73"/>
                </a:solidFill>
                <a:latin typeface="Calibri" pitchFamily="34" charset="0"/>
                <a:ea typeface="Calibri" pitchFamily="34" charset="-122"/>
                <a:cs typeface="Calibri" pitchFamily="34" charset="-120"/>
              </a:rPr>
              <a:t>Domain 1 — source</a:t>
            </a:r>
            <a:endParaRPr lang="en-US" sz="1200" dirty="0"/>
          </a:p>
        </p:txBody>
      </p:sp>
      <p:sp>
        <p:nvSpPr>
          <p:cNvPr id="9" name="Text 6"/>
          <p:cNvSpPr txBox="1"/>
          <p:nvPr/>
        </p:nvSpPr>
        <p:spPr>
          <a:xfrm>
            <a:off x="1481328" y="1947672"/>
            <a:ext cx="2743200" cy="320040"/>
          </a:xfrm>
          <a:prstGeom prst="rect">
            <a:avLst/>
          </a:prstGeom>
          <a:noFill/>
          <a:ln/>
        </p:spPr>
        <p:txBody>
          <a:bodyPr wrap="square" lIns="0" tIns="0" rIns="0" bIns="0" rtlCol="0" anchor="t"/>
          <a:lstStyle/>
          <a:p>
            <a:pPr indent="0" marL="0">
              <a:buNone/>
            </a:pPr>
            <a:r>
              <a:rPr lang="en-US" sz="1600" b="1" dirty="0">
                <a:solidFill>
                  <a:srgbClr val="1B2B31"/>
                </a:solidFill>
                <a:latin typeface="Calibri" pitchFamily="34" charset="0"/>
                <a:ea typeface="Calibri" pitchFamily="34" charset="-122"/>
                <a:cs typeface="Calibri" pitchFamily="34" charset="-120"/>
              </a:rPr>
              <a:t>Hilly region (Shimla)</a:t>
            </a:r>
            <a:endParaRPr lang="en-US" sz="1600" dirty="0"/>
          </a:p>
        </p:txBody>
      </p:sp>
      <p:sp>
        <p:nvSpPr>
          <p:cNvPr id="10" name="Text 7"/>
          <p:cNvSpPr txBox="1"/>
          <p:nvPr/>
        </p:nvSpPr>
        <p:spPr>
          <a:xfrm>
            <a:off x="777240" y="2514600"/>
            <a:ext cx="3383280" cy="13716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4F5F65"/>
                </a:solidFill>
                <a:latin typeface="Calibri" pitchFamily="34" charset="0"/>
                <a:ea typeface="Calibri" pitchFamily="34" charset="-122"/>
                <a:cs typeface="Calibri" pitchFamily="34" charset="-120"/>
              </a:rPr>
              <a:t>Past window x and future y both available</a:t>
            </a:r>
            <a:endParaRPr lang="en-US" sz="1300" dirty="0"/>
          </a:p>
          <a:p>
            <a:pPr marL="342900" indent="-342900">
              <a:spcAft>
                <a:spcPts val="400"/>
              </a:spcAft>
              <a:buSzPct val="100000"/>
              <a:buChar char="•"/>
            </a:pPr>
            <a:r>
              <a:rPr lang="en-US" sz="1300" dirty="0">
                <a:solidFill>
                  <a:srgbClr val="4F5F65"/>
                </a:solidFill>
                <a:latin typeface="Calibri" pitchFamily="34" charset="0"/>
                <a:ea typeface="Calibri" pitchFamily="34" charset="-122"/>
                <a:cs typeface="Calibri" pitchFamily="34" charset="-120"/>
              </a:rPr>
              <a:t>Train forecaster f_θ : x → ŷ</a:t>
            </a:r>
            <a:endParaRPr lang="en-US" sz="1300" dirty="0"/>
          </a:p>
          <a:p>
            <a:pPr marL="342900" indent="-342900">
              <a:spcAft>
                <a:spcPts val="400"/>
              </a:spcAft>
              <a:buSzPct val="100000"/>
              <a:buChar char="•"/>
            </a:pPr>
            <a:r>
              <a:rPr lang="en-US" sz="1300" dirty="0">
                <a:solidFill>
                  <a:srgbClr val="4F5F65"/>
                </a:solidFill>
                <a:latin typeface="Calibri" pitchFamily="34" charset="0"/>
                <a:ea typeface="Calibri" pitchFamily="34" charset="-122"/>
                <a:cs typeface="Calibri" pitchFamily="34" charset="-120"/>
              </a:rPr>
              <a:t>Years of labeled history</a:t>
            </a:r>
            <a:endParaRPr lang="en-US" sz="1300" dirty="0"/>
          </a:p>
        </p:txBody>
      </p:sp>
      <p:sp>
        <p:nvSpPr>
          <p:cNvPr id="11" name="Shape 8"/>
          <p:cNvSpPr/>
          <p:nvPr/>
        </p:nvSpPr>
        <p:spPr>
          <a:xfrm>
            <a:off x="4434840" y="2788920"/>
            <a:ext cx="914400" cy="914"/>
          </a:xfrm>
          <a:prstGeom prst="line">
            <a:avLst/>
          </a:prstGeom>
          <a:noFill/>
          <a:ln w="25400">
            <a:solidFill>
              <a:srgbClr val="1B2B31"/>
            </a:solidFill>
            <a:prstDash val="solid"/>
            <a:tailEnd type="triangle"/>
          </a:ln>
        </p:spPr>
      </p:sp>
      <p:sp>
        <p:nvSpPr>
          <p:cNvPr id="12" name="Text 9"/>
          <p:cNvSpPr txBox="1"/>
          <p:nvPr/>
        </p:nvSpPr>
        <p:spPr>
          <a:xfrm>
            <a:off x="4297680" y="2926080"/>
            <a:ext cx="1188720" cy="548640"/>
          </a:xfrm>
          <a:prstGeom prst="rect">
            <a:avLst/>
          </a:prstGeom>
          <a:noFill/>
          <a:ln/>
        </p:spPr>
        <p:txBody>
          <a:bodyPr wrap="square" lIns="0" tIns="0" rIns="0" bIns="0" rtlCol="0" anchor="t"/>
          <a:lstStyle/>
          <a:p>
            <a:pPr algn="ctr" indent="0" marL="0">
              <a:buNone/>
            </a:pPr>
            <a:r>
              <a:rPr lang="en-US" sz="1100" dirty="0">
                <a:solidFill>
                  <a:srgbClr val="4F5F65"/>
                </a:solidFill>
                <a:latin typeface="Calibri" pitchFamily="34" charset="0"/>
                <a:ea typeface="Calibri" pitchFamily="34" charset="-122"/>
                <a:cs typeface="Calibri" pitchFamily="34" charset="-120"/>
              </a:rPr>
              <a:t>adapt</a:t>
            </a:r>
            <a:endParaRPr lang="en-US" sz="1100" dirty="0"/>
          </a:p>
          <a:p>
            <a:pPr algn="ctr" indent="0" marL="0">
              <a:buNone/>
            </a:pPr>
            <a:r>
              <a:rPr lang="en-US" sz="1100" dirty="0">
                <a:solidFill>
                  <a:srgbClr val="4F5F65"/>
                </a:solidFill>
                <a:latin typeface="Calibri" pitchFamily="34" charset="0"/>
                <a:ea typeface="Calibri" pitchFamily="34" charset="-122"/>
                <a:cs typeface="Calibri" pitchFamily="34" charset="-120"/>
              </a:rPr>
              <a:t>(no target labels)</a:t>
            </a:r>
            <a:endParaRPr lang="en-US" sz="1100" dirty="0"/>
          </a:p>
        </p:txBody>
      </p:sp>
      <p:sp>
        <p:nvSpPr>
          <p:cNvPr id="13" name="Shape 10"/>
          <p:cNvSpPr/>
          <p:nvPr/>
        </p:nvSpPr>
        <p:spPr>
          <a:xfrm>
            <a:off x="5486400" y="1463040"/>
            <a:ext cx="3749040" cy="2651760"/>
          </a:xfrm>
          <a:prstGeom prst="roundRect">
            <a:avLst>
              <a:gd name="adj" fmla="val 2759"/>
            </a:avLst>
          </a:prstGeom>
          <a:solidFill>
            <a:srgbClr val="FBEBD3"/>
          </a:solidFill>
          <a:ln w="12700">
            <a:solidFill>
              <a:srgbClr val="FBEBD3"/>
            </a:solidFill>
            <a:prstDash val="solid"/>
          </a:ln>
        </p:spPr>
      </p:sp>
      <p:sp>
        <p:nvSpPr>
          <p:cNvPr id="14" name="Shape 11"/>
          <p:cNvSpPr/>
          <p:nvPr/>
        </p:nvSpPr>
        <p:spPr>
          <a:xfrm>
            <a:off x="5715000" y="1664208"/>
            <a:ext cx="566928" cy="566928"/>
          </a:xfrm>
          <a:prstGeom prst="ellipse">
            <a:avLst/>
          </a:prstGeom>
          <a:solidFill>
            <a:srgbClr val="D98A1E"/>
          </a:solidFill>
          <a:ln w="12700">
            <a:solidFill>
              <a:srgbClr val="D98A1E"/>
            </a:solidFill>
            <a:prstDash val="solid"/>
          </a:ln>
        </p:spPr>
      </p:sp>
      <p:pic>
        <p:nvPicPr>
          <p:cNvPr id="15" name="Image 1" descr="preencoded.png">    </p:cNvPr>
          <p:cNvPicPr>
            <a:picLocks noChangeAspect="1"/>
          </p:cNvPicPr>
          <p:nvPr/>
        </p:nvPicPr>
        <p:blipFill>
          <a:blip r:embed="rId3"/>
          <a:stretch>
            <a:fillRect/>
          </a:stretch>
        </p:blipFill>
        <p:spPr>
          <a:xfrm>
            <a:off x="5862401" y="1811609"/>
            <a:ext cx="272125" cy="272125"/>
          </a:xfrm>
          <a:prstGeom prst="rect">
            <a:avLst/>
          </a:prstGeom>
        </p:spPr>
      </p:pic>
      <p:sp>
        <p:nvSpPr>
          <p:cNvPr id="16" name="Text 12"/>
          <p:cNvSpPr txBox="1"/>
          <p:nvPr/>
        </p:nvSpPr>
        <p:spPr>
          <a:xfrm>
            <a:off x="6419088" y="1691640"/>
            <a:ext cx="2743200" cy="274320"/>
          </a:xfrm>
          <a:prstGeom prst="rect">
            <a:avLst/>
          </a:prstGeom>
          <a:noFill/>
          <a:ln/>
        </p:spPr>
        <p:txBody>
          <a:bodyPr wrap="square" lIns="0" tIns="0" rIns="0" bIns="0" rtlCol="0" anchor="t"/>
          <a:lstStyle/>
          <a:p>
            <a:pPr indent="0" marL="0">
              <a:buNone/>
            </a:pPr>
            <a:r>
              <a:rPr lang="en-US" sz="1200" b="1" dirty="0">
                <a:solidFill>
                  <a:srgbClr val="A5650F"/>
                </a:solidFill>
                <a:latin typeface="Calibri" pitchFamily="34" charset="0"/>
                <a:ea typeface="Calibri" pitchFamily="34" charset="-122"/>
                <a:cs typeface="Calibri" pitchFamily="34" charset="-120"/>
              </a:rPr>
              <a:t>Domain 2 — target</a:t>
            </a:r>
            <a:endParaRPr lang="en-US" sz="1200" dirty="0"/>
          </a:p>
        </p:txBody>
      </p:sp>
      <p:sp>
        <p:nvSpPr>
          <p:cNvPr id="17" name="Text 13"/>
          <p:cNvSpPr txBox="1"/>
          <p:nvPr/>
        </p:nvSpPr>
        <p:spPr>
          <a:xfrm>
            <a:off x="6419088" y="1947672"/>
            <a:ext cx="2743200" cy="320040"/>
          </a:xfrm>
          <a:prstGeom prst="rect">
            <a:avLst/>
          </a:prstGeom>
          <a:noFill/>
          <a:ln/>
        </p:spPr>
        <p:txBody>
          <a:bodyPr wrap="square" lIns="0" tIns="0" rIns="0" bIns="0" rtlCol="0" anchor="t"/>
          <a:lstStyle/>
          <a:p>
            <a:pPr indent="0" marL="0">
              <a:buNone/>
            </a:pPr>
            <a:r>
              <a:rPr lang="en-US" sz="1600" b="1" dirty="0">
                <a:solidFill>
                  <a:srgbClr val="1B2B31"/>
                </a:solidFill>
                <a:latin typeface="Calibri" pitchFamily="34" charset="0"/>
                <a:ea typeface="Calibri" pitchFamily="34" charset="-122"/>
                <a:cs typeface="Calibri" pitchFamily="34" charset="-120"/>
              </a:rPr>
              <a:t>Plain region (Delhi)</a:t>
            </a:r>
            <a:endParaRPr lang="en-US" sz="1600" dirty="0"/>
          </a:p>
        </p:txBody>
      </p:sp>
      <p:sp>
        <p:nvSpPr>
          <p:cNvPr id="18" name="Text 14"/>
          <p:cNvSpPr txBox="1"/>
          <p:nvPr/>
        </p:nvSpPr>
        <p:spPr>
          <a:xfrm>
            <a:off x="5715000" y="2514600"/>
            <a:ext cx="3383280" cy="13716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4F5F65"/>
                </a:solidFill>
                <a:latin typeface="Calibri" pitchFamily="34" charset="0"/>
                <a:ea typeface="Calibri" pitchFamily="34" charset="-122"/>
                <a:cs typeface="Calibri" pitchFamily="34" charset="-120"/>
              </a:rPr>
              <a:t>Only input windows x available</a:t>
            </a:r>
            <a:endParaRPr lang="en-US" sz="1300" dirty="0"/>
          </a:p>
          <a:p>
            <a:pPr marL="342900" indent="-342900">
              <a:spcAft>
                <a:spcPts val="400"/>
              </a:spcAft>
              <a:buSzPct val="100000"/>
              <a:buChar char="•"/>
            </a:pPr>
            <a:r>
              <a:rPr lang="en-US" sz="1300" dirty="0">
                <a:solidFill>
                  <a:srgbClr val="4F5F65"/>
                </a:solidFill>
                <a:latin typeface="Calibri" pitchFamily="34" charset="0"/>
                <a:ea typeface="Calibri" pitchFamily="34" charset="-122"/>
                <a:cs typeface="Calibri" pitchFamily="34" charset="-120"/>
              </a:rPr>
              <a:t>Different level, cycles, correlations</a:t>
            </a:r>
            <a:endParaRPr lang="en-US" sz="1300" dirty="0"/>
          </a:p>
          <a:p>
            <a:pPr marL="342900" indent="-342900">
              <a:spcAft>
                <a:spcPts val="400"/>
              </a:spcAft>
              <a:buSzPct val="100000"/>
              <a:buChar char="•"/>
            </a:pPr>
            <a:r>
              <a:rPr lang="en-US" sz="1300" dirty="0">
                <a:solidFill>
                  <a:srgbClr val="4F5F65"/>
                </a:solidFill>
                <a:latin typeface="Calibri" pitchFamily="34" charset="0"/>
                <a:ea typeface="Calibri" pitchFamily="34" charset="-122"/>
                <a:cs typeface="Calibri" pitchFamily="34" charset="-120"/>
              </a:rPr>
              <a:t>Goal: adapted f_θ' with low target error</a:t>
            </a:r>
            <a:endParaRPr lang="en-US" sz="1300" dirty="0"/>
          </a:p>
        </p:txBody>
      </p:sp>
      <p:sp>
        <p:nvSpPr>
          <p:cNvPr id="19" name="Shape 15"/>
          <p:cNvSpPr/>
          <p:nvPr/>
        </p:nvSpPr>
        <p:spPr>
          <a:xfrm>
            <a:off x="9509760" y="1463040"/>
            <a:ext cx="2130552" cy="2651760"/>
          </a:xfrm>
          <a:prstGeom prst="roundRect">
            <a:avLst>
              <a:gd name="adj" fmla="val 3433"/>
            </a:avLst>
          </a:prstGeom>
          <a:solidFill>
            <a:srgbClr val="F1F6F5"/>
          </a:solidFill>
          <a:ln w="12700">
            <a:solidFill>
              <a:srgbClr val="F1F6F5"/>
            </a:solidFill>
            <a:prstDash val="solid"/>
          </a:ln>
        </p:spPr>
      </p:sp>
      <p:sp>
        <p:nvSpPr>
          <p:cNvPr id="20" name="Text 16"/>
          <p:cNvSpPr txBox="1"/>
          <p:nvPr/>
        </p:nvSpPr>
        <p:spPr>
          <a:xfrm>
            <a:off x="9674352" y="1627632"/>
            <a:ext cx="1828800" cy="274320"/>
          </a:xfrm>
          <a:prstGeom prst="rect">
            <a:avLst/>
          </a:prstGeom>
          <a:noFill/>
          <a:ln/>
        </p:spPr>
        <p:txBody>
          <a:bodyPr wrap="square" lIns="0" tIns="0" rIns="0" bIns="0" rtlCol="0" anchor="t"/>
          <a:lstStyle/>
          <a:p>
            <a:pPr indent="0" marL="0">
              <a:buNone/>
            </a:pPr>
            <a:r>
              <a:rPr lang="en-US" sz="1200" b="1" dirty="0">
                <a:solidFill>
                  <a:srgbClr val="2F7F73"/>
                </a:solidFill>
                <a:latin typeface="Calibri" pitchFamily="34" charset="0"/>
                <a:ea typeface="Calibri" pitchFamily="34" charset="-122"/>
                <a:cs typeface="Calibri" pitchFamily="34" charset="-120"/>
              </a:rPr>
              <a:t>Same pattern elsewhere</a:t>
            </a:r>
            <a:endParaRPr lang="en-US" sz="1200" dirty="0"/>
          </a:p>
        </p:txBody>
      </p:sp>
      <p:sp>
        <p:nvSpPr>
          <p:cNvPr id="21" name="Shape 17"/>
          <p:cNvSpPr/>
          <p:nvPr/>
        </p:nvSpPr>
        <p:spPr>
          <a:xfrm>
            <a:off x="9692640" y="2057400"/>
            <a:ext cx="420624" cy="420624"/>
          </a:xfrm>
          <a:prstGeom prst="ellipse">
            <a:avLst/>
          </a:prstGeom>
          <a:solidFill>
            <a:srgbClr val="4F5F65"/>
          </a:solidFill>
          <a:ln w="12700">
            <a:solidFill>
              <a:srgbClr val="4F5F65"/>
            </a:solidFill>
            <a:prstDash val="solid"/>
          </a:ln>
        </p:spPr>
      </p:sp>
      <p:pic>
        <p:nvPicPr>
          <p:cNvPr id="22" name="Image 2" descr="preencoded.png">    </p:cNvPr>
          <p:cNvPicPr>
            <a:picLocks noChangeAspect="1"/>
          </p:cNvPicPr>
          <p:nvPr/>
        </p:nvPicPr>
        <p:blipFill>
          <a:blip r:embed="rId4"/>
          <a:stretch>
            <a:fillRect/>
          </a:stretch>
        </p:blipFill>
        <p:spPr>
          <a:xfrm>
            <a:off x="9802002" y="2166762"/>
            <a:ext cx="201900" cy="201900"/>
          </a:xfrm>
          <a:prstGeom prst="rect">
            <a:avLst/>
          </a:prstGeom>
        </p:spPr>
      </p:pic>
      <p:sp>
        <p:nvSpPr>
          <p:cNvPr id="23" name="Text 18"/>
          <p:cNvSpPr txBox="1"/>
          <p:nvPr/>
        </p:nvSpPr>
        <p:spPr>
          <a:xfrm>
            <a:off x="10195560" y="2057400"/>
            <a:ext cx="1371600" cy="457200"/>
          </a:xfrm>
          <a:prstGeom prst="rect">
            <a:avLst/>
          </a:prstGeom>
          <a:noFill/>
          <a:ln/>
        </p:spPr>
        <p:txBody>
          <a:bodyPr wrap="square" lIns="0" tIns="0" rIns="0" bIns="0" rtlCol="0" anchor="t"/>
          <a:lstStyle/>
          <a:p>
            <a:pPr indent="0" marL="0">
              <a:buNone/>
            </a:pPr>
            <a:r>
              <a:rPr lang="en-US" sz="1150" dirty="0">
                <a:solidFill>
                  <a:srgbClr val="1B2B31"/>
                </a:solidFill>
                <a:latin typeface="Calibri" pitchFamily="34" charset="0"/>
                <a:ea typeface="Calibri" pitchFamily="34" charset="-122"/>
                <a:cs typeface="Calibri" pitchFamily="34" charset="-120"/>
              </a:rPr>
              <a:t>IT stock → Pharma stock</a:t>
            </a:r>
            <a:endParaRPr lang="en-US" sz="1150" dirty="0"/>
          </a:p>
        </p:txBody>
      </p:sp>
      <p:sp>
        <p:nvSpPr>
          <p:cNvPr id="24" name="Shape 19"/>
          <p:cNvSpPr/>
          <p:nvPr/>
        </p:nvSpPr>
        <p:spPr>
          <a:xfrm>
            <a:off x="9692640" y="2788920"/>
            <a:ext cx="420624" cy="420624"/>
          </a:xfrm>
          <a:prstGeom prst="ellipse">
            <a:avLst/>
          </a:prstGeom>
          <a:solidFill>
            <a:srgbClr val="4F5F65"/>
          </a:solidFill>
          <a:ln w="12700">
            <a:solidFill>
              <a:srgbClr val="4F5F65"/>
            </a:solidFill>
            <a:prstDash val="solid"/>
          </a:ln>
        </p:spPr>
      </p:sp>
      <p:pic>
        <p:nvPicPr>
          <p:cNvPr id="25" name="Image 3" descr="preencoded.png">    </p:cNvPr>
          <p:cNvPicPr>
            <a:picLocks noChangeAspect="1"/>
          </p:cNvPicPr>
          <p:nvPr/>
        </p:nvPicPr>
        <p:blipFill>
          <a:blip r:embed="rId5"/>
          <a:stretch>
            <a:fillRect/>
          </a:stretch>
        </p:blipFill>
        <p:spPr>
          <a:xfrm>
            <a:off x="9802002" y="2898282"/>
            <a:ext cx="201900" cy="201900"/>
          </a:xfrm>
          <a:prstGeom prst="rect">
            <a:avLst/>
          </a:prstGeom>
        </p:spPr>
      </p:pic>
      <p:sp>
        <p:nvSpPr>
          <p:cNvPr id="26" name="Text 20"/>
          <p:cNvSpPr txBox="1"/>
          <p:nvPr/>
        </p:nvSpPr>
        <p:spPr>
          <a:xfrm>
            <a:off x="10195560" y="2788920"/>
            <a:ext cx="1371600" cy="457200"/>
          </a:xfrm>
          <a:prstGeom prst="rect">
            <a:avLst/>
          </a:prstGeom>
          <a:noFill/>
          <a:ln/>
        </p:spPr>
        <p:txBody>
          <a:bodyPr wrap="square" lIns="0" tIns="0" rIns="0" bIns="0" rtlCol="0" anchor="t"/>
          <a:lstStyle/>
          <a:p>
            <a:pPr indent="0" marL="0">
              <a:buNone/>
            </a:pPr>
            <a:r>
              <a:rPr lang="en-US" sz="1150" dirty="0">
                <a:solidFill>
                  <a:srgbClr val="1B2B31"/>
                </a:solidFill>
                <a:latin typeface="Calibri" pitchFamily="34" charset="0"/>
                <a:ea typeface="Calibri" pitchFamily="34" charset="-122"/>
                <a:cs typeface="Calibri" pitchFamily="34" charset="-120"/>
              </a:rPr>
              <a:t>Transformer A → Transformer B</a:t>
            </a:r>
            <a:endParaRPr lang="en-US" sz="1150" dirty="0"/>
          </a:p>
        </p:txBody>
      </p:sp>
      <p:sp>
        <p:nvSpPr>
          <p:cNvPr id="27" name="Shape 21"/>
          <p:cNvSpPr/>
          <p:nvPr/>
        </p:nvSpPr>
        <p:spPr>
          <a:xfrm>
            <a:off x="548640" y="4343400"/>
            <a:ext cx="11091672" cy="1828800"/>
          </a:xfrm>
          <a:prstGeom prst="roundRect">
            <a:avLst>
              <a:gd name="adj" fmla="val 4000"/>
            </a:avLst>
          </a:prstGeom>
          <a:solidFill>
            <a:srgbClr val="FFFFFF"/>
          </a:solidFill>
          <a:ln w="12700">
            <a:solidFill>
              <a:srgbClr val="FFFFFF"/>
            </a:solidFill>
            <a:prstDash val="solid"/>
          </a:ln>
        </p:spPr>
      </p:sp>
      <p:sp>
        <p:nvSpPr>
          <p:cNvPr id="28" name="Shape 22"/>
          <p:cNvSpPr/>
          <p:nvPr/>
        </p:nvSpPr>
        <p:spPr>
          <a:xfrm>
            <a:off x="548640" y="4343400"/>
            <a:ext cx="11091672" cy="1828800"/>
          </a:xfrm>
          <a:prstGeom prst="roundRect">
            <a:avLst>
              <a:gd name="adj" fmla="val 4000"/>
            </a:avLst>
          </a:prstGeom>
          <a:solidFill>
            <a:srgbClr val="FFFFFF"/>
          </a:solidFill>
          <a:ln w="12700">
            <a:solidFill>
              <a:srgbClr val="CFDAD8"/>
            </a:solidFill>
            <a:prstDash val="solid"/>
          </a:ln>
        </p:spPr>
      </p:sp>
      <p:sp>
        <p:nvSpPr>
          <p:cNvPr id="29" name="Text 23"/>
          <p:cNvSpPr txBox="1"/>
          <p:nvPr/>
        </p:nvSpPr>
        <p:spPr>
          <a:xfrm>
            <a:off x="777240" y="4480560"/>
            <a:ext cx="10058400" cy="320040"/>
          </a:xfrm>
          <a:prstGeom prst="rect">
            <a:avLst/>
          </a:prstGeom>
          <a:noFill/>
          <a:ln/>
        </p:spPr>
        <p:txBody>
          <a:bodyPr wrap="square" lIns="0" tIns="0" rIns="0" bIns="0" rtlCol="0" anchor="t"/>
          <a:lstStyle/>
          <a:p>
            <a:pPr indent="0" marL="0">
              <a:buNone/>
            </a:pPr>
            <a:r>
              <a:rPr lang="en-US" sz="1400" b="1" dirty="0">
                <a:solidFill>
                  <a:srgbClr val="2F7F73"/>
                </a:solidFill>
                <a:latin typeface="Calibri" pitchFamily="34" charset="0"/>
                <a:ea typeface="Calibri" pitchFamily="34" charset="-122"/>
                <a:cs typeface="Calibri" pitchFamily="34" charset="-120"/>
              </a:rPr>
              <a:t>Formal setting — unsupervised domain adaptation (UDA) for forecasting</a:t>
            </a:r>
            <a:endParaRPr lang="en-US" sz="1400" dirty="0"/>
          </a:p>
        </p:txBody>
      </p:sp>
      <p:sp>
        <p:nvSpPr>
          <p:cNvPr id="30" name="Text 24"/>
          <p:cNvSpPr txBox="1"/>
          <p:nvPr/>
        </p:nvSpPr>
        <p:spPr>
          <a:xfrm>
            <a:off x="777240" y="4846320"/>
            <a:ext cx="10698480" cy="1234440"/>
          </a:xfrm>
          <a:prstGeom prst="rect">
            <a:avLst/>
          </a:prstGeom>
          <a:noFill/>
          <a:ln/>
        </p:spPr>
        <p:txBody>
          <a:bodyPr wrap="square" lIns="0" tIns="0" rIns="0" bIns="0" rtlCol="0" anchor="t"/>
          <a:lstStyle/>
          <a:p>
            <a:pPr indent="0" marL="0">
              <a:spcAft>
                <a:spcPts val="500"/>
              </a:spcAft>
              <a:buNone/>
            </a:pPr>
            <a:r>
              <a:rPr lang="en-US" sz="1350" b="1" dirty="0">
                <a:solidFill>
                  <a:srgbClr val="1B2B31"/>
                </a:solidFill>
                <a:latin typeface="Calibri" pitchFamily="34" charset="0"/>
                <a:ea typeface="Calibri" pitchFamily="34" charset="-122"/>
                <a:cs typeface="Calibri" pitchFamily="34" charset="-120"/>
              </a:rPr>
              <a:t>Source </a:t>
            </a:r>
            <a:pPr indent="0" marL="0">
              <a:spcAft>
                <a:spcPts val="500"/>
              </a:spcAft>
              <a:buNone/>
            </a:pPr>
            <a:r>
              <a:rPr lang="en-US" sz="1350" dirty="0">
                <a:solidFill>
                  <a:srgbClr val="1B2B31"/>
                </a:solidFill>
                <a:latin typeface="Calibri" pitchFamily="34" charset="0"/>
                <a:ea typeface="Calibri" pitchFamily="34" charset="-122"/>
                <a:cs typeface="Calibri" pitchFamily="34" charset="-120"/>
              </a:rPr>
              <a:t>D_S = {(x_i, y_i)}: look-back x ∈ ℝ^(L×C) and horizon y ∈ ℝ^(H×C) (multivariate, C variables).</a:t>
            </a:r>
            <a:endParaRPr lang="en-US" sz="1350" dirty="0"/>
          </a:p>
          <a:p>
            <a:pPr indent="0" marL="0">
              <a:spcAft>
                <a:spcPts val="500"/>
              </a:spcAft>
              <a:buNone/>
            </a:pPr>
            <a:r>
              <a:rPr lang="en-US" sz="1350" b="1" dirty="0">
                <a:solidFill>
                  <a:srgbClr val="1B2B31"/>
                </a:solidFill>
                <a:latin typeface="Calibri" pitchFamily="34" charset="0"/>
                <a:ea typeface="Calibri" pitchFamily="34" charset="-122"/>
                <a:cs typeface="Calibri" pitchFamily="34" charset="-120"/>
              </a:rPr>
              <a:t>Target </a:t>
            </a:r>
            <a:pPr indent="0" marL="0">
              <a:spcAft>
                <a:spcPts val="500"/>
              </a:spcAft>
              <a:buNone/>
            </a:pPr>
            <a:r>
              <a:rPr lang="en-US" sz="1350" dirty="0">
                <a:solidFill>
                  <a:srgbClr val="1B2B31"/>
                </a:solidFill>
                <a:latin typeface="Calibri" pitchFamily="34" charset="0"/>
                <a:ea typeface="Calibri" pitchFamily="34" charset="-122"/>
                <a:cs typeface="Calibri" pitchFamily="34" charset="-120"/>
              </a:rPr>
              <a:t>D_T = {x_j}: input windows only, and P_T(x, y) ≠ P_S(x, y).</a:t>
            </a:r>
            <a:endParaRPr lang="en-US" sz="1350" dirty="0"/>
          </a:p>
          <a:p>
            <a:pPr indent="0" marL="0">
              <a:spcAft>
                <a:spcPts val="500"/>
              </a:spcAft>
              <a:buNone/>
            </a:pPr>
            <a:r>
              <a:rPr lang="en-US" sz="1350" b="1" dirty="0">
                <a:solidFill>
                  <a:srgbClr val="1B2B31"/>
                </a:solidFill>
                <a:latin typeface="Calibri" pitchFamily="34" charset="0"/>
                <a:ea typeface="Calibri" pitchFamily="34" charset="-122"/>
                <a:cs typeface="Calibri" pitchFamily="34" charset="-120"/>
              </a:rPr>
              <a:t>Goal </a:t>
            </a:r>
            <a:pPr indent="0" marL="0">
              <a:spcAft>
                <a:spcPts val="500"/>
              </a:spcAft>
              <a:buNone/>
            </a:pPr>
            <a:r>
              <a:rPr lang="en-US" sz="1350" dirty="0">
                <a:solidFill>
                  <a:srgbClr val="1B2B31"/>
                </a:solidFill>
                <a:latin typeface="Calibri" pitchFamily="34" charset="0"/>
                <a:ea typeface="Calibri" pitchFamily="34" charset="-122"/>
                <a:cs typeface="Calibri" pitchFamily="34" charset="-120"/>
              </a:rPr>
              <a:t>find f minimising the target risk  E_(x,y)~P_T ‖f(x) − y‖², starting from the source model, with no target future values used for training or model selection.</a:t>
            </a:r>
            <a:endParaRPr lang="en-US" sz="13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01 · PROBLEM UNDERSTANDING</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What actually shifts between hills and plains?</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pic>
        <p:nvPicPr>
          <p:cNvPr id="5" name="Image 0" descr="C:\Users\miral\OneDrive\Documents\IE643_project\results\figures\climate_domain_shift.png">    </p:cNvPr>
          <p:cNvPicPr>
            <a:picLocks noChangeAspect="1"/>
          </p:cNvPicPr>
          <p:nvPr/>
        </p:nvPicPr>
        <p:blipFill>
          <a:blip r:embed="rId2"/>
          <a:stretch>
            <a:fillRect/>
          </a:stretch>
        </p:blipFill>
        <p:spPr>
          <a:xfrm>
            <a:off x="815816" y="1371600"/>
            <a:ext cx="10529888" cy="3017520"/>
          </a:xfrm>
          <a:prstGeom prst="rect">
            <a:avLst/>
          </a:prstGeom>
        </p:spPr>
      </p:pic>
      <p:sp>
        <p:nvSpPr>
          <p:cNvPr id="6" name="Shape 3"/>
          <p:cNvSpPr/>
          <p:nvPr/>
        </p:nvSpPr>
        <p:spPr>
          <a:xfrm>
            <a:off x="548640" y="4572000"/>
            <a:ext cx="3566160" cy="1691640"/>
          </a:xfrm>
          <a:prstGeom prst="roundRect">
            <a:avLst>
              <a:gd name="adj" fmla="val 4324"/>
            </a:avLst>
          </a:prstGeom>
          <a:solidFill>
            <a:srgbClr val="F1F6F5"/>
          </a:solidFill>
          <a:ln w="12700">
            <a:solidFill>
              <a:srgbClr val="F1F6F5"/>
            </a:solidFill>
            <a:prstDash val="solid"/>
          </a:ln>
        </p:spPr>
      </p:sp>
      <p:sp>
        <p:nvSpPr>
          <p:cNvPr id="7" name="Shape 4"/>
          <p:cNvSpPr/>
          <p:nvPr/>
        </p:nvSpPr>
        <p:spPr>
          <a:xfrm>
            <a:off x="731520" y="4736592"/>
            <a:ext cx="457200" cy="457200"/>
          </a:xfrm>
          <a:prstGeom prst="ellipse">
            <a:avLst/>
          </a:prstGeom>
          <a:solidFill>
            <a:srgbClr val="2F7F73"/>
          </a:solidFill>
          <a:ln w="12700">
            <a:solidFill>
              <a:srgbClr val="2F7F73"/>
            </a:solidFill>
            <a:prstDash val="solid"/>
          </a:ln>
        </p:spPr>
      </p:sp>
      <p:pic>
        <p:nvPicPr>
          <p:cNvPr id="8" name="Image 1" descr="preencoded.png">    </p:cNvPr>
          <p:cNvPicPr>
            <a:picLocks noChangeAspect="1"/>
          </p:cNvPicPr>
          <p:nvPr/>
        </p:nvPicPr>
        <p:blipFill>
          <a:blip r:embed="rId3"/>
          <a:stretch>
            <a:fillRect/>
          </a:stretch>
        </p:blipFill>
        <p:spPr>
          <a:xfrm>
            <a:off x="850392" y="4855464"/>
            <a:ext cx="219456" cy="219456"/>
          </a:xfrm>
          <a:prstGeom prst="rect">
            <a:avLst/>
          </a:prstGeom>
        </p:spPr>
      </p:pic>
      <p:sp>
        <p:nvSpPr>
          <p:cNvPr id="9" name="Text 5"/>
          <p:cNvSpPr txBox="1"/>
          <p:nvPr/>
        </p:nvSpPr>
        <p:spPr>
          <a:xfrm>
            <a:off x="1325880" y="4800600"/>
            <a:ext cx="2651760" cy="365760"/>
          </a:xfrm>
          <a:prstGeom prst="rect">
            <a:avLst/>
          </a:prstGeom>
          <a:noFill/>
          <a:ln/>
        </p:spPr>
        <p:txBody>
          <a:bodyPr wrap="square" lIns="0" tIns="0" rIns="0" bIns="0" rtlCol="0" anchor="t"/>
          <a:lstStyle/>
          <a:p>
            <a:pPr indent="0" marL="0">
              <a:buNone/>
            </a:pPr>
            <a:r>
              <a:rPr lang="en-US" sz="1450" b="1" dirty="0">
                <a:solidFill>
                  <a:srgbClr val="1B2B31"/>
                </a:solidFill>
                <a:latin typeface="Calibri" pitchFamily="34" charset="0"/>
                <a:ea typeface="Calibri" pitchFamily="34" charset="-122"/>
                <a:cs typeface="Calibri" pitchFamily="34" charset="-120"/>
              </a:rPr>
              <a:t>Marginal / level shift</a:t>
            </a:r>
            <a:endParaRPr lang="en-US" sz="1450" dirty="0"/>
          </a:p>
        </p:txBody>
      </p:sp>
      <p:sp>
        <p:nvSpPr>
          <p:cNvPr id="10" name="Text 6"/>
          <p:cNvSpPr txBox="1"/>
          <p:nvPr/>
        </p:nvSpPr>
        <p:spPr>
          <a:xfrm>
            <a:off x="731520" y="5303520"/>
            <a:ext cx="3246120" cy="914400"/>
          </a:xfrm>
          <a:prstGeom prst="rect">
            <a:avLst/>
          </a:prstGeom>
          <a:noFill/>
          <a:ln/>
        </p:spPr>
        <p:txBody>
          <a:bodyPr wrap="square" lIns="0" tIns="0" rIns="0" bIns="0" rtlCol="0" anchor="t"/>
          <a:lstStyle/>
          <a:p>
            <a:pPr indent="0" marL="0">
              <a:buNone/>
            </a:pPr>
            <a:r>
              <a:rPr lang="en-US" sz="1150" dirty="0">
                <a:solidFill>
                  <a:srgbClr val="4F5F65"/>
                </a:solidFill>
                <a:latin typeface="Calibri" pitchFamily="34" charset="0"/>
                <a:ea typeface="Calibri" pitchFamily="34" charset="-122"/>
                <a:cs typeface="Calibri" pitchFamily="34" charset="-120"/>
              </a:rPr>
              <a:t>Mean temperature 11.4 °C vs 24.6 °C; surface pressure 783 vs 984 hPa. Handled by per-domain scaling + RevIN.</a:t>
            </a:r>
            <a:endParaRPr lang="en-US" sz="1150" dirty="0"/>
          </a:p>
        </p:txBody>
      </p:sp>
      <p:sp>
        <p:nvSpPr>
          <p:cNvPr id="11" name="Shape 7"/>
          <p:cNvSpPr/>
          <p:nvPr/>
        </p:nvSpPr>
        <p:spPr>
          <a:xfrm>
            <a:off x="4297680" y="4572000"/>
            <a:ext cx="3566160" cy="1691640"/>
          </a:xfrm>
          <a:prstGeom prst="roundRect">
            <a:avLst>
              <a:gd name="adj" fmla="val 4324"/>
            </a:avLst>
          </a:prstGeom>
          <a:solidFill>
            <a:srgbClr val="F1F6F5"/>
          </a:solidFill>
          <a:ln w="12700">
            <a:solidFill>
              <a:srgbClr val="F1F6F5"/>
            </a:solidFill>
            <a:prstDash val="solid"/>
          </a:ln>
        </p:spPr>
      </p:sp>
      <p:sp>
        <p:nvSpPr>
          <p:cNvPr id="12" name="Shape 8"/>
          <p:cNvSpPr/>
          <p:nvPr/>
        </p:nvSpPr>
        <p:spPr>
          <a:xfrm>
            <a:off x="4480560" y="4736592"/>
            <a:ext cx="457200" cy="457200"/>
          </a:xfrm>
          <a:prstGeom prst="ellipse">
            <a:avLst/>
          </a:prstGeom>
          <a:solidFill>
            <a:srgbClr val="D98A1E"/>
          </a:solidFill>
          <a:ln w="12700">
            <a:solidFill>
              <a:srgbClr val="D98A1E"/>
            </a:solidFill>
            <a:prstDash val="solid"/>
          </a:ln>
        </p:spPr>
      </p:sp>
      <p:pic>
        <p:nvPicPr>
          <p:cNvPr id="13" name="Image 2" descr="preencoded.png">    </p:cNvPr>
          <p:cNvPicPr>
            <a:picLocks noChangeAspect="1"/>
          </p:cNvPicPr>
          <p:nvPr/>
        </p:nvPicPr>
        <p:blipFill>
          <a:blip r:embed="rId4"/>
          <a:stretch>
            <a:fillRect/>
          </a:stretch>
        </p:blipFill>
        <p:spPr>
          <a:xfrm>
            <a:off x="4599432" y="4855464"/>
            <a:ext cx="219456" cy="219456"/>
          </a:xfrm>
          <a:prstGeom prst="rect">
            <a:avLst/>
          </a:prstGeom>
        </p:spPr>
      </p:pic>
      <p:sp>
        <p:nvSpPr>
          <p:cNvPr id="14" name="Text 9"/>
          <p:cNvSpPr txBox="1"/>
          <p:nvPr/>
        </p:nvSpPr>
        <p:spPr>
          <a:xfrm>
            <a:off x="5074920" y="4800600"/>
            <a:ext cx="2651760" cy="365760"/>
          </a:xfrm>
          <a:prstGeom prst="rect">
            <a:avLst/>
          </a:prstGeom>
          <a:noFill/>
          <a:ln/>
        </p:spPr>
        <p:txBody>
          <a:bodyPr wrap="square" lIns="0" tIns="0" rIns="0" bIns="0" rtlCol="0" anchor="t"/>
          <a:lstStyle/>
          <a:p>
            <a:pPr indent="0" marL="0">
              <a:buNone/>
            </a:pPr>
            <a:r>
              <a:rPr lang="en-US" sz="1450" b="1" dirty="0">
                <a:solidFill>
                  <a:srgbClr val="1B2B31"/>
                </a:solidFill>
                <a:latin typeface="Calibri" pitchFamily="34" charset="0"/>
                <a:ea typeface="Calibri" pitchFamily="34" charset="-122"/>
                <a:cs typeface="Calibri" pitchFamily="34" charset="-120"/>
              </a:rPr>
              <a:t>Dynamics (covariate) shift</a:t>
            </a:r>
            <a:endParaRPr lang="en-US" sz="1450" dirty="0"/>
          </a:p>
        </p:txBody>
      </p:sp>
      <p:sp>
        <p:nvSpPr>
          <p:cNvPr id="15" name="Text 10"/>
          <p:cNvSpPr txBox="1"/>
          <p:nvPr/>
        </p:nvSpPr>
        <p:spPr>
          <a:xfrm>
            <a:off x="4480560" y="5303520"/>
            <a:ext cx="3246120" cy="914400"/>
          </a:xfrm>
          <a:prstGeom prst="rect">
            <a:avLst/>
          </a:prstGeom>
          <a:noFill/>
          <a:ln/>
        </p:spPr>
        <p:txBody>
          <a:bodyPr wrap="square" lIns="0" tIns="0" rIns="0" bIns="0" rtlCol="0" anchor="t"/>
          <a:lstStyle/>
          <a:p>
            <a:pPr indent="0" marL="0">
              <a:buNone/>
            </a:pPr>
            <a:r>
              <a:rPr lang="en-US" sz="1150" dirty="0">
                <a:solidFill>
                  <a:srgbClr val="4F5F65"/>
                </a:solidFill>
                <a:latin typeface="Calibri" pitchFamily="34" charset="0"/>
                <a:ea typeface="Calibri" pitchFamily="34" charset="-122"/>
                <a:cs typeface="Calibri" pitchFamily="34" charset="-120"/>
              </a:rPr>
              <a:t>Different diurnal amplitude, humidity regimes and cross-variable correlations: the encoder sees unfamiliar patterns.</a:t>
            </a:r>
            <a:endParaRPr lang="en-US" sz="1150" dirty="0"/>
          </a:p>
        </p:txBody>
      </p:sp>
      <p:sp>
        <p:nvSpPr>
          <p:cNvPr id="16" name="Shape 11"/>
          <p:cNvSpPr/>
          <p:nvPr/>
        </p:nvSpPr>
        <p:spPr>
          <a:xfrm>
            <a:off x="8046720" y="4572000"/>
            <a:ext cx="3566160" cy="1691640"/>
          </a:xfrm>
          <a:prstGeom prst="roundRect">
            <a:avLst>
              <a:gd name="adj" fmla="val 4324"/>
            </a:avLst>
          </a:prstGeom>
          <a:solidFill>
            <a:srgbClr val="F1F6F5"/>
          </a:solidFill>
          <a:ln w="12700">
            <a:solidFill>
              <a:srgbClr val="F1F6F5"/>
            </a:solidFill>
            <a:prstDash val="solid"/>
          </a:ln>
        </p:spPr>
      </p:sp>
      <p:sp>
        <p:nvSpPr>
          <p:cNvPr id="17" name="Shape 12"/>
          <p:cNvSpPr/>
          <p:nvPr/>
        </p:nvSpPr>
        <p:spPr>
          <a:xfrm>
            <a:off x="8229600" y="4736592"/>
            <a:ext cx="457200" cy="457200"/>
          </a:xfrm>
          <a:prstGeom prst="ellipse">
            <a:avLst/>
          </a:prstGeom>
          <a:solidFill>
            <a:srgbClr val="D98A1E"/>
          </a:solidFill>
          <a:ln w="12700">
            <a:solidFill>
              <a:srgbClr val="D98A1E"/>
            </a:solidFill>
            <a:prstDash val="solid"/>
          </a:ln>
        </p:spPr>
      </p:sp>
      <p:pic>
        <p:nvPicPr>
          <p:cNvPr id="18" name="Image 3" descr="preencoded.png">    </p:cNvPr>
          <p:cNvPicPr>
            <a:picLocks noChangeAspect="1"/>
          </p:cNvPicPr>
          <p:nvPr/>
        </p:nvPicPr>
        <p:blipFill>
          <a:blip r:embed="rId5"/>
          <a:stretch>
            <a:fillRect/>
          </a:stretch>
        </p:blipFill>
        <p:spPr>
          <a:xfrm>
            <a:off x="8348472" y="4855464"/>
            <a:ext cx="219456" cy="219456"/>
          </a:xfrm>
          <a:prstGeom prst="rect">
            <a:avLst/>
          </a:prstGeom>
        </p:spPr>
      </p:pic>
      <p:sp>
        <p:nvSpPr>
          <p:cNvPr id="19" name="Text 13"/>
          <p:cNvSpPr txBox="1"/>
          <p:nvPr/>
        </p:nvSpPr>
        <p:spPr>
          <a:xfrm>
            <a:off x="8823960" y="4800600"/>
            <a:ext cx="2651760" cy="365760"/>
          </a:xfrm>
          <a:prstGeom prst="rect">
            <a:avLst/>
          </a:prstGeom>
          <a:noFill/>
          <a:ln/>
        </p:spPr>
        <p:txBody>
          <a:bodyPr wrap="square" lIns="0" tIns="0" rIns="0" bIns="0" rtlCol="0" anchor="t"/>
          <a:lstStyle/>
          <a:p>
            <a:pPr indent="0" marL="0">
              <a:buNone/>
            </a:pPr>
            <a:r>
              <a:rPr lang="en-US" sz="1450" b="1" dirty="0">
                <a:solidFill>
                  <a:srgbClr val="1B2B31"/>
                </a:solidFill>
                <a:latin typeface="Calibri" pitchFamily="34" charset="0"/>
                <a:ea typeface="Calibri" pitchFamily="34" charset="-122"/>
                <a:cs typeface="Calibri" pitchFamily="34" charset="-120"/>
              </a:rPr>
              <a:t>Conditional shift</a:t>
            </a:r>
            <a:endParaRPr lang="en-US" sz="1450" dirty="0"/>
          </a:p>
        </p:txBody>
      </p:sp>
      <p:sp>
        <p:nvSpPr>
          <p:cNvPr id="20" name="Text 14"/>
          <p:cNvSpPr txBox="1"/>
          <p:nvPr/>
        </p:nvSpPr>
        <p:spPr>
          <a:xfrm>
            <a:off x="8229600" y="5303520"/>
            <a:ext cx="3246120" cy="914400"/>
          </a:xfrm>
          <a:prstGeom prst="rect">
            <a:avLst/>
          </a:prstGeom>
          <a:noFill/>
          <a:ln/>
        </p:spPr>
        <p:txBody>
          <a:bodyPr wrap="square" lIns="0" tIns="0" rIns="0" bIns="0" rtlCol="0" anchor="t"/>
          <a:lstStyle/>
          <a:p>
            <a:pPr indent="0" marL="0">
              <a:buNone/>
            </a:pPr>
            <a:r>
              <a:rPr lang="en-US" sz="1150" dirty="0">
                <a:solidFill>
                  <a:srgbClr val="4F5F65"/>
                </a:solidFill>
                <a:latin typeface="Calibri" pitchFamily="34" charset="0"/>
                <a:ea typeface="Calibri" pitchFamily="34" charset="-122"/>
                <a:cs typeface="Calibri" pitchFamily="34" charset="-120"/>
              </a:rPr>
              <a:t>The same recent history can lead to a different future (terrain, urban heat, monsoon). Needs adaptation, not rescaling.</a:t>
            </a:r>
            <a:endParaRPr lang="en-US" sz="11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02 · BACKGROUND READING</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Lightweight forecasting models we studied</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sp>
        <p:nvSpPr>
          <p:cNvPr id="5" name="Shape 3"/>
          <p:cNvSpPr/>
          <p:nvPr/>
        </p:nvSpPr>
        <p:spPr>
          <a:xfrm>
            <a:off x="548640" y="1463040"/>
            <a:ext cx="2624328" cy="3977640"/>
          </a:xfrm>
          <a:prstGeom prst="roundRect">
            <a:avLst>
              <a:gd name="adj" fmla="val 2787"/>
            </a:avLst>
          </a:prstGeom>
          <a:solidFill>
            <a:srgbClr val="F1F6F5"/>
          </a:solidFill>
          <a:ln w="12700">
            <a:solidFill>
              <a:srgbClr val="F1F6F5"/>
            </a:solidFill>
            <a:prstDash val="solid"/>
          </a:ln>
        </p:spPr>
      </p:sp>
      <p:sp>
        <p:nvSpPr>
          <p:cNvPr id="6" name="Shape 4"/>
          <p:cNvSpPr/>
          <p:nvPr/>
        </p:nvSpPr>
        <p:spPr>
          <a:xfrm>
            <a:off x="777240" y="1691640"/>
            <a:ext cx="566928" cy="566928"/>
          </a:xfrm>
          <a:prstGeom prst="ellipse">
            <a:avLst/>
          </a:prstGeom>
          <a:solidFill>
            <a:srgbClr val="2F7F73"/>
          </a:solidFill>
          <a:ln w="12700">
            <a:solidFill>
              <a:srgbClr val="2F7F73"/>
            </a:solidFill>
            <a:prstDash val="solid"/>
          </a:ln>
        </p:spPr>
      </p:sp>
      <p:pic>
        <p:nvPicPr>
          <p:cNvPr id="7" name="Image 0" descr="preencoded.png">    </p:cNvPr>
          <p:cNvPicPr>
            <a:picLocks noChangeAspect="1"/>
          </p:cNvPicPr>
          <p:nvPr/>
        </p:nvPicPr>
        <p:blipFill>
          <a:blip r:embed="rId2"/>
          <a:stretch>
            <a:fillRect/>
          </a:stretch>
        </p:blipFill>
        <p:spPr>
          <a:xfrm>
            <a:off x="924641" y="1839041"/>
            <a:ext cx="272125" cy="272125"/>
          </a:xfrm>
          <a:prstGeom prst="rect">
            <a:avLst/>
          </a:prstGeom>
        </p:spPr>
      </p:pic>
      <p:sp>
        <p:nvSpPr>
          <p:cNvPr id="8" name="Text 5"/>
          <p:cNvSpPr txBox="1"/>
          <p:nvPr/>
        </p:nvSpPr>
        <p:spPr>
          <a:xfrm>
            <a:off x="777240" y="2423160"/>
            <a:ext cx="2194560" cy="411480"/>
          </a:xfrm>
          <a:prstGeom prst="rect">
            <a:avLst/>
          </a:prstGeom>
          <a:noFill/>
          <a:ln/>
        </p:spPr>
        <p:txBody>
          <a:bodyPr wrap="square" lIns="0" tIns="0" rIns="0" bIns="0" rtlCol="0" anchor="t"/>
          <a:lstStyle/>
          <a:p>
            <a:pPr indent="0" marL="0">
              <a:buNone/>
            </a:pPr>
            <a:r>
              <a:rPr lang="en-US" sz="2100" b="1" dirty="0">
                <a:solidFill>
                  <a:srgbClr val="1B2B31"/>
                </a:solidFill>
                <a:latin typeface="Cambria" pitchFamily="34" charset="0"/>
                <a:ea typeface="Cambria" pitchFamily="34" charset="-122"/>
                <a:cs typeface="Cambria" pitchFamily="34" charset="-120"/>
              </a:rPr>
              <a:t>DLinear</a:t>
            </a:r>
            <a:endParaRPr lang="en-US" sz="2100" dirty="0"/>
          </a:p>
        </p:txBody>
      </p:sp>
      <p:sp>
        <p:nvSpPr>
          <p:cNvPr id="9" name="Text 6"/>
          <p:cNvSpPr txBox="1"/>
          <p:nvPr/>
        </p:nvSpPr>
        <p:spPr>
          <a:xfrm>
            <a:off x="777240" y="2834640"/>
            <a:ext cx="2194560" cy="274320"/>
          </a:xfrm>
          <a:prstGeom prst="rect">
            <a:avLst/>
          </a:prstGeom>
          <a:noFill/>
          <a:ln/>
        </p:spPr>
        <p:txBody>
          <a:bodyPr wrap="square" lIns="0" tIns="0" rIns="0" bIns="0" rtlCol="0" anchor="t"/>
          <a:lstStyle/>
          <a:p>
            <a:pPr indent="0" marL="0">
              <a:buNone/>
            </a:pPr>
            <a:r>
              <a:rPr lang="en-US" sz="1100" i="1" dirty="0">
                <a:solidFill>
                  <a:srgbClr val="7C8B90"/>
                </a:solidFill>
                <a:latin typeface="Calibri" pitchFamily="34" charset="0"/>
                <a:ea typeface="Calibri" pitchFamily="34" charset="-122"/>
                <a:cs typeface="Calibri" pitchFamily="34" charset="-120"/>
              </a:rPr>
              <a:t>Zeng et al., AAAI 2023</a:t>
            </a:r>
            <a:endParaRPr lang="en-US" sz="1100" dirty="0"/>
          </a:p>
        </p:txBody>
      </p:sp>
      <p:sp>
        <p:nvSpPr>
          <p:cNvPr id="10" name="Text 7"/>
          <p:cNvSpPr txBox="1"/>
          <p:nvPr/>
        </p:nvSpPr>
        <p:spPr>
          <a:xfrm>
            <a:off x="777240" y="3200400"/>
            <a:ext cx="2240280" cy="1463040"/>
          </a:xfrm>
          <a:prstGeom prst="rect">
            <a:avLst/>
          </a:prstGeom>
          <a:noFill/>
          <a:ln/>
        </p:spPr>
        <p:txBody>
          <a:bodyPr wrap="square" lIns="0" tIns="0" rIns="0" bIns="0" rtlCol="0" anchor="t"/>
          <a:lstStyle/>
          <a:p>
            <a:pPr indent="0" marL="0">
              <a:buNone/>
            </a:pPr>
            <a:r>
              <a:rPr lang="en-US" sz="1250" dirty="0">
                <a:solidFill>
                  <a:srgbClr val="4F5F65"/>
                </a:solidFill>
                <a:latin typeface="Calibri" pitchFamily="34" charset="0"/>
                <a:ea typeface="Calibri" pitchFamily="34" charset="-122"/>
                <a:cs typeface="Calibri" pitchFamily="34" charset="-120"/>
              </a:rPr>
              <a:t>A single linear map from look-back to horizon (after trend/seasonal split) rivals Transformers on long-horizon benchmarks.</a:t>
            </a:r>
            <a:endParaRPr lang="en-US" sz="1250" dirty="0"/>
          </a:p>
        </p:txBody>
      </p:sp>
      <p:sp>
        <p:nvSpPr>
          <p:cNvPr id="11" name="Text 8"/>
          <p:cNvSpPr txBox="1"/>
          <p:nvPr/>
        </p:nvSpPr>
        <p:spPr>
          <a:xfrm>
            <a:off x="777240" y="4754880"/>
            <a:ext cx="2240280" cy="548640"/>
          </a:xfrm>
          <a:prstGeom prst="rect">
            <a:avLst/>
          </a:prstGeom>
          <a:noFill/>
          <a:ln/>
        </p:spPr>
        <p:txBody>
          <a:bodyPr wrap="square" lIns="0" tIns="0" rIns="0" bIns="0" rtlCol="0" anchor="t"/>
          <a:lstStyle/>
          <a:p>
            <a:pPr indent="0" marL="0">
              <a:buNone/>
            </a:pPr>
            <a:r>
              <a:rPr lang="en-US" sz="1200" b="1" dirty="0">
                <a:solidFill>
                  <a:srgbClr val="2F7F73"/>
                </a:solidFill>
                <a:latin typeface="Calibri" pitchFamily="34" charset="0"/>
                <a:ea typeface="Calibri" pitchFamily="34" charset="-122"/>
                <a:cs typeface="Calibri" pitchFamily="34" charset="-120"/>
              </a:rPr>
              <a:t>→ Linear temporal path in our model</a:t>
            </a:r>
            <a:endParaRPr lang="en-US" sz="1200" dirty="0"/>
          </a:p>
        </p:txBody>
      </p:sp>
      <p:sp>
        <p:nvSpPr>
          <p:cNvPr id="12" name="Shape 9"/>
          <p:cNvSpPr/>
          <p:nvPr/>
        </p:nvSpPr>
        <p:spPr>
          <a:xfrm>
            <a:off x="3355848" y="1463040"/>
            <a:ext cx="2624328" cy="3977640"/>
          </a:xfrm>
          <a:prstGeom prst="roundRect">
            <a:avLst>
              <a:gd name="adj" fmla="val 2787"/>
            </a:avLst>
          </a:prstGeom>
          <a:solidFill>
            <a:srgbClr val="F1F6F5"/>
          </a:solidFill>
          <a:ln w="12700">
            <a:solidFill>
              <a:srgbClr val="F1F6F5"/>
            </a:solidFill>
            <a:prstDash val="solid"/>
          </a:ln>
        </p:spPr>
      </p:sp>
      <p:sp>
        <p:nvSpPr>
          <p:cNvPr id="13" name="Shape 10"/>
          <p:cNvSpPr/>
          <p:nvPr/>
        </p:nvSpPr>
        <p:spPr>
          <a:xfrm>
            <a:off x="3584448" y="1691640"/>
            <a:ext cx="566928" cy="566928"/>
          </a:xfrm>
          <a:prstGeom prst="ellipse">
            <a:avLst/>
          </a:prstGeom>
          <a:solidFill>
            <a:srgbClr val="D98A1E"/>
          </a:solidFill>
          <a:ln w="12700">
            <a:solidFill>
              <a:srgbClr val="D98A1E"/>
            </a:solidFill>
            <a:prstDash val="solid"/>
          </a:ln>
        </p:spPr>
      </p:sp>
      <p:pic>
        <p:nvPicPr>
          <p:cNvPr id="14" name="Image 1" descr="preencoded.png">    </p:cNvPr>
          <p:cNvPicPr>
            <a:picLocks noChangeAspect="1"/>
          </p:cNvPicPr>
          <p:nvPr/>
        </p:nvPicPr>
        <p:blipFill>
          <a:blip r:embed="rId3"/>
          <a:stretch>
            <a:fillRect/>
          </a:stretch>
        </p:blipFill>
        <p:spPr>
          <a:xfrm>
            <a:off x="3731849" y="1839041"/>
            <a:ext cx="272125" cy="272125"/>
          </a:xfrm>
          <a:prstGeom prst="rect">
            <a:avLst/>
          </a:prstGeom>
        </p:spPr>
      </p:pic>
      <p:sp>
        <p:nvSpPr>
          <p:cNvPr id="15" name="Text 11"/>
          <p:cNvSpPr txBox="1"/>
          <p:nvPr/>
        </p:nvSpPr>
        <p:spPr>
          <a:xfrm>
            <a:off x="3584448" y="2423160"/>
            <a:ext cx="2194560" cy="411480"/>
          </a:xfrm>
          <a:prstGeom prst="rect">
            <a:avLst/>
          </a:prstGeom>
          <a:noFill/>
          <a:ln/>
        </p:spPr>
        <p:txBody>
          <a:bodyPr wrap="square" lIns="0" tIns="0" rIns="0" bIns="0" rtlCol="0" anchor="t"/>
          <a:lstStyle/>
          <a:p>
            <a:pPr indent="0" marL="0">
              <a:buNone/>
            </a:pPr>
            <a:r>
              <a:rPr lang="en-US" sz="2100" b="1" dirty="0">
                <a:solidFill>
                  <a:srgbClr val="1B2B31"/>
                </a:solidFill>
                <a:latin typeface="Cambria" pitchFamily="34" charset="0"/>
                <a:ea typeface="Cambria" pitchFamily="34" charset="-122"/>
                <a:cs typeface="Cambria" pitchFamily="34" charset="-120"/>
              </a:rPr>
              <a:t>TCN</a:t>
            </a:r>
            <a:endParaRPr lang="en-US" sz="2100" dirty="0"/>
          </a:p>
        </p:txBody>
      </p:sp>
      <p:sp>
        <p:nvSpPr>
          <p:cNvPr id="16" name="Text 12"/>
          <p:cNvSpPr txBox="1"/>
          <p:nvPr/>
        </p:nvSpPr>
        <p:spPr>
          <a:xfrm>
            <a:off x="3584448" y="2834640"/>
            <a:ext cx="2194560" cy="274320"/>
          </a:xfrm>
          <a:prstGeom prst="rect">
            <a:avLst/>
          </a:prstGeom>
          <a:noFill/>
          <a:ln/>
        </p:spPr>
        <p:txBody>
          <a:bodyPr wrap="square" lIns="0" tIns="0" rIns="0" bIns="0" rtlCol="0" anchor="t"/>
          <a:lstStyle/>
          <a:p>
            <a:pPr indent="0" marL="0">
              <a:buNone/>
            </a:pPr>
            <a:r>
              <a:rPr lang="en-US" sz="1100" i="1" dirty="0">
                <a:solidFill>
                  <a:srgbClr val="7C8B90"/>
                </a:solidFill>
                <a:latin typeface="Calibri" pitchFamily="34" charset="0"/>
                <a:ea typeface="Calibri" pitchFamily="34" charset="-122"/>
                <a:cs typeface="Calibri" pitchFamily="34" charset="-120"/>
              </a:rPr>
              <a:t>Bai et al., 2018</a:t>
            </a:r>
            <a:endParaRPr lang="en-US" sz="1100" dirty="0"/>
          </a:p>
        </p:txBody>
      </p:sp>
      <p:sp>
        <p:nvSpPr>
          <p:cNvPr id="17" name="Text 13"/>
          <p:cNvSpPr txBox="1"/>
          <p:nvPr/>
        </p:nvSpPr>
        <p:spPr>
          <a:xfrm>
            <a:off x="3584448" y="3200400"/>
            <a:ext cx="2240280" cy="1463040"/>
          </a:xfrm>
          <a:prstGeom prst="rect">
            <a:avLst/>
          </a:prstGeom>
          <a:noFill/>
          <a:ln/>
        </p:spPr>
        <p:txBody>
          <a:bodyPr wrap="square" lIns="0" tIns="0" rIns="0" bIns="0" rtlCol="0" anchor="t"/>
          <a:lstStyle/>
          <a:p>
            <a:pPr indent="0" marL="0">
              <a:buNone/>
            </a:pPr>
            <a:r>
              <a:rPr lang="en-US" sz="1250" dirty="0">
                <a:solidFill>
                  <a:srgbClr val="4F5F65"/>
                </a:solidFill>
                <a:latin typeface="Calibri" pitchFamily="34" charset="0"/>
                <a:ea typeface="Calibri" pitchFamily="34" charset="-122"/>
                <a:cs typeface="Calibri" pitchFamily="34" charset="-120"/>
              </a:rPr>
              <a:t>Stacked dilated 1-D convolutions: large receptive field, parallel training, few parameters.</a:t>
            </a:r>
            <a:endParaRPr lang="en-US" sz="1250" dirty="0"/>
          </a:p>
        </p:txBody>
      </p:sp>
      <p:sp>
        <p:nvSpPr>
          <p:cNvPr id="18" name="Text 14"/>
          <p:cNvSpPr txBox="1"/>
          <p:nvPr/>
        </p:nvSpPr>
        <p:spPr>
          <a:xfrm>
            <a:off x="3584448" y="4754880"/>
            <a:ext cx="2240280" cy="548640"/>
          </a:xfrm>
          <a:prstGeom prst="rect">
            <a:avLst/>
          </a:prstGeom>
          <a:noFill/>
          <a:ln/>
        </p:spPr>
        <p:txBody>
          <a:bodyPr wrap="square" lIns="0" tIns="0" rIns="0" bIns="0" rtlCol="0" anchor="t"/>
          <a:lstStyle/>
          <a:p>
            <a:pPr indent="0" marL="0">
              <a:buNone/>
            </a:pPr>
            <a:r>
              <a:rPr lang="en-US" sz="1200" b="1" dirty="0">
                <a:solidFill>
                  <a:srgbClr val="2F7F73"/>
                </a:solidFill>
                <a:latin typeface="Calibri" pitchFamily="34" charset="0"/>
                <a:ea typeface="Calibri" pitchFamily="34" charset="-122"/>
                <a:cs typeface="Calibri" pitchFamily="34" charset="-120"/>
              </a:rPr>
              <a:t>→ Strided, dilated conv encoder</a:t>
            </a:r>
            <a:endParaRPr lang="en-US" sz="1200" dirty="0"/>
          </a:p>
        </p:txBody>
      </p:sp>
      <p:sp>
        <p:nvSpPr>
          <p:cNvPr id="19" name="Shape 15"/>
          <p:cNvSpPr/>
          <p:nvPr/>
        </p:nvSpPr>
        <p:spPr>
          <a:xfrm>
            <a:off x="6163056" y="1463040"/>
            <a:ext cx="2624328" cy="3977640"/>
          </a:xfrm>
          <a:prstGeom prst="roundRect">
            <a:avLst>
              <a:gd name="adj" fmla="val 2787"/>
            </a:avLst>
          </a:prstGeom>
          <a:solidFill>
            <a:srgbClr val="F1F6F5"/>
          </a:solidFill>
          <a:ln w="12700">
            <a:solidFill>
              <a:srgbClr val="F1F6F5"/>
            </a:solidFill>
            <a:prstDash val="solid"/>
          </a:ln>
        </p:spPr>
      </p:sp>
      <p:sp>
        <p:nvSpPr>
          <p:cNvPr id="20" name="Shape 16"/>
          <p:cNvSpPr/>
          <p:nvPr/>
        </p:nvSpPr>
        <p:spPr>
          <a:xfrm>
            <a:off x="6391656" y="1691640"/>
            <a:ext cx="566928" cy="566928"/>
          </a:xfrm>
          <a:prstGeom prst="ellipse">
            <a:avLst/>
          </a:prstGeom>
          <a:solidFill>
            <a:srgbClr val="2F7F73"/>
          </a:solidFill>
          <a:ln w="12700">
            <a:solidFill>
              <a:srgbClr val="2F7F73"/>
            </a:solidFill>
            <a:prstDash val="solid"/>
          </a:ln>
        </p:spPr>
      </p:sp>
      <p:pic>
        <p:nvPicPr>
          <p:cNvPr id="21" name="Image 2" descr="preencoded.png">    </p:cNvPr>
          <p:cNvPicPr>
            <a:picLocks noChangeAspect="1"/>
          </p:cNvPicPr>
          <p:nvPr/>
        </p:nvPicPr>
        <p:blipFill>
          <a:blip r:embed="rId4"/>
          <a:stretch>
            <a:fillRect/>
          </a:stretch>
        </p:blipFill>
        <p:spPr>
          <a:xfrm>
            <a:off x="6539057" y="1839041"/>
            <a:ext cx="272125" cy="272125"/>
          </a:xfrm>
          <a:prstGeom prst="rect">
            <a:avLst/>
          </a:prstGeom>
        </p:spPr>
      </p:pic>
      <p:sp>
        <p:nvSpPr>
          <p:cNvPr id="22" name="Text 17"/>
          <p:cNvSpPr txBox="1"/>
          <p:nvPr/>
        </p:nvSpPr>
        <p:spPr>
          <a:xfrm>
            <a:off x="6391656" y="2423160"/>
            <a:ext cx="2194560" cy="411480"/>
          </a:xfrm>
          <a:prstGeom prst="rect">
            <a:avLst/>
          </a:prstGeom>
          <a:noFill/>
          <a:ln/>
        </p:spPr>
        <p:txBody>
          <a:bodyPr wrap="square" lIns="0" tIns="0" rIns="0" bIns="0" rtlCol="0" anchor="t"/>
          <a:lstStyle/>
          <a:p>
            <a:pPr indent="0" marL="0">
              <a:buNone/>
            </a:pPr>
            <a:r>
              <a:rPr lang="en-US" sz="2100" b="1" dirty="0">
                <a:solidFill>
                  <a:srgbClr val="1B2B31"/>
                </a:solidFill>
                <a:latin typeface="Cambria" pitchFamily="34" charset="0"/>
                <a:ea typeface="Cambria" pitchFamily="34" charset="-122"/>
                <a:cs typeface="Cambria" pitchFamily="34" charset="-120"/>
              </a:rPr>
              <a:t>PatchTST</a:t>
            </a:r>
            <a:endParaRPr lang="en-US" sz="2100" dirty="0"/>
          </a:p>
        </p:txBody>
      </p:sp>
      <p:sp>
        <p:nvSpPr>
          <p:cNvPr id="23" name="Text 18"/>
          <p:cNvSpPr txBox="1"/>
          <p:nvPr/>
        </p:nvSpPr>
        <p:spPr>
          <a:xfrm>
            <a:off x="6391656" y="2834640"/>
            <a:ext cx="2194560" cy="274320"/>
          </a:xfrm>
          <a:prstGeom prst="rect">
            <a:avLst/>
          </a:prstGeom>
          <a:noFill/>
          <a:ln/>
        </p:spPr>
        <p:txBody>
          <a:bodyPr wrap="square" lIns="0" tIns="0" rIns="0" bIns="0" rtlCol="0" anchor="t"/>
          <a:lstStyle/>
          <a:p>
            <a:pPr indent="0" marL="0">
              <a:buNone/>
            </a:pPr>
            <a:r>
              <a:rPr lang="en-US" sz="1100" i="1" dirty="0">
                <a:solidFill>
                  <a:srgbClr val="7C8B90"/>
                </a:solidFill>
                <a:latin typeface="Calibri" pitchFamily="34" charset="0"/>
                <a:ea typeface="Calibri" pitchFamily="34" charset="-122"/>
                <a:cs typeface="Calibri" pitchFamily="34" charset="-120"/>
              </a:rPr>
              <a:t>Nie et al., ICLR 2023</a:t>
            </a:r>
            <a:endParaRPr lang="en-US" sz="1100" dirty="0"/>
          </a:p>
        </p:txBody>
      </p:sp>
      <p:sp>
        <p:nvSpPr>
          <p:cNvPr id="24" name="Text 19"/>
          <p:cNvSpPr txBox="1"/>
          <p:nvPr/>
        </p:nvSpPr>
        <p:spPr>
          <a:xfrm>
            <a:off x="6391656" y="3200400"/>
            <a:ext cx="2240280" cy="1463040"/>
          </a:xfrm>
          <a:prstGeom prst="rect">
            <a:avLst/>
          </a:prstGeom>
          <a:noFill/>
          <a:ln/>
        </p:spPr>
        <p:txBody>
          <a:bodyPr wrap="square" lIns="0" tIns="0" rIns="0" bIns="0" rtlCol="0" anchor="t"/>
          <a:lstStyle/>
          <a:p>
            <a:pPr indent="0" marL="0">
              <a:buNone/>
            </a:pPr>
            <a:r>
              <a:rPr lang="en-US" sz="1250" dirty="0">
                <a:solidFill>
                  <a:srgbClr val="4F5F65"/>
                </a:solidFill>
                <a:latin typeface="Calibri" pitchFamily="34" charset="0"/>
                <a:ea typeface="Calibri" pitchFamily="34" charset="-122"/>
                <a:cs typeface="Calibri" pitchFamily="34" charset="-120"/>
              </a:rPr>
              <a:t>Patches of the series as tokens + channel independence; state of the art but heavier.</a:t>
            </a:r>
            <a:endParaRPr lang="en-US" sz="1250" dirty="0"/>
          </a:p>
        </p:txBody>
      </p:sp>
      <p:sp>
        <p:nvSpPr>
          <p:cNvPr id="25" name="Text 20"/>
          <p:cNvSpPr txBox="1"/>
          <p:nvPr/>
        </p:nvSpPr>
        <p:spPr>
          <a:xfrm>
            <a:off x="6391656" y="4754880"/>
            <a:ext cx="2240280" cy="548640"/>
          </a:xfrm>
          <a:prstGeom prst="rect">
            <a:avLst/>
          </a:prstGeom>
          <a:noFill/>
          <a:ln/>
        </p:spPr>
        <p:txBody>
          <a:bodyPr wrap="square" lIns="0" tIns="0" rIns="0" bIns="0" rtlCol="0" anchor="t"/>
          <a:lstStyle/>
          <a:p>
            <a:pPr indent="0" marL="0">
              <a:buNone/>
            </a:pPr>
            <a:r>
              <a:rPr lang="en-US" sz="1200" b="1" dirty="0">
                <a:solidFill>
                  <a:srgbClr val="2F7F73"/>
                </a:solidFill>
                <a:latin typeface="Calibri" pitchFamily="34" charset="0"/>
                <a:ea typeface="Calibri" pitchFamily="34" charset="-122"/>
                <a:cs typeface="Calibri" pitchFamily="34" charset="-120"/>
              </a:rPr>
              <a:t>→ Candidate encoder for later stages</a:t>
            </a:r>
            <a:endParaRPr lang="en-US" sz="1200" dirty="0"/>
          </a:p>
        </p:txBody>
      </p:sp>
      <p:sp>
        <p:nvSpPr>
          <p:cNvPr id="26" name="Shape 21"/>
          <p:cNvSpPr/>
          <p:nvPr/>
        </p:nvSpPr>
        <p:spPr>
          <a:xfrm>
            <a:off x="8970264" y="1463040"/>
            <a:ext cx="2624328" cy="3977640"/>
          </a:xfrm>
          <a:prstGeom prst="roundRect">
            <a:avLst>
              <a:gd name="adj" fmla="val 2787"/>
            </a:avLst>
          </a:prstGeom>
          <a:solidFill>
            <a:srgbClr val="F1F6F5"/>
          </a:solidFill>
          <a:ln w="12700">
            <a:solidFill>
              <a:srgbClr val="F1F6F5"/>
            </a:solidFill>
            <a:prstDash val="solid"/>
          </a:ln>
        </p:spPr>
      </p:sp>
      <p:sp>
        <p:nvSpPr>
          <p:cNvPr id="27" name="Shape 22"/>
          <p:cNvSpPr/>
          <p:nvPr/>
        </p:nvSpPr>
        <p:spPr>
          <a:xfrm>
            <a:off x="9198864" y="1691640"/>
            <a:ext cx="566928" cy="566928"/>
          </a:xfrm>
          <a:prstGeom prst="ellipse">
            <a:avLst/>
          </a:prstGeom>
          <a:solidFill>
            <a:srgbClr val="D98A1E"/>
          </a:solidFill>
          <a:ln w="12700">
            <a:solidFill>
              <a:srgbClr val="D98A1E"/>
            </a:solidFill>
            <a:prstDash val="solid"/>
          </a:ln>
        </p:spPr>
      </p:sp>
      <p:pic>
        <p:nvPicPr>
          <p:cNvPr id="28" name="Image 3" descr="preencoded.png">    </p:cNvPr>
          <p:cNvPicPr>
            <a:picLocks noChangeAspect="1"/>
          </p:cNvPicPr>
          <p:nvPr/>
        </p:nvPicPr>
        <p:blipFill>
          <a:blip r:embed="rId5"/>
          <a:stretch>
            <a:fillRect/>
          </a:stretch>
        </p:blipFill>
        <p:spPr>
          <a:xfrm>
            <a:off x="9346265" y="1839041"/>
            <a:ext cx="272125" cy="272125"/>
          </a:xfrm>
          <a:prstGeom prst="rect">
            <a:avLst/>
          </a:prstGeom>
        </p:spPr>
      </p:pic>
      <p:sp>
        <p:nvSpPr>
          <p:cNvPr id="29" name="Text 23"/>
          <p:cNvSpPr txBox="1"/>
          <p:nvPr/>
        </p:nvSpPr>
        <p:spPr>
          <a:xfrm>
            <a:off x="9198864" y="2423160"/>
            <a:ext cx="2194560" cy="411480"/>
          </a:xfrm>
          <a:prstGeom prst="rect">
            <a:avLst/>
          </a:prstGeom>
          <a:noFill/>
          <a:ln/>
        </p:spPr>
        <p:txBody>
          <a:bodyPr wrap="square" lIns="0" tIns="0" rIns="0" bIns="0" rtlCol="0" anchor="t"/>
          <a:lstStyle/>
          <a:p>
            <a:pPr indent="0" marL="0">
              <a:buNone/>
            </a:pPr>
            <a:r>
              <a:rPr lang="en-US" sz="2100" b="1" dirty="0">
                <a:solidFill>
                  <a:srgbClr val="1B2B31"/>
                </a:solidFill>
                <a:latin typeface="Cambria" pitchFamily="34" charset="0"/>
                <a:ea typeface="Cambria" pitchFamily="34" charset="-122"/>
                <a:cs typeface="Cambria" pitchFamily="34" charset="-120"/>
              </a:rPr>
              <a:t>RevIN</a:t>
            </a:r>
            <a:endParaRPr lang="en-US" sz="2100" dirty="0"/>
          </a:p>
        </p:txBody>
      </p:sp>
      <p:sp>
        <p:nvSpPr>
          <p:cNvPr id="30" name="Text 24"/>
          <p:cNvSpPr txBox="1"/>
          <p:nvPr/>
        </p:nvSpPr>
        <p:spPr>
          <a:xfrm>
            <a:off x="9198864" y="2834640"/>
            <a:ext cx="2194560" cy="274320"/>
          </a:xfrm>
          <a:prstGeom prst="rect">
            <a:avLst/>
          </a:prstGeom>
          <a:noFill/>
          <a:ln/>
        </p:spPr>
        <p:txBody>
          <a:bodyPr wrap="square" lIns="0" tIns="0" rIns="0" bIns="0" rtlCol="0" anchor="t"/>
          <a:lstStyle/>
          <a:p>
            <a:pPr indent="0" marL="0">
              <a:buNone/>
            </a:pPr>
            <a:r>
              <a:rPr lang="en-US" sz="1100" i="1" dirty="0">
                <a:solidFill>
                  <a:srgbClr val="7C8B90"/>
                </a:solidFill>
                <a:latin typeface="Calibri" pitchFamily="34" charset="0"/>
                <a:ea typeface="Calibri" pitchFamily="34" charset="-122"/>
                <a:cs typeface="Calibri" pitchFamily="34" charset="-120"/>
              </a:rPr>
              <a:t>Kim et al., ICLR 2022</a:t>
            </a:r>
            <a:endParaRPr lang="en-US" sz="1100" dirty="0"/>
          </a:p>
        </p:txBody>
      </p:sp>
      <p:sp>
        <p:nvSpPr>
          <p:cNvPr id="31" name="Text 25"/>
          <p:cNvSpPr txBox="1"/>
          <p:nvPr/>
        </p:nvSpPr>
        <p:spPr>
          <a:xfrm>
            <a:off x="9198864" y="3200400"/>
            <a:ext cx="2240280" cy="1463040"/>
          </a:xfrm>
          <a:prstGeom prst="rect">
            <a:avLst/>
          </a:prstGeom>
          <a:noFill/>
          <a:ln/>
        </p:spPr>
        <p:txBody>
          <a:bodyPr wrap="square" lIns="0" tIns="0" rIns="0" bIns="0" rtlCol="0" anchor="t"/>
          <a:lstStyle/>
          <a:p>
            <a:pPr indent="0" marL="0">
              <a:buNone/>
            </a:pPr>
            <a:r>
              <a:rPr lang="en-US" sz="1250" dirty="0">
                <a:solidFill>
                  <a:srgbClr val="4F5F65"/>
                </a:solidFill>
                <a:latin typeface="Calibri" pitchFamily="34" charset="0"/>
                <a:ea typeface="Calibri" pitchFamily="34" charset="-122"/>
                <a:cs typeface="Calibri" pitchFamily="34" charset="-120"/>
              </a:rPr>
              <a:t>Normalise each input window by its own mean/std, then de-normalise the output: removes per-window level/scale shift.</a:t>
            </a:r>
            <a:endParaRPr lang="en-US" sz="1250" dirty="0"/>
          </a:p>
        </p:txBody>
      </p:sp>
      <p:sp>
        <p:nvSpPr>
          <p:cNvPr id="32" name="Text 26"/>
          <p:cNvSpPr txBox="1"/>
          <p:nvPr/>
        </p:nvSpPr>
        <p:spPr>
          <a:xfrm>
            <a:off x="9198864" y="4754880"/>
            <a:ext cx="2240280" cy="548640"/>
          </a:xfrm>
          <a:prstGeom prst="rect">
            <a:avLst/>
          </a:prstGeom>
          <a:noFill/>
          <a:ln/>
        </p:spPr>
        <p:txBody>
          <a:bodyPr wrap="square" lIns="0" tIns="0" rIns="0" bIns="0" rtlCol="0" anchor="t"/>
          <a:lstStyle/>
          <a:p>
            <a:pPr indent="0" marL="0">
              <a:buNone/>
            </a:pPr>
            <a:r>
              <a:rPr lang="en-US" sz="1200" b="1" dirty="0">
                <a:solidFill>
                  <a:srgbClr val="2F7F73"/>
                </a:solidFill>
                <a:latin typeface="Calibri" pitchFamily="34" charset="0"/>
                <a:ea typeface="Calibri" pitchFamily="34" charset="-122"/>
                <a:cs typeface="Calibri" pitchFamily="34" charset="-120"/>
              </a:rPr>
              <a:t>→ Built in: handles marginal shift</a:t>
            </a:r>
            <a:endParaRPr lang="en-US" sz="1200" dirty="0"/>
          </a:p>
        </p:txBody>
      </p:sp>
      <p:sp>
        <p:nvSpPr>
          <p:cNvPr id="33" name="Shape 27"/>
          <p:cNvSpPr/>
          <p:nvPr/>
        </p:nvSpPr>
        <p:spPr>
          <a:xfrm>
            <a:off x="548640" y="5623560"/>
            <a:ext cx="11091672" cy="603504"/>
          </a:xfrm>
          <a:prstGeom prst="roundRect">
            <a:avLst>
              <a:gd name="adj" fmla="val 12121"/>
            </a:avLst>
          </a:prstGeom>
          <a:solidFill>
            <a:srgbClr val="16232A"/>
          </a:solidFill>
          <a:ln w="12700">
            <a:solidFill>
              <a:srgbClr val="16232A"/>
            </a:solidFill>
            <a:prstDash val="solid"/>
          </a:ln>
        </p:spPr>
      </p:sp>
      <p:sp>
        <p:nvSpPr>
          <p:cNvPr id="34" name="Text 28"/>
          <p:cNvSpPr txBox="1"/>
          <p:nvPr/>
        </p:nvSpPr>
        <p:spPr>
          <a:xfrm>
            <a:off x="777240" y="5623560"/>
            <a:ext cx="10698480" cy="60350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Design decision: combine a TCN encoder, a DLinear-style linear path and RevIN in one small model (381,606 parameters), so adaptation stays cheap enough to run on a laptop CPU.</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02 · BACKGROUND READING</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Why aligning features can work: the domain-adaptation bound</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sp>
        <p:nvSpPr>
          <p:cNvPr id="5" name="Shape 3"/>
          <p:cNvSpPr/>
          <p:nvPr/>
        </p:nvSpPr>
        <p:spPr>
          <a:xfrm>
            <a:off x="548640" y="1463040"/>
            <a:ext cx="11091672" cy="1325880"/>
          </a:xfrm>
          <a:prstGeom prst="roundRect">
            <a:avLst>
              <a:gd name="adj" fmla="val 5517"/>
            </a:avLst>
          </a:prstGeom>
          <a:solidFill>
            <a:srgbClr val="16232A"/>
          </a:solidFill>
          <a:ln w="12700">
            <a:solidFill>
              <a:srgbClr val="16232A"/>
            </a:solidFill>
            <a:prstDash val="solid"/>
          </a:ln>
        </p:spPr>
      </p:sp>
      <p:sp>
        <p:nvSpPr>
          <p:cNvPr id="6" name="Text 4"/>
          <p:cNvSpPr txBox="1"/>
          <p:nvPr/>
        </p:nvSpPr>
        <p:spPr>
          <a:xfrm>
            <a:off x="548640" y="1463040"/>
            <a:ext cx="11091672" cy="1005840"/>
          </a:xfrm>
          <a:prstGeom prst="rect">
            <a:avLst/>
          </a:prstGeom>
          <a:noFill/>
          <a:ln/>
        </p:spPr>
        <p:txBody>
          <a:bodyPr wrap="square" lIns="0" tIns="0" rIns="0" bIns="0" rtlCol="0" anchor="ctr"/>
          <a:lstStyle/>
          <a:p>
            <a:pPr algn="ctr" indent="0" marL="0">
              <a:buNone/>
            </a:pPr>
            <a:r>
              <a:rPr lang="en-US" sz="3400" dirty="0">
                <a:solidFill>
                  <a:srgbClr val="FFFFFF"/>
                </a:solidFill>
                <a:latin typeface="Cambria" pitchFamily="34" charset="0"/>
                <a:ea typeface="Cambria" pitchFamily="34" charset="-122"/>
                <a:cs typeface="Cambria" pitchFamily="34" charset="-120"/>
              </a:rPr>
              <a:t>ε</a:t>
            </a:r>
            <a:pPr algn="ctr" indent="0" marL="0">
              <a:buNone/>
            </a:pPr>
            <a:r>
              <a:rPr lang="en-US" sz="3400" baseline="-40000" dirty="0">
                <a:solidFill>
                  <a:srgbClr val="FFFFFF"/>
                </a:solidFill>
                <a:latin typeface="Cambria" pitchFamily="34" charset="0"/>
                <a:ea typeface="Cambria" pitchFamily="34" charset="-122"/>
                <a:cs typeface="Cambria" pitchFamily="34" charset="-120"/>
              </a:rPr>
              <a:t>T</a:t>
            </a:r>
            <a:pPr algn="ctr" indent="0" marL="0">
              <a:buNone/>
            </a:pPr>
            <a:r>
              <a:rPr lang="en-US" sz="3400" dirty="0">
                <a:solidFill>
                  <a:srgbClr val="FFFFFF"/>
                </a:solidFill>
                <a:latin typeface="Cambria" pitchFamily="34" charset="0"/>
                <a:ea typeface="Cambria" pitchFamily="34" charset="-122"/>
                <a:cs typeface="Cambria" pitchFamily="34" charset="-120"/>
              </a:rPr>
              <a:t>(h)  ≤  </a:t>
            </a:r>
            <a:pPr algn="ctr" indent="0" marL="0">
              <a:buNone/>
            </a:pPr>
            <a:r>
              <a:rPr lang="en-US" sz="3400" dirty="0">
                <a:solidFill>
                  <a:srgbClr val="6FB3A6"/>
                </a:solidFill>
                <a:latin typeface="Cambria" pitchFamily="34" charset="0"/>
                <a:ea typeface="Cambria" pitchFamily="34" charset="-122"/>
                <a:cs typeface="Cambria" pitchFamily="34" charset="-120"/>
              </a:rPr>
              <a:t>ε</a:t>
            </a:r>
            <a:pPr algn="ctr" indent="0" marL="0">
              <a:buNone/>
            </a:pPr>
            <a:r>
              <a:rPr lang="en-US" sz="3400" baseline="-40000" dirty="0">
                <a:solidFill>
                  <a:srgbClr val="6FB3A6"/>
                </a:solidFill>
                <a:latin typeface="Cambria" pitchFamily="34" charset="0"/>
                <a:ea typeface="Cambria" pitchFamily="34" charset="-122"/>
                <a:cs typeface="Cambria" pitchFamily="34" charset="-120"/>
              </a:rPr>
              <a:t>S</a:t>
            </a:r>
            <a:pPr algn="ctr" indent="0" marL="0">
              <a:buNone/>
            </a:pPr>
            <a:r>
              <a:rPr lang="en-US" sz="3400" dirty="0">
                <a:solidFill>
                  <a:srgbClr val="6FB3A6"/>
                </a:solidFill>
                <a:latin typeface="Cambria" pitchFamily="34" charset="0"/>
                <a:ea typeface="Cambria" pitchFamily="34" charset="-122"/>
                <a:cs typeface="Cambria" pitchFamily="34" charset="-120"/>
              </a:rPr>
              <a:t>(h)</a:t>
            </a:r>
            <a:pPr algn="ctr" indent="0" marL="0">
              <a:buNone/>
            </a:pPr>
            <a:r>
              <a:rPr lang="en-US" sz="3400" dirty="0">
                <a:solidFill>
                  <a:srgbClr val="FFFFFF"/>
                </a:solidFill>
                <a:latin typeface="Cambria" pitchFamily="34" charset="0"/>
                <a:ea typeface="Cambria" pitchFamily="34" charset="-122"/>
                <a:cs typeface="Cambria" pitchFamily="34" charset="-120"/>
              </a:rPr>
              <a:t>  +  </a:t>
            </a:r>
            <a:pPr algn="ctr" indent="0" marL="0">
              <a:buNone/>
            </a:pPr>
            <a:r>
              <a:rPr lang="en-US" sz="3400" dirty="0">
                <a:solidFill>
                  <a:srgbClr val="F2B45C"/>
                </a:solidFill>
                <a:latin typeface="Cambria" pitchFamily="34" charset="0"/>
                <a:ea typeface="Cambria" pitchFamily="34" charset="-122"/>
                <a:cs typeface="Cambria" pitchFamily="34" charset="-120"/>
              </a:rPr>
              <a:t>½ d</a:t>
            </a:r>
            <a:pPr algn="ctr" indent="0" marL="0">
              <a:buNone/>
            </a:pPr>
            <a:r>
              <a:rPr lang="en-US" sz="3400" baseline="-40000" dirty="0">
                <a:solidFill>
                  <a:srgbClr val="F2B45C"/>
                </a:solidFill>
                <a:latin typeface="Cambria" pitchFamily="34" charset="0"/>
                <a:ea typeface="Cambria" pitchFamily="34" charset="-122"/>
                <a:cs typeface="Cambria" pitchFamily="34" charset="-120"/>
              </a:rPr>
              <a:t>HΔH</a:t>
            </a:r>
            <a:pPr algn="ctr" indent="0" marL="0">
              <a:buNone/>
            </a:pPr>
            <a:r>
              <a:rPr lang="en-US" sz="3400" dirty="0">
                <a:solidFill>
                  <a:srgbClr val="F2B45C"/>
                </a:solidFill>
                <a:latin typeface="Cambria" pitchFamily="34" charset="0"/>
                <a:ea typeface="Cambria" pitchFamily="34" charset="-122"/>
                <a:cs typeface="Cambria" pitchFamily="34" charset="-120"/>
              </a:rPr>
              <a:t>(D</a:t>
            </a:r>
            <a:pPr algn="ctr" indent="0" marL="0">
              <a:buNone/>
            </a:pPr>
            <a:r>
              <a:rPr lang="en-US" sz="3400" baseline="-40000" dirty="0">
                <a:solidFill>
                  <a:srgbClr val="F2B45C"/>
                </a:solidFill>
                <a:latin typeface="Cambria" pitchFamily="34" charset="0"/>
                <a:ea typeface="Cambria" pitchFamily="34" charset="-122"/>
                <a:cs typeface="Cambria" pitchFamily="34" charset="-120"/>
              </a:rPr>
              <a:t>S</a:t>
            </a:r>
            <a:pPr algn="ctr" indent="0" marL="0">
              <a:buNone/>
            </a:pPr>
            <a:r>
              <a:rPr lang="en-US" sz="3400" dirty="0">
                <a:solidFill>
                  <a:srgbClr val="F2B45C"/>
                </a:solidFill>
                <a:latin typeface="Cambria" pitchFamily="34" charset="0"/>
                <a:ea typeface="Cambria" pitchFamily="34" charset="-122"/>
                <a:cs typeface="Cambria" pitchFamily="34" charset="-120"/>
              </a:rPr>
              <a:t>, D</a:t>
            </a:r>
            <a:pPr algn="ctr" indent="0" marL="0">
              <a:buNone/>
            </a:pPr>
            <a:r>
              <a:rPr lang="en-US" sz="3400" baseline="-40000" dirty="0">
                <a:solidFill>
                  <a:srgbClr val="F2B45C"/>
                </a:solidFill>
                <a:latin typeface="Cambria" pitchFamily="34" charset="0"/>
                <a:ea typeface="Cambria" pitchFamily="34" charset="-122"/>
                <a:cs typeface="Cambria" pitchFamily="34" charset="-120"/>
              </a:rPr>
              <a:t>T</a:t>
            </a:r>
            <a:pPr algn="ctr" indent="0" marL="0">
              <a:buNone/>
            </a:pPr>
            <a:r>
              <a:rPr lang="en-US" sz="3400" dirty="0">
                <a:solidFill>
                  <a:srgbClr val="F2B45C"/>
                </a:solidFill>
                <a:latin typeface="Cambria" pitchFamily="34" charset="0"/>
                <a:ea typeface="Cambria" pitchFamily="34" charset="-122"/>
                <a:cs typeface="Cambria" pitchFamily="34" charset="-120"/>
              </a:rPr>
              <a:t>)</a:t>
            </a:r>
            <a:pPr algn="ctr" indent="0" marL="0">
              <a:buNone/>
            </a:pPr>
            <a:r>
              <a:rPr lang="en-US" sz="3400" dirty="0">
                <a:solidFill>
                  <a:srgbClr val="FFFFFF"/>
                </a:solidFill>
                <a:latin typeface="Cambria" pitchFamily="34" charset="0"/>
                <a:ea typeface="Cambria" pitchFamily="34" charset="-122"/>
                <a:cs typeface="Cambria" pitchFamily="34" charset="-120"/>
              </a:rPr>
              <a:t>  +  </a:t>
            </a:r>
            <a:pPr algn="ctr" indent="0" marL="0">
              <a:buNone/>
            </a:pPr>
            <a:r>
              <a:rPr lang="en-US" sz="3400" dirty="0">
                <a:solidFill>
                  <a:srgbClr val="E8A7A0"/>
                </a:solidFill>
                <a:latin typeface="Cambria" pitchFamily="34" charset="0"/>
                <a:ea typeface="Cambria" pitchFamily="34" charset="-122"/>
                <a:cs typeface="Cambria" pitchFamily="34" charset="-120"/>
              </a:rPr>
              <a:t>λ*</a:t>
            </a:r>
            <a:endParaRPr lang="en-US" sz="3400" dirty="0"/>
          </a:p>
        </p:txBody>
      </p:sp>
      <p:sp>
        <p:nvSpPr>
          <p:cNvPr id="7" name="Text 5"/>
          <p:cNvSpPr txBox="1"/>
          <p:nvPr/>
        </p:nvSpPr>
        <p:spPr>
          <a:xfrm>
            <a:off x="548640" y="2395728"/>
            <a:ext cx="11091672" cy="320040"/>
          </a:xfrm>
          <a:prstGeom prst="rect">
            <a:avLst/>
          </a:prstGeom>
          <a:noFill/>
          <a:ln/>
        </p:spPr>
        <p:txBody>
          <a:bodyPr wrap="square" lIns="0" tIns="0" rIns="0" bIns="0" rtlCol="0" anchor="t"/>
          <a:lstStyle/>
          <a:p>
            <a:pPr algn="ctr" indent="0" marL="0">
              <a:buNone/>
            </a:pPr>
            <a:r>
              <a:rPr lang="en-US" sz="1150" dirty="0">
                <a:solidFill>
                  <a:srgbClr val="E6F0EE"/>
                </a:solidFill>
                <a:latin typeface="Calibri" pitchFamily="34" charset="0"/>
                <a:ea typeface="Calibri" pitchFamily="34" charset="-122"/>
                <a:cs typeface="Calibri" pitchFamily="34" charset="-120"/>
              </a:rPr>
              <a:t>Ben-David et al., Machine Learning 2010: target error is bounded by source error + domain divergence + the error of the best joint hypothesis.</a:t>
            </a:r>
            <a:endParaRPr lang="en-US" sz="1150" dirty="0"/>
          </a:p>
        </p:txBody>
      </p:sp>
      <p:sp>
        <p:nvSpPr>
          <p:cNvPr id="8" name="Shape 6"/>
          <p:cNvSpPr/>
          <p:nvPr/>
        </p:nvSpPr>
        <p:spPr>
          <a:xfrm>
            <a:off x="548640" y="3063240"/>
            <a:ext cx="3566160" cy="3154680"/>
          </a:xfrm>
          <a:prstGeom prst="roundRect">
            <a:avLst>
              <a:gd name="adj" fmla="val 2319"/>
            </a:avLst>
          </a:prstGeom>
          <a:solidFill>
            <a:srgbClr val="F1F6F5"/>
          </a:solidFill>
          <a:ln w="12700">
            <a:solidFill>
              <a:srgbClr val="F1F6F5"/>
            </a:solidFill>
            <a:prstDash val="solid"/>
          </a:ln>
        </p:spPr>
      </p:sp>
      <p:sp>
        <p:nvSpPr>
          <p:cNvPr id="9" name="Shape 7"/>
          <p:cNvSpPr/>
          <p:nvPr/>
        </p:nvSpPr>
        <p:spPr>
          <a:xfrm>
            <a:off x="777240" y="3273552"/>
            <a:ext cx="310896" cy="310896"/>
          </a:xfrm>
          <a:prstGeom prst="ellipse">
            <a:avLst/>
          </a:prstGeom>
          <a:solidFill>
            <a:srgbClr val="2F7F73"/>
          </a:solidFill>
          <a:ln w="12700">
            <a:solidFill>
              <a:srgbClr val="2F7F73"/>
            </a:solidFill>
            <a:prstDash val="solid"/>
          </a:ln>
        </p:spPr>
      </p:sp>
      <p:sp>
        <p:nvSpPr>
          <p:cNvPr id="10" name="Text 8"/>
          <p:cNvSpPr txBox="1"/>
          <p:nvPr/>
        </p:nvSpPr>
        <p:spPr>
          <a:xfrm>
            <a:off x="1207008" y="3255264"/>
            <a:ext cx="2743200" cy="365760"/>
          </a:xfrm>
          <a:prstGeom prst="rect">
            <a:avLst/>
          </a:prstGeom>
          <a:noFill/>
          <a:ln/>
        </p:spPr>
        <p:txBody>
          <a:bodyPr wrap="square" lIns="0" tIns="0" rIns="0" bIns="0" rtlCol="0" anchor="t"/>
          <a:lstStyle/>
          <a:p>
            <a:pPr indent="0" marL="0">
              <a:buNone/>
            </a:pPr>
            <a:r>
              <a:rPr lang="en-US" sz="1700" b="1" dirty="0">
                <a:solidFill>
                  <a:srgbClr val="1B2B31"/>
                </a:solidFill>
                <a:latin typeface="Calibri" pitchFamily="34" charset="0"/>
                <a:ea typeface="Calibri" pitchFamily="34" charset="-122"/>
                <a:cs typeface="Calibri" pitchFamily="34" charset="-120"/>
              </a:rPr>
              <a:t>Source error</a:t>
            </a:r>
            <a:endParaRPr lang="en-US" sz="1700" dirty="0"/>
          </a:p>
        </p:txBody>
      </p:sp>
      <p:sp>
        <p:nvSpPr>
          <p:cNvPr id="11" name="Text 9"/>
          <p:cNvSpPr txBox="1"/>
          <p:nvPr/>
        </p:nvSpPr>
        <p:spPr>
          <a:xfrm>
            <a:off x="777240" y="3794760"/>
            <a:ext cx="3154680" cy="1737360"/>
          </a:xfrm>
          <a:prstGeom prst="rect">
            <a:avLst/>
          </a:prstGeom>
          <a:noFill/>
          <a:ln/>
        </p:spPr>
        <p:txBody>
          <a:bodyPr wrap="square" lIns="0" tIns="0" rIns="0" bIns="0" rtlCol="0" anchor="t"/>
          <a:lstStyle/>
          <a:p>
            <a:pPr indent="0" marL="0">
              <a:buNone/>
            </a:pPr>
            <a:r>
              <a:rPr lang="en-US" sz="1300" dirty="0">
                <a:solidFill>
                  <a:srgbClr val="4F5F65"/>
                </a:solidFill>
                <a:latin typeface="Calibri" pitchFamily="34" charset="0"/>
                <a:ea typeface="Calibri" pitchFamily="34" charset="-122"/>
                <a:cs typeface="Calibri" pitchFamily="34" charset="-120"/>
              </a:rPr>
              <a:t>Keep minimising the supervised forecasting loss on Domain 1 during adaptation.</a:t>
            </a:r>
            <a:endParaRPr lang="en-US" sz="1300" dirty="0"/>
          </a:p>
        </p:txBody>
      </p:sp>
      <p:sp>
        <p:nvSpPr>
          <p:cNvPr id="12" name="Text 10"/>
          <p:cNvSpPr txBox="1"/>
          <p:nvPr/>
        </p:nvSpPr>
        <p:spPr>
          <a:xfrm>
            <a:off x="777240" y="5669280"/>
            <a:ext cx="3154680" cy="365760"/>
          </a:xfrm>
          <a:prstGeom prst="rect">
            <a:avLst/>
          </a:prstGeom>
          <a:noFill/>
          <a:ln/>
        </p:spPr>
        <p:txBody>
          <a:bodyPr wrap="square" lIns="0" tIns="0" rIns="0" bIns="0" rtlCol="0" anchor="t"/>
          <a:lstStyle/>
          <a:p>
            <a:pPr indent="0" marL="0">
              <a:buNone/>
            </a:pPr>
            <a:r>
              <a:rPr lang="en-US" sz="1400" b="1" dirty="0">
                <a:solidFill>
                  <a:srgbClr val="1B2B31"/>
                </a:solidFill>
                <a:latin typeface="Consolas" pitchFamily="34" charset="0"/>
                <a:ea typeface="Consolas" pitchFamily="34" charset="-122"/>
                <a:cs typeface="Consolas" pitchFamily="34" charset="-120"/>
              </a:rPr>
              <a:t>→ L_fcst</a:t>
            </a:r>
            <a:endParaRPr lang="en-US" sz="1400" dirty="0"/>
          </a:p>
        </p:txBody>
      </p:sp>
      <p:sp>
        <p:nvSpPr>
          <p:cNvPr id="13" name="Shape 11"/>
          <p:cNvSpPr/>
          <p:nvPr/>
        </p:nvSpPr>
        <p:spPr>
          <a:xfrm>
            <a:off x="4297680" y="3063240"/>
            <a:ext cx="3566160" cy="3154680"/>
          </a:xfrm>
          <a:prstGeom prst="roundRect">
            <a:avLst>
              <a:gd name="adj" fmla="val 2319"/>
            </a:avLst>
          </a:prstGeom>
          <a:solidFill>
            <a:srgbClr val="F1F6F5"/>
          </a:solidFill>
          <a:ln w="12700">
            <a:solidFill>
              <a:srgbClr val="F1F6F5"/>
            </a:solidFill>
            <a:prstDash val="solid"/>
          </a:ln>
        </p:spPr>
      </p:sp>
      <p:sp>
        <p:nvSpPr>
          <p:cNvPr id="14" name="Shape 12"/>
          <p:cNvSpPr/>
          <p:nvPr/>
        </p:nvSpPr>
        <p:spPr>
          <a:xfrm>
            <a:off x="4526280" y="3273552"/>
            <a:ext cx="310896" cy="310896"/>
          </a:xfrm>
          <a:prstGeom prst="ellipse">
            <a:avLst/>
          </a:prstGeom>
          <a:solidFill>
            <a:srgbClr val="D98A1E"/>
          </a:solidFill>
          <a:ln w="12700">
            <a:solidFill>
              <a:srgbClr val="D98A1E"/>
            </a:solidFill>
            <a:prstDash val="solid"/>
          </a:ln>
        </p:spPr>
      </p:sp>
      <p:sp>
        <p:nvSpPr>
          <p:cNvPr id="15" name="Text 13"/>
          <p:cNvSpPr txBox="1"/>
          <p:nvPr/>
        </p:nvSpPr>
        <p:spPr>
          <a:xfrm>
            <a:off x="4956048" y="3255264"/>
            <a:ext cx="2743200" cy="365760"/>
          </a:xfrm>
          <a:prstGeom prst="rect">
            <a:avLst/>
          </a:prstGeom>
          <a:noFill/>
          <a:ln/>
        </p:spPr>
        <p:txBody>
          <a:bodyPr wrap="square" lIns="0" tIns="0" rIns="0" bIns="0" rtlCol="0" anchor="t"/>
          <a:lstStyle/>
          <a:p>
            <a:pPr indent="0" marL="0">
              <a:buNone/>
            </a:pPr>
            <a:r>
              <a:rPr lang="en-US" sz="1700" b="1" dirty="0">
                <a:solidFill>
                  <a:srgbClr val="1B2B31"/>
                </a:solidFill>
                <a:latin typeface="Calibri" pitchFamily="34" charset="0"/>
                <a:ea typeface="Calibri" pitchFamily="34" charset="-122"/>
                <a:cs typeface="Calibri" pitchFamily="34" charset="-120"/>
              </a:rPr>
              <a:t>Domain divergence</a:t>
            </a:r>
            <a:endParaRPr lang="en-US" sz="1700" dirty="0"/>
          </a:p>
        </p:txBody>
      </p:sp>
      <p:sp>
        <p:nvSpPr>
          <p:cNvPr id="16" name="Text 14"/>
          <p:cNvSpPr txBox="1"/>
          <p:nvPr/>
        </p:nvSpPr>
        <p:spPr>
          <a:xfrm>
            <a:off x="4526280" y="3794760"/>
            <a:ext cx="3154680" cy="1737360"/>
          </a:xfrm>
          <a:prstGeom prst="rect">
            <a:avLst/>
          </a:prstGeom>
          <a:noFill/>
          <a:ln/>
        </p:spPr>
        <p:txBody>
          <a:bodyPr wrap="square" lIns="0" tIns="0" rIns="0" bIns="0" rtlCol="0" anchor="t"/>
          <a:lstStyle/>
          <a:p>
            <a:pPr indent="0" marL="0">
              <a:buNone/>
            </a:pPr>
            <a:r>
              <a:rPr lang="en-US" sz="1300" dirty="0">
                <a:solidFill>
                  <a:srgbClr val="4F5F65"/>
                </a:solidFill>
                <a:latin typeface="Calibri" pitchFamily="34" charset="0"/>
                <a:ea typeface="Calibri" pitchFamily="34" charset="-122"/>
                <a:cs typeface="Calibri" pitchFamily="34" charset="-120"/>
              </a:rPr>
              <a:t>Make source and target feature distributions look alike: MMD, CORAL, adversarial (DANN).</a:t>
            </a:r>
            <a:endParaRPr lang="en-US" sz="1300" dirty="0"/>
          </a:p>
        </p:txBody>
      </p:sp>
      <p:sp>
        <p:nvSpPr>
          <p:cNvPr id="17" name="Text 15"/>
          <p:cNvSpPr txBox="1"/>
          <p:nvPr/>
        </p:nvSpPr>
        <p:spPr>
          <a:xfrm>
            <a:off x="4526280" y="5669280"/>
            <a:ext cx="3154680" cy="365760"/>
          </a:xfrm>
          <a:prstGeom prst="rect">
            <a:avLst/>
          </a:prstGeom>
          <a:noFill/>
          <a:ln/>
        </p:spPr>
        <p:txBody>
          <a:bodyPr wrap="square" lIns="0" tIns="0" rIns="0" bIns="0" rtlCol="0" anchor="t"/>
          <a:lstStyle/>
          <a:p>
            <a:pPr indent="0" marL="0">
              <a:buNone/>
            </a:pPr>
            <a:r>
              <a:rPr lang="en-US" sz="1400" b="1" dirty="0">
                <a:solidFill>
                  <a:srgbClr val="1B2B31"/>
                </a:solidFill>
                <a:latin typeface="Consolas" pitchFamily="34" charset="0"/>
                <a:ea typeface="Consolas" pitchFamily="34" charset="-122"/>
                <a:cs typeface="Consolas" pitchFamily="34" charset="-120"/>
              </a:rPr>
              <a:t>→ L_MMD + L_CORAL</a:t>
            </a:r>
            <a:endParaRPr lang="en-US" sz="1400" dirty="0"/>
          </a:p>
        </p:txBody>
      </p:sp>
      <p:sp>
        <p:nvSpPr>
          <p:cNvPr id="18" name="Shape 16"/>
          <p:cNvSpPr/>
          <p:nvPr/>
        </p:nvSpPr>
        <p:spPr>
          <a:xfrm>
            <a:off x="8046720" y="3063240"/>
            <a:ext cx="3566160" cy="3154680"/>
          </a:xfrm>
          <a:prstGeom prst="roundRect">
            <a:avLst>
              <a:gd name="adj" fmla="val 2319"/>
            </a:avLst>
          </a:prstGeom>
          <a:solidFill>
            <a:srgbClr val="F1F6F5"/>
          </a:solidFill>
          <a:ln w="12700">
            <a:solidFill>
              <a:srgbClr val="F1F6F5"/>
            </a:solidFill>
            <a:prstDash val="solid"/>
          </a:ln>
        </p:spPr>
      </p:sp>
      <p:sp>
        <p:nvSpPr>
          <p:cNvPr id="19" name="Shape 17"/>
          <p:cNvSpPr/>
          <p:nvPr/>
        </p:nvSpPr>
        <p:spPr>
          <a:xfrm>
            <a:off x="8275320" y="3273552"/>
            <a:ext cx="310896" cy="310896"/>
          </a:xfrm>
          <a:prstGeom prst="ellipse">
            <a:avLst/>
          </a:prstGeom>
          <a:solidFill>
            <a:srgbClr val="B5473A"/>
          </a:solidFill>
          <a:ln w="12700">
            <a:solidFill>
              <a:srgbClr val="B5473A"/>
            </a:solidFill>
            <a:prstDash val="solid"/>
          </a:ln>
        </p:spPr>
      </p:sp>
      <p:sp>
        <p:nvSpPr>
          <p:cNvPr id="20" name="Text 18"/>
          <p:cNvSpPr txBox="1"/>
          <p:nvPr/>
        </p:nvSpPr>
        <p:spPr>
          <a:xfrm>
            <a:off x="8705088" y="3255264"/>
            <a:ext cx="2743200" cy="365760"/>
          </a:xfrm>
          <a:prstGeom prst="rect">
            <a:avLst/>
          </a:prstGeom>
          <a:noFill/>
          <a:ln/>
        </p:spPr>
        <p:txBody>
          <a:bodyPr wrap="square" lIns="0" tIns="0" rIns="0" bIns="0" rtlCol="0" anchor="t"/>
          <a:lstStyle/>
          <a:p>
            <a:pPr indent="0" marL="0">
              <a:buNone/>
            </a:pPr>
            <a:r>
              <a:rPr lang="en-US" sz="1700" b="1" dirty="0">
                <a:solidFill>
                  <a:srgbClr val="1B2B31"/>
                </a:solidFill>
                <a:latin typeface="Calibri" pitchFamily="34" charset="0"/>
                <a:ea typeface="Calibri" pitchFamily="34" charset="-122"/>
                <a:cs typeface="Calibri" pitchFamily="34" charset="-120"/>
              </a:rPr>
              <a:t>Joint error λ*</a:t>
            </a:r>
            <a:endParaRPr lang="en-US" sz="1700" dirty="0"/>
          </a:p>
        </p:txBody>
      </p:sp>
      <p:sp>
        <p:nvSpPr>
          <p:cNvPr id="21" name="Text 19"/>
          <p:cNvSpPr txBox="1"/>
          <p:nvPr/>
        </p:nvSpPr>
        <p:spPr>
          <a:xfrm>
            <a:off x="8275320" y="3794760"/>
            <a:ext cx="3154680" cy="1737360"/>
          </a:xfrm>
          <a:prstGeom prst="rect">
            <a:avLst/>
          </a:prstGeom>
          <a:noFill/>
          <a:ln/>
        </p:spPr>
        <p:txBody>
          <a:bodyPr wrap="square" lIns="0" tIns="0" rIns="0" bIns="0" rtlCol="0" anchor="t"/>
          <a:lstStyle/>
          <a:p>
            <a:pPr indent="0" marL="0">
              <a:buNone/>
            </a:pPr>
            <a:r>
              <a:rPr lang="en-US" sz="1300" dirty="0">
                <a:solidFill>
                  <a:srgbClr val="4F5F65"/>
                </a:solidFill>
                <a:latin typeface="Calibri" pitchFamily="34" charset="0"/>
                <a:ea typeface="Calibri" pitchFamily="34" charset="-122"/>
                <a:cs typeface="Calibri" pitchFamily="34" charset="-120"/>
              </a:rPr>
              <a:t>Cannot be measured without target labels. Alignment alone can destroy forecast-relevant information; keep features meaningful with self-supervision and stay close to the source weights.</a:t>
            </a:r>
            <a:endParaRPr lang="en-US" sz="1300" dirty="0"/>
          </a:p>
        </p:txBody>
      </p:sp>
      <p:sp>
        <p:nvSpPr>
          <p:cNvPr id="22" name="Text 20"/>
          <p:cNvSpPr txBox="1"/>
          <p:nvPr/>
        </p:nvSpPr>
        <p:spPr>
          <a:xfrm>
            <a:off x="8275320" y="5669280"/>
            <a:ext cx="3154680" cy="365760"/>
          </a:xfrm>
          <a:prstGeom prst="rect">
            <a:avLst/>
          </a:prstGeom>
          <a:noFill/>
          <a:ln/>
        </p:spPr>
        <p:txBody>
          <a:bodyPr wrap="square" lIns="0" tIns="0" rIns="0" bIns="0" rtlCol="0" anchor="t"/>
          <a:lstStyle/>
          <a:p>
            <a:pPr indent="0" marL="0">
              <a:buNone/>
            </a:pPr>
            <a:r>
              <a:rPr lang="en-US" sz="1400" b="1" dirty="0">
                <a:solidFill>
                  <a:srgbClr val="1B2B31"/>
                </a:solidFill>
                <a:latin typeface="Consolas" pitchFamily="34" charset="0"/>
                <a:ea typeface="Consolas" pitchFamily="34" charset="-122"/>
                <a:cs typeface="Consolas" pitchFamily="34" charset="-120"/>
              </a:rPr>
              <a:t>→ L_SSL + L_anchor</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02 · BACKGROUND READING</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The domain-adaptation toolbox and what we take from it</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240280"/>
                <a:gridCol w="3291840"/>
                <a:gridCol w="3044952"/>
                <a:gridCol w="2514600"/>
              </a:tblGrid>
              <a:tr h="41148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Family</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Core idea</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Representative methods</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Role in our project</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r>
              <a:tr h="777240">
                <a:tc>
                  <a:txBody>
                    <a:bodyPr/>
                    <a:lstStyle/>
                    <a:p>
                      <a:pPr indent="0" marL="0">
                        <a:buNone/>
                      </a:pPr>
                      <a:r>
                        <a:rPr lang="en-US" sz="1250" b="1" dirty="0">
                          <a:solidFill>
                            <a:srgbClr val="1B2B31"/>
                          </a:solidFill>
                          <a:latin typeface="Calibri" pitchFamily="34" charset="0"/>
                          <a:ea typeface="Calibri" pitchFamily="34" charset="-122"/>
                          <a:cs typeface="Calibri" pitchFamily="34" charset="-120"/>
                        </a:rPr>
                        <a:t>Discrepancy-based</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50" dirty="0">
                          <a:solidFill>
                            <a:srgbClr val="1B2B31"/>
                          </a:solidFill>
                          <a:latin typeface="Calibri" pitchFamily="34" charset="0"/>
                          <a:ea typeface="Calibri" pitchFamily="34" charset="-122"/>
                          <a:cs typeface="Calibri" pitchFamily="34" charset="-120"/>
                        </a:rPr>
                        <a:t>Minimise a statistical distance between source and target features</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50" dirty="0">
                          <a:solidFill>
                            <a:srgbClr val="1B2B31"/>
                          </a:solidFill>
                          <a:latin typeface="Calibri" pitchFamily="34" charset="0"/>
                          <a:ea typeface="Calibri" pitchFamily="34" charset="-122"/>
                          <a:cs typeface="Calibri" pitchFamily="34" charset="-120"/>
                        </a:rPr>
                        <a:t>MMD / DAN (Long et al. 2015), Deep CORAL (Sun &amp; Saenko 2016)</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50" dirty="0">
                          <a:solidFill>
                            <a:srgbClr val="2F7F73"/>
                          </a:solidFill>
                          <a:latin typeface="Calibri" pitchFamily="34" charset="0"/>
                          <a:ea typeface="Calibri" pitchFamily="34" charset="-122"/>
                          <a:cs typeface="Calibri" pitchFamily="34" charset="-120"/>
                        </a:rPr>
                        <a:t>Alignment terms of CARE-DA; also stand-alone baselines</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r>
              <a:tr h="685800">
                <a:tc>
                  <a:txBody>
                    <a:bodyPr/>
                    <a:lstStyle/>
                    <a:p>
                      <a:pPr indent="0" marL="0">
                        <a:buNone/>
                      </a:pPr>
                      <a:r>
                        <a:rPr lang="en-US" sz="1250" b="1" dirty="0">
                          <a:solidFill>
                            <a:srgbClr val="1B2B31"/>
                          </a:solidFill>
                          <a:latin typeface="Calibri" pitchFamily="34" charset="0"/>
                          <a:ea typeface="Calibri" pitchFamily="34" charset="-122"/>
                          <a:cs typeface="Calibri" pitchFamily="34" charset="-120"/>
                        </a:rPr>
                        <a:t>Adversarial</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indent="0" marL="0">
                        <a:buNone/>
                      </a:pPr>
                      <a:r>
                        <a:rPr lang="en-US" sz="1250" dirty="0">
                          <a:solidFill>
                            <a:srgbClr val="1B2B31"/>
                          </a:solidFill>
                          <a:latin typeface="Calibri" pitchFamily="34" charset="0"/>
                          <a:ea typeface="Calibri" pitchFamily="34" charset="-122"/>
                          <a:cs typeface="Calibri" pitchFamily="34" charset="-120"/>
                        </a:rPr>
                        <a:t>A domain classifier is fooled through a gradient-reversal layer</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indent="0" marL="0">
                        <a:buNone/>
                      </a:pPr>
                      <a:r>
                        <a:rPr lang="en-US" sz="1250" dirty="0">
                          <a:solidFill>
                            <a:srgbClr val="1B2B31"/>
                          </a:solidFill>
                          <a:latin typeface="Calibri" pitchFamily="34" charset="0"/>
                          <a:ea typeface="Calibri" pitchFamily="34" charset="-122"/>
                          <a:cs typeface="Calibri" pitchFamily="34" charset="-120"/>
                        </a:rPr>
                        <a:t>DANN (Ganin et al. 2016), CoDATS (Wilson et al. 2020)</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indent="0" marL="0">
                        <a:buNone/>
                      </a:pPr>
                      <a:r>
                        <a:rPr lang="en-US" sz="1250" dirty="0">
                          <a:solidFill>
                            <a:srgbClr val="2F7F73"/>
                          </a:solidFill>
                          <a:latin typeface="Calibri" pitchFamily="34" charset="0"/>
                          <a:ea typeface="Calibri" pitchFamily="34" charset="-122"/>
                          <a:cs typeface="Calibri" pitchFamily="34" charset="-120"/>
                        </a:rPr>
                        <a:t>Baseline</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r>
              <a:tr h="777240">
                <a:tc>
                  <a:txBody>
                    <a:bodyPr/>
                    <a:lstStyle/>
                    <a:p>
                      <a:pPr indent="0" marL="0">
                        <a:buNone/>
                      </a:pPr>
                      <a:r>
                        <a:rPr lang="en-US" sz="1250" b="1" dirty="0">
                          <a:solidFill>
                            <a:srgbClr val="1B2B31"/>
                          </a:solidFill>
                          <a:latin typeface="Calibri" pitchFamily="34" charset="0"/>
                          <a:ea typeface="Calibri" pitchFamily="34" charset="-122"/>
                          <a:cs typeface="Calibri" pitchFamily="34" charset="-120"/>
                        </a:rPr>
                        <a:t>Self-supervised / test-time training</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50" dirty="0">
                          <a:solidFill>
                            <a:srgbClr val="1B2B31"/>
                          </a:solidFill>
                          <a:latin typeface="Calibri" pitchFamily="34" charset="0"/>
                          <a:ea typeface="Calibri" pitchFamily="34" charset="-122"/>
                          <a:cs typeface="Calibri" pitchFamily="34" charset="-120"/>
                        </a:rPr>
                        <a:t>Auxiliary label-free task on target data keeps features informative</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50" dirty="0">
                          <a:solidFill>
                            <a:srgbClr val="1B2B31"/>
                          </a:solidFill>
                          <a:latin typeface="Calibri" pitchFamily="34" charset="0"/>
                          <a:ea typeface="Calibri" pitchFamily="34" charset="-122"/>
                          <a:cs typeface="Calibri" pitchFamily="34" charset="-120"/>
                        </a:rPr>
                        <a:t>TTT (Sun et al. 2020), masked reconstruction</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50" dirty="0">
                          <a:solidFill>
                            <a:srgbClr val="2F7F73"/>
                          </a:solidFill>
                          <a:latin typeface="Calibri" pitchFamily="34" charset="0"/>
                          <a:ea typeface="Calibri" pitchFamily="34" charset="-122"/>
                          <a:cs typeface="Calibri" pitchFamily="34" charset="-120"/>
                        </a:rPr>
                        <a:t>SSL term: masked reconstruction of target windows</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r>
              <a:tr h="685800">
                <a:tc>
                  <a:txBody>
                    <a:bodyPr/>
                    <a:lstStyle/>
                    <a:p>
                      <a:pPr indent="0" marL="0">
                        <a:buNone/>
                      </a:pPr>
                      <a:r>
                        <a:rPr lang="en-US" sz="1250" b="1" dirty="0">
                          <a:solidFill>
                            <a:srgbClr val="1B2B31"/>
                          </a:solidFill>
                          <a:latin typeface="Calibri" pitchFamily="34" charset="0"/>
                          <a:ea typeface="Calibri" pitchFamily="34" charset="-122"/>
                          <a:cs typeface="Calibri" pitchFamily="34" charset="-120"/>
                        </a:rPr>
                        <a:t>Parameter regularisation</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indent="0" marL="0">
                        <a:buNone/>
                      </a:pPr>
                      <a:r>
                        <a:rPr lang="en-US" sz="1250" dirty="0">
                          <a:solidFill>
                            <a:srgbClr val="1B2B31"/>
                          </a:solidFill>
                          <a:latin typeface="Calibri" pitchFamily="34" charset="0"/>
                          <a:ea typeface="Calibri" pitchFamily="34" charset="-122"/>
                          <a:cs typeface="Calibri" pitchFamily="34" charset="-120"/>
                        </a:rPr>
                        <a:t>Penalise drifting away from the pre-trained (source) solution</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indent="0" marL="0">
                        <a:buNone/>
                      </a:pPr>
                      <a:r>
                        <a:rPr lang="en-US" sz="1250" dirty="0">
                          <a:solidFill>
                            <a:srgbClr val="1B2B31"/>
                          </a:solidFill>
                          <a:latin typeface="Calibri" pitchFamily="34" charset="0"/>
                          <a:ea typeface="Calibri" pitchFamily="34" charset="-122"/>
                          <a:cs typeface="Calibri" pitchFamily="34" charset="-120"/>
                        </a:rPr>
                        <a:t>L2-SP (Li et al. 2018)</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indent="0" marL="0">
                        <a:buNone/>
                      </a:pPr>
                      <a:r>
                        <a:rPr lang="en-US" sz="1250" dirty="0">
                          <a:solidFill>
                            <a:srgbClr val="2F7F73"/>
                          </a:solidFill>
                          <a:latin typeface="Calibri" pitchFamily="34" charset="0"/>
                          <a:ea typeface="Calibri" pitchFamily="34" charset="-122"/>
                          <a:cs typeface="Calibri" pitchFamily="34" charset="-120"/>
                        </a:rPr>
                        <a:t>Elastic anchor: prevents forgetting and over-alignment</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r>
              <a:tr h="685800">
                <a:tc>
                  <a:txBody>
                    <a:bodyPr/>
                    <a:lstStyle/>
                    <a:p>
                      <a:pPr indent="0" marL="0">
                        <a:buNone/>
                      </a:pPr>
                      <a:r>
                        <a:rPr lang="en-US" sz="1250" b="1" dirty="0">
                          <a:solidFill>
                            <a:srgbClr val="1B2B31"/>
                          </a:solidFill>
                          <a:latin typeface="Calibri" pitchFamily="34" charset="0"/>
                          <a:ea typeface="Calibri" pitchFamily="34" charset="-122"/>
                          <a:cs typeface="Calibri" pitchFamily="34" charset="-120"/>
                        </a:rPr>
                        <a:t>Normalisation-based</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50" dirty="0">
                          <a:solidFill>
                            <a:srgbClr val="1B2B31"/>
                          </a:solidFill>
                          <a:latin typeface="Calibri" pitchFamily="34" charset="0"/>
                          <a:ea typeface="Calibri" pitchFamily="34" charset="-122"/>
                          <a:cs typeface="Calibri" pitchFamily="34" charset="-120"/>
                        </a:rPr>
                        <a:t>Remove per-instance or per-domain statistics</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50" dirty="0">
                          <a:solidFill>
                            <a:srgbClr val="1B2B31"/>
                          </a:solidFill>
                          <a:latin typeface="Calibri" pitchFamily="34" charset="0"/>
                          <a:ea typeface="Calibri" pitchFamily="34" charset="-122"/>
                          <a:cs typeface="Calibri" pitchFamily="34" charset="-120"/>
                        </a:rPr>
                        <a:t>RevIN (Kim et al. 2022), AdaBN</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50" dirty="0">
                          <a:solidFill>
                            <a:srgbClr val="2F7F73"/>
                          </a:solidFill>
                          <a:latin typeface="Calibri" pitchFamily="34" charset="0"/>
                          <a:ea typeface="Calibri" pitchFamily="34" charset="-122"/>
                          <a:cs typeface="Calibri" pitchFamily="34" charset="-120"/>
                        </a:rPr>
                        <a:t>RevIN inside the model + per-domain z-scoring</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715000"/>
            <a:ext cx="11064240" cy="457200"/>
          </a:xfrm>
          <a:prstGeom prst="rect">
            <a:avLst/>
          </a:prstGeom>
          <a:noFill/>
          <a:ln/>
        </p:spPr>
        <p:txBody>
          <a:bodyPr wrap="square" lIns="0" tIns="0" rIns="0" bIns="0" rtlCol="0" anchor="t"/>
          <a:lstStyle/>
          <a:p>
            <a:pPr indent="0" marL="0">
              <a:buNone/>
            </a:pPr>
            <a:r>
              <a:rPr lang="en-US" sz="1300" i="1" dirty="0">
                <a:solidFill>
                  <a:srgbClr val="4F5F65"/>
                </a:solidFill>
                <a:latin typeface="Calibri" pitchFamily="34" charset="0"/>
                <a:ea typeface="Calibri" pitchFamily="34" charset="-122"/>
                <a:cs typeface="Calibri" pitchFamily="34" charset="-120"/>
              </a:rPr>
              <a:t>Insight from reading: no single family is sufficient for regression on time series. Our strategy combines the four complementary ideas in a single loss.</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02 · BACKGROUND READING</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Domain adaptation for time series: prior work</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sp>
        <p:nvSpPr>
          <p:cNvPr id="5" name="Shape 3"/>
          <p:cNvSpPr/>
          <p:nvPr/>
        </p:nvSpPr>
        <p:spPr>
          <a:xfrm>
            <a:off x="548640" y="1463040"/>
            <a:ext cx="6949440" cy="804672"/>
          </a:xfrm>
          <a:prstGeom prst="roundRect">
            <a:avLst>
              <a:gd name="adj" fmla="val 9091"/>
            </a:avLst>
          </a:prstGeom>
          <a:solidFill>
            <a:srgbClr val="F1F6F5"/>
          </a:solidFill>
          <a:ln w="12700">
            <a:solidFill>
              <a:srgbClr val="F1F6F5"/>
            </a:solidFill>
            <a:prstDash val="solid"/>
          </a:ln>
        </p:spPr>
      </p:sp>
      <p:sp>
        <p:nvSpPr>
          <p:cNvPr id="6" name="Text 4"/>
          <p:cNvSpPr txBox="1"/>
          <p:nvPr/>
        </p:nvSpPr>
        <p:spPr>
          <a:xfrm>
            <a:off x="777240" y="1554480"/>
            <a:ext cx="1463040" cy="365760"/>
          </a:xfrm>
          <a:prstGeom prst="rect">
            <a:avLst/>
          </a:prstGeom>
          <a:noFill/>
          <a:ln/>
        </p:spPr>
        <p:txBody>
          <a:bodyPr wrap="square" lIns="0" tIns="0" rIns="0" bIns="0" rtlCol="0" anchor="t"/>
          <a:lstStyle/>
          <a:p>
            <a:pPr indent="0" marL="0">
              <a:buNone/>
            </a:pPr>
            <a:r>
              <a:rPr lang="en-US" sz="1800" b="1" dirty="0">
                <a:solidFill>
                  <a:srgbClr val="2F7F73"/>
                </a:solidFill>
                <a:latin typeface="Cambria" pitchFamily="34" charset="0"/>
                <a:ea typeface="Cambria" pitchFamily="34" charset="-122"/>
                <a:cs typeface="Cambria" pitchFamily="34" charset="-120"/>
              </a:rPr>
              <a:t>CoDATS</a:t>
            </a:r>
            <a:endParaRPr lang="en-US" sz="1800" dirty="0"/>
          </a:p>
        </p:txBody>
      </p:sp>
      <p:sp>
        <p:nvSpPr>
          <p:cNvPr id="7" name="Text 5"/>
          <p:cNvSpPr txBox="1"/>
          <p:nvPr/>
        </p:nvSpPr>
        <p:spPr>
          <a:xfrm>
            <a:off x="777240" y="1920240"/>
            <a:ext cx="1463040" cy="274320"/>
          </a:xfrm>
          <a:prstGeom prst="rect">
            <a:avLst/>
          </a:prstGeom>
          <a:noFill/>
          <a:ln/>
        </p:spPr>
        <p:txBody>
          <a:bodyPr wrap="square" lIns="0" tIns="0" rIns="0" bIns="0" rtlCol="0" anchor="t"/>
          <a:lstStyle/>
          <a:p>
            <a:pPr indent="0" marL="0">
              <a:buNone/>
            </a:pPr>
            <a:r>
              <a:rPr lang="en-US" sz="1050" dirty="0">
                <a:solidFill>
                  <a:srgbClr val="7C8B90"/>
                </a:solidFill>
                <a:latin typeface="Calibri" pitchFamily="34" charset="0"/>
                <a:ea typeface="Calibri" pitchFamily="34" charset="-122"/>
                <a:cs typeface="Calibri" pitchFamily="34" charset="-120"/>
              </a:rPr>
              <a:t>KDD 2020</a:t>
            </a:r>
            <a:endParaRPr lang="en-US" sz="1050" dirty="0"/>
          </a:p>
        </p:txBody>
      </p:sp>
      <p:sp>
        <p:nvSpPr>
          <p:cNvPr id="8" name="Text 6"/>
          <p:cNvSpPr txBox="1"/>
          <p:nvPr/>
        </p:nvSpPr>
        <p:spPr>
          <a:xfrm>
            <a:off x="2331720" y="1554480"/>
            <a:ext cx="5029200" cy="640080"/>
          </a:xfrm>
          <a:prstGeom prst="rect">
            <a:avLst/>
          </a:prstGeom>
          <a:noFill/>
          <a:ln/>
        </p:spPr>
        <p:txBody>
          <a:bodyPr wrap="square" lIns="0" tIns="0" rIns="0" bIns="0" rtlCol="0" anchor="ctr"/>
          <a:lstStyle/>
          <a:p>
            <a:pPr indent="0" marL="0">
              <a:buNone/>
            </a:pPr>
            <a:r>
              <a:rPr lang="en-US" sz="1300" dirty="0">
                <a:solidFill>
                  <a:srgbClr val="4F5F65"/>
                </a:solidFill>
                <a:latin typeface="Calibri" pitchFamily="34" charset="0"/>
                <a:ea typeface="Calibri" pitchFamily="34" charset="-122"/>
                <a:cs typeface="Calibri" pitchFamily="34" charset="-120"/>
              </a:rPr>
              <a:t>Adversarial 1-D CNN adaptation for multi-source sensor classification.</a:t>
            </a:r>
            <a:endParaRPr lang="en-US" sz="1300" dirty="0"/>
          </a:p>
        </p:txBody>
      </p:sp>
      <p:sp>
        <p:nvSpPr>
          <p:cNvPr id="9" name="Shape 7"/>
          <p:cNvSpPr/>
          <p:nvPr/>
        </p:nvSpPr>
        <p:spPr>
          <a:xfrm>
            <a:off x="548640" y="2404872"/>
            <a:ext cx="6949440" cy="804672"/>
          </a:xfrm>
          <a:prstGeom prst="roundRect">
            <a:avLst>
              <a:gd name="adj" fmla="val 9091"/>
            </a:avLst>
          </a:prstGeom>
          <a:solidFill>
            <a:srgbClr val="F1F6F5"/>
          </a:solidFill>
          <a:ln w="12700">
            <a:solidFill>
              <a:srgbClr val="F1F6F5"/>
            </a:solidFill>
            <a:prstDash val="solid"/>
          </a:ln>
        </p:spPr>
      </p:sp>
      <p:sp>
        <p:nvSpPr>
          <p:cNvPr id="10" name="Text 8"/>
          <p:cNvSpPr txBox="1"/>
          <p:nvPr/>
        </p:nvSpPr>
        <p:spPr>
          <a:xfrm>
            <a:off x="777240" y="2496312"/>
            <a:ext cx="1463040" cy="365760"/>
          </a:xfrm>
          <a:prstGeom prst="rect">
            <a:avLst/>
          </a:prstGeom>
          <a:noFill/>
          <a:ln/>
        </p:spPr>
        <p:txBody>
          <a:bodyPr wrap="square" lIns="0" tIns="0" rIns="0" bIns="0" rtlCol="0" anchor="t"/>
          <a:lstStyle/>
          <a:p>
            <a:pPr indent="0" marL="0">
              <a:buNone/>
            </a:pPr>
            <a:r>
              <a:rPr lang="en-US" sz="1800" b="1" dirty="0">
                <a:solidFill>
                  <a:srgbClr val="2F7F73"/>
                </a:solidFill>
                <a:latin typeface="Cambria" pitchFamily="34" charset="0"/>
                <a:ea typeface="Cambria" pitchFamily="34" charset="-122"/>
                <a:cs typeface="Cambria" pitchFamily="34" charset="-120"/>
              </a:rPr>
              <a:t>SASA</a:t>
            </a:r>
            <a:endParaRPr lang="en-US" sz="1800" dirty="0"/>
          </a:p>
        </p:txBody>
      </p:sp>
      <p:sp>
        <p:nvSpPr>
          <p:cNvPr id="11" name="Text 9"/>
          <p:cNvSpPr txBox="1"/>
          <p:nvPr/>
        </p:nvSpPr>
        <p:spPr>
          <a:xfrm>
            <a:off x="777240" y="2862072"/>
            <a:ext cx="1463040" cy="274320"/>
          </a:xfrm>
          <a:prstGeom prst="rect">
            <a:avLst/>
          </a:prstGeom>
          <a:noFill/>
          <a:ln/>
        </p:spPr>
        <p:txBody>
          <a:bodyPr wrap="square" lIns="0" tIns="0" rIns="0" bIns="0" rtlCol="0" anchor="t"/>
          <a:lstStyle/>
          <a:p>
            <a:pPr indent="0" marL="0">
              <a:buNone/>
            </a:pPr>
            <a:r>
              <a:rPr lang="en-US" sz="1050" dirty="0">
                <a:solidFill>
                  <a:srgbClr val="7C8B90"/>
                </a:solidFill>
                <a:latin typeface="Calibri" pitchFamily="34" charset="0"/>
                <a:ea typeface="Calibri" pitchFamily="34" charset="-122"/>
                <a:cs typeface="Calibri" pitchFamily="34" charset="-120"/>
              </a:rPr>
              <a:t>AAAI 2021</a:t>
            </a:r>
            <a:endParaRPr lang="en-US" sz="1050" dirty="0"/>
          </a:p>
        </p:txBody>
      </p:sp>
      <p:sp>
        <p:nvSpPr>
          <p:cNvPr id="12" name="Text 10"/>
          <p:cNvSpPr txBox="1"/>
          <p:nvPr/>
        </p:nvSpPr>
        <p:spPr>
          <a:xfrm>
            <a:off x="2331720" y="2496312"/>
            <a:ext cx="5029200" cy="640080"/>
          </a:xfrm>
          <a:prstGeom prst="rect">
            <a:avLst/>
          </a:prstGeom>
          <a:noFill/>
          <a:ln/>
        </p:spPr>
        <p:txBody>
          <a:bodyPr wrap="square" lIns="0" tIns="0" rIns="0" bIns="0" rtlCol="0" anchor="ctr"/>
          <a:lstStyle/>
          <a:p>
            <a:pPr indent="0" marL="0">
              <a:buNone/>
            </a:pPr>
            <a:r>
              <a:rPr lang="en-US" sz="1300" dirty="0">
                <a:solidFill>
                  <a:srgbClr val="4F5F65"/>
                </a:solidFill>
                <a:latin typeface="Calibri" pitchFamily="34" charset="0"/>
                <a:ea typeface="Calibri" pitchFamily="34" charset="-122"/>
                <a:cs typeface="Calibri" pitchFamily="34" charset="-120"/>
              </a:rPr>
              <a:t>Aligns sparse associative structure between variables (inter-channel dependencies).</a:t>
            </a:r>
            <a:endParaRPr lang="en-US" sz="1300" dirty="0"/>
          </a:p>
        </p:txBody>
      </p:sp>
      <p:sp>
        <p:nvSpPr>
          <p:cNvPr id="13" name="Shape 11"/>
          <p:cNvSpPr/>
          <p:nvPr/>
        </p:nvSpPr>
        <p:spPr>
          <a:xfrm>
            <a:off x="548640" y="3346704"/>
            <a:ext cx="6949440" cy="804672"/>
          </a:xfrm>
          <a:prstGeom prst="roundRect">
            <a:avLst>
              <a:gd name="adj" fmla="val 9091"/>
            </a:avLst>
          </a:prstGeom>
          <a:solidFill>
            <a:srgbClr val="F1F6F5"/>
          </a:solidFill>
          <a:ln w="12700">
            <a:solidFill>
              <a:srgbClr val="F1F6F5"/>
            </a:solidFill>
            <a:prstDash val="solid"/>
          </a:ln>
        </p:spPr>
      </p:sp>
      <p:sp>
        <p:nvSpPr>
          <p:cNvPr id="14" name="Text 12"/>
          <p:cNvSpPr txBox="1"/>
          <p:nvPr/>
        </p:nvSpPr>
        <p:spPr>
          <a:xfrm>
            <a:off x="777240" y="3438144"/>
            <a:ext cx="1463040" cy="365760"/>
          </a:xfrm>
          <a:prstGeom prst="rect">
            <a:avLst/>
          </a:prstGeom>
          <a:noFill/>
          <a:ln/>
        </p:spPr>
        <p:txBody>
          <a:bodyPr wrap="square" lIns="0" tIns="0" rIns="0" bIns="0" rtlCol="0" anchor="t"/>
          <a:lstStyle/>
          <a:p>
            <a:pPr indent="0" marL="0">
              <a:buNone/>
            </a:pPr>
            <a:r>
              <a:rPr lang="en-US" sz="1800" b="1" dirty="0">
                <a:solidFill>
                  <a:srgbClr val="2F7F73"/>
                </a:solidFill>
                <a:latin typeface="Cambria" pitchFamily="34" charset="0"/>
                <a:ea typeface="Cambria" pitchFamily="34" charset="-122"/>
                <a:cs typeface="Cambria" pitchFamily="34" charset="-120"/>
              </a:rPr>
              <a:t>DAF</a:t>
            </a:r>
            <a:endParaRPr lang="en-US" sz="1800" dirty="0"/>
          </a:p>
        </p:txBody>
      </p:sp>
      <p:sp>
        <p:nvSpPr>
          <p:cNvPr id="15" name="Text 13"/>
          <p:cNvSpPr txBox="1"/>
          <p:nvPr/>
        </p:nvSpPr>
        <p:spPr>
          <a:xfrm>
            <a:off x="777240" y="3803904"/>
            <a:ext cx="1463040" cy="274320"/>
          </a:xfrm>
          <a:prstGeom prst="rect">
            <a:avLst/>
          </a:prstGeom>
          <a:noFill/>
          <a:ln/>
        </p:spPr>
        <p:txBody>
          <a:bodyPr wrap="square" lIns="0" tIns="0" rIns="0" bIns="0" rtlCol="0" anchor="t"/>
          <a:lstStyle/>
          <a:p>
            <a:pPr indent="0" marL="0">
              <a:buNone/>
            </a:pPr>
            <a:r>
              <a:rPr lang="en-US" sz="1050" dirty="0">
                <a:solidFill>
                  <a:srgbClr val="7C8B90"/>
                </a:solidFill>
                <a:latin typeface="Calibri" pitchFamily="34" charset="0"/>
                <a:ea typeface="Calibri" pitchFamily="34" charset="-122"/>
                <a:cs typeface="Calibri" pitchFamily="34" charset="-120"/>
              </a:rPr>
              <a:t>ICML 2022</a:t>
            </a:r>
            <a:endParaRPr lang="en-US" sz="1050" dirty="0"/>
          </a:p>
        </p:txBody>
      </p:sp>
      <p:sp>
        <p:nvSpPr>
          <p:cNvPr id="16" name="Text 14"/>
          <p:cNvSpPr txBox="1"/>
          <p:nvPr/>
        </p:nvSpPr>
        <p:spPr>
          <a:xfrm>
            <a:off x="2331720" y="3438144"/>
            <a:ext cx="5029200" cy="640080"/>
          </a:xfrm>
          <a:prstGeom prst="rect">
            <a:avLst/>
          </a:prstGeom>
          <a:noFill/>
          <a:ln/>
        </p:spPr>
        <p:txBody>
          <a:bodyPr wrap="square" lIns="0" tIns="0" rIns="0" bIns="0" rtlCol="0" anchor="ctr"/>
          <a:lstStyle/>
          <a:p>
            <a:pPr indent="0" marL="0">
              <a:buNone/>
            </a:pPr>
            <a:r>
              <a:rPr lang="en-US" sz="1300" dirty="0">
                <a:solidFill>
                  <a:srgbClr val="4F5F65"/>
                </a:solidFill>
                <a:latin typeface="Calibri" pitchFamily="34" charset="0"/>
                <a:ea typeface="Calibri" pitchFamily="34" charset="-122"/>
                <a:cs typeface="Calibri" pitchFamily="34" charset="-120"/>
              </a:rPr>
              <a:t>Attention-sharing Transformer for forecasting; needs some labeled target data.</a:t>
            </a:r>
            <a:endParaRPr lang="en-US" sz="1300" dirty="0"/>
          </a:p>
        </p:txBody>
      </p:sp>
      <p:sp>
        <p:nvSpPr>
          <p:cNvPr id="17" name="Shape 15"/>
          <p:cNvSpPr/>
          <p:nvPr/>
        </p:nvSpPr>
        <p:spPr>
          <a:xfrm>
            <a:off x="548640" y="4288536"/>
            <a:ext cx="6949440" cy="804672"/>
          </a:xfrm>
          <a:prstGeom prst="roundRect">
            <a:avLst>
              <a:gd name="adj" fmla="val 9091"/>
            </a:avLst>
          </a:prstGeom>
          <a:solidFill>
            <a:srgbClr val="F1F6F5"/>
          </a:solidFill>
          <a:ln w="12700">
            <a:solidFill>
              <a:srgbClr val="F1F6F5"/>
            </a:solidFill>
            <a:prstDash val="solid"/>
          </a:ln>
        </p:spPr>
      </p:sp>
      <p:sp>
        <p:nvSpPr>
          <p:cNvPr id="18" name="Text 16"/>
          <p:cNvSpPr txBox="1"/>
          <p:nvPr/>
        </p:nvSpPr>
        <p:spPr>
          <a:xfrm>
            <a:off x="777240" y="4379976"/>
            <a:ext cx="1463040" cy="365760"/>
          </a:xfrm>
          <a:prstGeom prst="rect">
            <a:avLst/>
          </a:prstGeom>
          <a:noFill/>
          <a:ln/>
        </p:spPr>
        <p:txBody>
          <a:bodyPr wrap="square" lIns="0" tIns="0" rIns="0" bIns="0" rtlCol="0" anchor="t"/>
          <a:lstStyle/>
          <a:p>
            <a:pPr indent="0" marL="0">
              <a:buNone/>
            </a:pPr>
            <a:r>
              <a:rPr lang="en-US" sz="1800" b="1" dirty="0">
                <a:solidFill>
                  <a:srgbClr val="2F7F73"/>
                </a:solidFill>
                <a:latin typeface="Cambria" pitchFamily="34" charset="0"/>
                <a:ea typeface="Cambria" pitchFamily="34" charset="-122"/>
                <a:cs typeface="Cambria" pitchFamily="34" charset="-120"/>
              </a:rPr>
              <a:t>CLUDA</a:t>
            </a:r>
            <a:endParaRPr lang="en-US" sz="1800" dirty="0"/>
          </a:p>
        </p:txBody>
      </p:sp>
      <p:sp>
        <p:nvSpPr>
          <p:cNvPr id="19" name="Text 17"/>
          <p:cNvSpPr txBox="1"/>
          <p:nvPr/>
        </p:nvSpPr>
        <p:spPr>
          <a:xfrm>
            <a:off x="777240" y="4745736"/>
            <a:ext cx="1463040" cy="274320"/>
          </a:xfrm>
          <a:prstGeom prst="rect">
            <a:avLst/>
          </a:prstGeom>
          <a:noFill/>
          <a:ln/>
        </p:spPr>
        <p:txBody>
          <a:bodyPr wrap="square" lIns="0" tIns="0" rIns="0" bIns="0" rtlCol="0" anchor="t"/>
          <a:lstStyle/>
          <a:p>
            <a:pPr indent="0" marL="0">
              <a:buNone/>
            </a:pPr>
            <a:r>
              <a:rPr lang="en-US" sz="1050" dirty="0">
                <a:solidFill>
                  <a:srgbClr val="7C8B90"/>
                </a:solidFill>
                <a:latin typeface="Calibri" pitchFamily="34" charset="0"/>
                <a:ea typeface="Calibri" pitchFamily="34" charset="-122"/>
                <a:cs typeface="Calibri" pitchFamily="34" charset="-120"/>
              </a:rPr>
              <a:t>ICLR 2023</a:t>
            </a:r>
            <a:endParaRPr lang="en-US" sz="1050" dirty="0"/>
          </a:p>
        </p:txBody>
      </p:sp>
      <p:sp>
        <p:nvSpPr>
          <p:cNvPr id="20" name="Text 18"/>
          <p:cNvSpPr txBox="1"/>
          <p:nvPr/>
        </p:nvSpPr>
        <p:spPr>
          <a:xfrm>
            <a:off x="2331720" y="4379976"/>
            <a:ext cx="5029200" cy="640080"/>
          </a:xfrm>
          <a:prstGeom prst="rect">
            <a:avLst/>
          </a:prstGeom>
          <a:noFill/>
          <a:ln/>
        </p:spPr>
        <p:txBody>
          <a:bodyPr wrap="square" lIns="0" tIns="0" rIns="0" bIns="0" rtlCol="0" anchor="ctr"/>
          <a:lstStyle/>
          <a:p>
            <a:pPr indent="0" marL="0">
              <a:buNone/>
            </a:pPr>
            <a:r>
              <a:rPr lang="en-US" sz="1300" dirty="0">
                <a:solidFill>
                  <a:srgbClr val="4F5F65"/>
                </a:solidFill>
                <a:latin typeface="Calibri" pitchFamily="34" charset="0"/>
                <a:ea typeface="Calibri" pitchFamily="34" charset="-122"/>
                <a:cs typeface="Calibri" pitchFamily="34" charset="-120"/>
              </a:rPr>
              <a:t>Contrastive learning + nearest-neighbour alignment for time-series UDA.</a:t>
            </a:r>
            <a:endParaRPr lang="en-US" sz="1300" dirty="0"/>
          </a:p>
        </p:txBody>
      </p:sp>
      <p:sp>
        <p:nvSpPr>
          <p:cNvPr id="21" name="Shape 19"/>
          <p:cNvSpPr/>
          <p:nvPr/>
        </p:nvSpPr>
        <p:spPr>
          <a:xfrm>
            <a:off x="548640" y="5230368"/>
            <a:ext cx="6949440" cy="804672"/>
          </a:xfrm>
          <a:prstGeom prst="roundRect">
            <a:avLst>
              <a:gd name="adj" fmla="val 9091"/>
            </a:avLst>
          </a:prstGeom>
          <a:solidFill>
            <a:srgbClr val="F1F6F5"/>
          </a:solidFill>
          <a:ln w="12700">
            <a:solidFill>
              <a:srgbClr val="F1F6F5"/>
            </a:solidFill>
            <a:prstDash val="solid"/>
          </a:ln>
        </p:spPr>
      </p:sp>
      <p:sp>
        <p:nvSpPr>
          <p:cNvPr id="22" name="Text 20"/>
          <p:cNvSpPr txBox="1"/>
          <p:nvPr/>
        </p:nvSpPr>
        <p:spPr>
          <a:xfrm>
            <a:off x="777240" y="5321808"/>
            <a:ext cx="1463040" cy="365760"/>
          </a:xfrm>
          <a:prstGeom prst="rect">
            <a:avLst/>
          </a:prstGeom>
          <a:noFill/>
          <a:ln/>
        </p:spPr>
        <p:txBody>
          <a:bodyPr wrap="square" lIns="0" tIns="0" rIns="0" bIns="0" rtlCol="0" anchor="t"/>
          <a:lstStyle/>
          <a:p>
            <a:pPr indent="0" marL="0">
              <a:buNone/>
            </a:pPr>
            <a:r>
              <a:rPr lang="en-US" sz="1800" b="1" dirty="0">
                <a:solidFill>
                  <a:srgbClr val="2F7F73"/>
                </a:solidFill>
                <a:latin typeface="Cambria" pitchFamily="34" charset="0"/>
                <a:ea typeface="Cambria" pitchFamily="34" charset="-122"/>
                <a:cs typeface="Cambria" pitchFamily="34" charset="-120"/>
              </a:rPr>
              <a:t>RAINCOAT</a:t>
            </a:r>
            <a:endParaRPr lang="en-US" sz="1800" dirty="0"/>
          </a:p>
        </p:txBody>
      </p:sp>
      <p:sp>
        <p:nvSpPr>
          <p:cNvPr id="23" name="Text 21"/>
          <p:cNvSpPr txBox="1"/>
          <p:nvPr/>
        </p:nvSpPr>
        <p:spPr>
          <a:xfrm>
            <a:off x="777240" y="5687568"/>
            <a:ext cx="1463040" cy="274320"/>
          </a:xfrm>
          <a:prstGeom prst="rect">
            <a:avLst/>
          </a:prstGeom>
          <a:noFill/>
          <a:ln/>
        </p:spPr>
        <p:txBody>
          <a:bodyPr wrap="square" lIns="0" tIns="0" rIns="0" bIns="0" rtlCol="0" anchor="t"/>
          <a:lstStyle/>
          <a:p>
            <a:pPr indent="0" marL="0">
              <a:buNone/>
            </a:pPr>
            <a:r>
              <a:rPr lang="en-US" sz="1050" dirty="0">
                <a:solidFill>
                  <a:srgbClr val="7C8B90"/>
                </a:solidFill>
                <a:latin typeface="Calibri" pitchFamily="34" charset="0"/>
                <a:ea typeface="Calibri" pitchFamily="34" charset="-122"/>
                <a:cs typeface="Calibri" pitchFamily="34" charset="-120"/>
              </a:rPr>
              <a:t>ICML 2023</a:t>
            </a:r>
            <a:endParaRPr lang="en-US" sz="1050" dirty="0"/>
          </a:p>
        </p:txBody>
      </p:sp>
      <p:sp>
        <p:nvSpPr>
          <p:cNvPr id="24" name="Text 22"/>
          <p:cNvSpPr txBox="1"/>
          <p:nvPr/>
        </p:nvSpPr>
        <p:spPr>
          <a:xfrm>
            <a:off x="2331720" y="5321808"/>
            <a:ext cx="5029200" cy="640080"/>
          </a:xfrm>
          <a:prstGeom prst="rect">
            <a:avLst/>
          </a:prstGeom>
          <a:noFill/>
          <a:ln/>
        </p:spPr>
        <p:txBody>
          <a:bodyPr wrap="square" lIns="0" tIns="0" rIns="0" bIns="0" rtlCol="0" anchor="ctr"/>
          <a:lstStyle/>
          <a:p>
            <a:pPr indent="0" marL="0">
              <a:buNone/>
            </a:pPr>
            <a:r>
              <a:rPr lang="en-US" sz="1300" dirty="0">
                <a:solidFill>
                  <a:srgbClr val="4F5F65"/>
                </a:solidFill>
                <a:latin typeface="Calibri" pitchFamily="34" charset="0"/>
                <a:ea typeface="Calibri" pitchFamily="34" charset="-122"/>
                <a:cs typeface="Calibri" pitchFamily="34" charset="-120"/>
              </a:rPr>
              <a:t>Aligns time- and frequency-domain features under feature and label shift.</a:t>
            </a:r>
            <a:endParaRPr lang="en-US" sz="1300" dirty="0"/>
          </a:p>
        </p:txBody>
      </p:sp>
      <p:sp>
        <p:nvSpPr>
          <p:cNvPr id="25" name="Shape 23"/>
          <p:cNvSpPr/>
          <p:nvPr/>
        </p:nvSpPr>
        <p:spPr>
          <a:xfrm>
            <a:off x="7772400" y="1463040"/>
            <a:ext cx="3867912" cy="4599432"/>
          </a:xfrm>
          <a:prstGeom prst="roundRect">
            <a:avLst>
              <a:gd name="adj" fmla="val 1891"/>
            </a:avLst>
          </a:prstGeom>
          <a:solidFill>
            <a:srgbClr val="16232A"/>
          </a:solidFill>
          <a:ln w="12700">
            <a:solidFill>
              <a:srgbClr val="16232A"/>
            </a:solidFill>
            <a:prstDash val="solid"/>
          </a:ln>
        </p:spPr>
      </p:sp>
      <p:sp>
        <p:nvSpPr>
          <p:cNvPr id="26" name="Text 24"/>
          <p:cNvSpPr txBox="1"/>
          <p:nvPr/>
        </p:nvSpPr>
        <p:spPr>
          <a:xfrm>
            <a:off x="8046720" y="1691640"/>
            <a:ext cx="3383280" cy="36576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The gap we target</a:t>
            </a:r>
            <a:endParaRPr lang="en-US" sz="2000" dirty="0"/>
          </a:p>
        </p:txBody>
      </p:sp>
      <p:sp>
        <p:nvSpPr>
          <p:cNvPr id="27" name="Text 25"/>
          <p:cNvSpPr txBox="1"/>
          <p:nvPr/>
        </p:nvSpPr>
        <p:spPr>
          <a:xfrm>
            <a:off x="8046720" y="2194560"/>
            <a:ext cx="3383280" cy="374904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E6F0EE"/>
                </a:solidFill>
                <a:latin typeface="Calibri" pitchFamily="34" charset="0"/>
                <a:ea typeface="Calibri" pitchFamily="34" charset="-122"/>
                <a:cs typeface="Calibri" pitchFamily="34" charset="-120"/>
              </a:rPr>
              <a:t>Most time-series UDA work is for classification, not forecasting.</a:t>
            </a:r>
            <a:endParaRPr lang="en-US" sz="1350" dirty="0"/>
          </a:p>
          <a:p>
            <a:pPr marL="342900" indent="-342900">
              <a:spcAft>
                <a:spcPts val="800"/>
              </a:spcAft>
              <a:buSzPct val="100000"/>
              <a:buChar char="•"/>
            </a:pPr>
            <a:r>
              <a:rPr lang="en-US" sz="1350" dirty="0">
                <a:solidFill>
                  <a:srgbClr val="E6F0EE"/>
                </a:solidFill>
                <a:latin typeface="Calibri" pitchFamily="34" charset="0"/>
                <a:ea typeface="Calibri" pitchFamily="34" charset="-122"/>
                <a:cs typeface="Calibri" pitchFamily="34" charset="-120"/>
              </a:rPr>
              <a:t>Forecasting DA (e.g. DAF) usually assumes some labeled target data.</a:t>
            </a:r>
            <a:endParaRPr lang="en-US" sz="1350" dirty="0"/>
          </a:p>
          <a:p>
            <a:pPr marL="342900" indent="-342900">
              <a:spcAft>
                <a:spcPts val="800"/>
              </a:spcAft>
              <a:buSzPct val="100000"/>
              <a:buChar char="•"/>
            </a:pPr>
            <a:r>
              <a:rPr lang="en-US" sz="1350" dirty="0">
                <a:solidFill>
                  <a:srgbClr val="E6F0EE"/>
                </a:solidFill>
                <a:latin typeface="Calibri" pitchFamily="34" charset="0"/>
                <a:ea typeface="Calibri" pitchFamily="34" charset="-122"/>
                <a:cs typeface="Calibri" pitchFamily="34" charset="-120"/>
              </a:rPr>
              <a:t>Heavy backbones are costly to adapt for every new domain.</a:t>
            </a:r>
            <a:endParaRPr lang="en-US" sz="1350" dirty="0"/>
          </a:p>
          <a:p>
            <a:pPr marL="342900" indent="-342900">
              <a:spcAft>
                <a:spcPts val="800"/>
              </a:spcAft>
              <a:buSzPct val="100000"/>
              <a:buChar char="•"/>
            </a:pPr>
            <a:r>
              <a:rPr lang="en-US" sz="1350" b="1" dirty="0">
                <a:solidFill>
                  <a:srgbClr val="F2B45C"/>
                </a:solidFill>
                <a:latin typeface="Calibri" pitchFamily="34" charset="0"/>
                <a:ea typeface="Calibri" pitchFamily="34" charset="-122"/>
                <a:cs typeface="Calibri" pitchFamily="34" charset="-120"/>
              </a:rPr>
              <a:t>Our aim: label-free adaptation of a lightweight multivariate forecaster, measured by how much of the supervised gap it closes.</a:t>
            </a:r>
            <a:endParaRPr lang="en-US" sz="13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03 · DATASETS</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Three benchmarks, each with two distinct domains</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463040"/>
                <a:gridCol w="1600200"/>
                <a:gridCol w="1691640"/>
                <a:gridCol w="2148840"/>
                <a:gridCol w="1417320"/>
                <a:gridCol w="713232"/>
                <a:gridCol w="2057400"/>
              </a:tblGrid>
              <a:tr h="41148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Domain 1 (source)</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Domain 2 (target)</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Variables</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Frequency &amp; span</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 → H</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Why it is a real domain shift</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r>
              <a:tr h="1097280">
                <a:tc>
                  <a:txBody>
                    <a:bodyPr/>
                    <a:lstStyle/>
                    <a:p>
                      <a:pPr indent="0" marL="0">
                        <a:buNone/>
                      </a:pPr>
                      <a:r>
                        <a:rPr lang="en-US" sz="1200" b="1" dirty="0">
                          <a:solidFill>
                            <a:srgbClr val="000000"/>
                          </a:solidFill>
                          <a:latin typeface="Calibri" pitchFamily="34" charset="0"/>
                          <a:ea typeface="Calibri" pitchFamily="34" charset="-122"/>
                          <a:cs typeface="Calibri" pitchFamily="34" charset="-120"/>
                        </a:rPr>
                        <a:t>Climate</a:t>
                      </a:r>
                      <a:endParaRPr lang="en-US" sz="1200" dirty="0">
                        <a:latin typeface="Calibri" charset="0"/>
                        <a:ea typeface="Calibri" charset="0"/>
                        <a:cs typeface="Calibri" charset="0"/>
                      </a:endParaRPr>
                    </a:p>
                    <a:p>
                      <a:pPr indent="0" marL="0">
                        <a:buNone/>
                      </a:pPr>
                      <a:r>
                        <a:rPr lang="en-US" sz="1200" b="1" dirty="0">
                          <a:solidFill>
                            <a:srgbClr val="000000"/>
                          </a:solidFill>
                          <a:latin typeface="Calibri" pitchFamily="34" charset="0"/>
                          <a:ea typeface="Calibri" pitchFamily="34" charset="-122"/>
                          <a:cs typeface="Calibri" pitchFamily="34" charset="-120"/>
                        </a:rPr>
                        <a:t>(Open-Meteo ERA5)</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Shimla, 2195 m</a:t>
                      </a:r>
                      <a:endParaRPr lang="en-US" sz="1200" dirty="0">
                        <a:latin typeface="Calibri" charset="0"/>
                        <a:ea typeface="Calibri" charset="0"/>
                        <a:cs typeface="Calibri" charset="0"/>
                      </a:endParaRPr>
                    </a:p>
                    <a:p>
                      <a:pPr indent="0" marL="0">
                        <a:buNone/>
                      </a:pPr>
                      <a:r>
                        <a:rPr lang="en-US" sz="1200" dirty="0">
                          <a:solidFill>
                            <a:srgbClr val="000000"/>
                          </a:solidFill>
                          <a:latin typeface="Calibri" pitchFamily="34" charset="0"/>
                          <a:ea typeface="Calibri" pitchFamily="34" charset="-122"/>
                          <a:cs typeface="Calibri" pitchFamily="34" charset="-120"/>
                        </a:rPr>
                        <a:t>(hilly)</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New Delhi, 214 m</a:t>
                      </a:r>
                      <a:endParaRPr lang="en-US" sz="1200" dirty="0">
                        <a:latin typeface="Calibri" charset="0"/>
                        <a:ea typeface="Calibri" charset="0"/>
                        <a:cs typeface="Calibri" charset="0"/>
                      </a:endParaRPr>
                    </a:p>
                    <a:p>
                      <a:pPr indent="0" marL="0">
                        <a:buNone/>
                      </a:pPr>
                      <a:r>
                        <a:rPr lang="en-US" sz="1200" dirty="0">
                          <a:solidFill>
                            <a:srgbClr val="000000"/>
                          </a:solidFill>
                          <a:latin typeface="Calibri" pitchFamily="34" charset="0"/>
                          <a:ea typeface="Calibri" pitchFamily="34" charset="-122"/>
                          <a:cs typeface="Calibri" pitchFamily="34" charset="-120"/>
                        </a:rPr>
                        <a:t>(plain)</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7 vars: temperature_2m, relative_humidity_2m, dew_point_2m, surface_pressure, wind_speed_10m, cloud_cover, shortwave_radiation</a:t>
                      </a:r>
                      <a:endParaRPr lang="en-US" sz="105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Hourly</a:t>
                      </a:r>
                      <a:endParaRPr lang="en-US" sz="1200" dirty="0">
                        <a:latin typeface="Calibri" charset="0"/>
                        <a:ea typeface="Calibri" charset="0"/>
                        <a:cs typeface="Calibri" charset="0"/>
                      </a:endParaRPr>
                    </a:p>
                    <a:p>
                      <a:pPr indent="0" marL="0">
                        <a:buNone/>
                      </a:pPr>
                      <a:r>
                        <a:rPr lang="en-US" sz="1200" dirty="0">
                          <a:solidFill>
                            <a:srgbClr val="000000"/>
                          </a:solidFill>
                          <a:latin typeface="Calibri" pitchFamily="34" charset="0"/>
                          <a:ea typeface="Calibri" pitchFamily="34" charset="-122"/>
                          <a:cs typeface="Calibri" pitchFamily="34" charset="-120"/>
                        </a:rPr>
                        <a:t>2021-01-01 → 2024-12-31</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168 → 24</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Elevation, pressure, diurnal cycle and monsoon response differ</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r>
              <a:tr h="1097280">
                <a:tc>
                  <a:txBody>
                    <a:bodyPr/>
                    <a:lstStyle/>
                    <a:p>
                      <a:pPr indent="0" marL="0">
                        <a:buNone/>
                      </a:pPr>
                      <a:r>
                        <a:rPr lang="en-US" sz="1200" b="1" dirty="0">
                          <a:solidFill>
                            <a:srgbClr val="000000"/>
                          </a:solidFill>
                          <a:latin typeface="Calibri" pitchFamily="34" charset="0"/>
                          <a:ea typeface="Calibri" pitchFamily="34" charset="-122"/>
                          <a:cs typeface="Calibri" pitchFamily="34" charset="-120"/>
                        </a:rPr>
                        <a:t>Finance</a:t>
                      </a:r>
                      <a:endParaRPr lang="en-US" sz="1200" dirty="0">
                        <a:latin typeface="Calibri" charset="0"/>
                        <a:ea typeface="Calibri" charset="0"/>
                        <a:cs typeface="Calibri" charset="0"/>
                      </a:endParaRPr>
                    </a:p>
                    <a:p>
                      <a:pPr indent="0" marL="0">
                        <a:buNone/>
                      </a:pPr>
                      <a:r>
                        <a:rPr lang="en-US" sz="1200" b="1" dirty="0">
                          <a:solidFill>
                            <a:srgbClr val="000000"/>
                          </a:solidFill>
                          <a:latin typeface="Calibri" pitchFamily="34" charset="0"/>
                          <a:ea typeface="Calibri" pitchFamily="34" charset="-122"/>
                          <a:cs typeface="Calibri" pitchFamily="34" charset="-120"/>
                        </a:rPr>
                        <a:t>(Yahoo Finance, NSE)</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IT basket: TCS, INFY, WIPRO, HCLTECH, TECHM</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Pharma basket: SUNPHARMA, DRREDDY, CIPLA, DIVISLAB, LUPIN</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4 vars: log_return, hl_range, gap, log_volume</a:t>
                      </a:r>
                      <a:endParaRPr lang="en-US" sz="105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Daily (trading)</a:t>
                      </a:r>
                      <a:endParaRPr lang="en-US" sz="1200" dirty="0">
                        <a:latin typeface="Calibri" charset="0"/>
                        <a:ea typeface="Calibri" charset="0"/>
                        <a:cs typeface="Calibri" charset="0"/>
                      </a:endParaRPr>
                    </a:p>
                    <a:p>
                      <a:pPr indent="0" marL="0">
                        <a:buNone/>
                      </a:pPr>
                      <a:r>
                        <a:rPr lang="en-US" sz="1200" dirty="0">
                          <a:solidFill>
                            <a:srgbClr val="000000"/>
                          </a:solidFill>
                          <a:latin typeface="Calibri" pitchFamily="34" charset="0"/>
                          <a:ea typeface="Calibri" pitchFamily="34" charset="-122"/>
                          <a:cs typeface="Calibri" pitchFamily="34" charset="-120"/>
                        </a:rPr>
                        <a:t>2012-01-03 → 2025-06-27</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60 → 5</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Sector-specific volatility, news and regulation</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r>
              <a:tr h="1097280">
                <a:tc>
                  <a:txBody>
                    <a:bodyPr/>
                    <a:lstStyle/>
                    <a:p>
                      <a:pPr indent="0" marL="0">
                        <a:buNone/>
                      </a:pPr>
                      <a:r>
                        <a:rPr lang="en-US" sz="1200" b="1" dirty="0">
                          <a:solidFill>
                            <a:srgbClr val="000000"/>
                          </a:solidFill>
                          <a:latin typeface="Calibri" pitchFamily="34" charset="0"/>
                          <a:ea typeface="Calibri" pitchFamily="34" charset="-122"/>
                          <a:cs typeface="Calibri" pitchFamily="34" charset="-120"/>
                        </a:rPr>
                        <a:t>Energy</a:t>
                      </a:r>
                      <a:endParaRPr lang="en-US" sz="1200" dirty="0">
                        <a:latin typeface="Calibri" charset="0"/>
                        <a:ea typeface="Calibri" charset="0"/>
                        <a:cs typeface="Calibri" charset="0"/>
                      </a:endParaRPr>
                    </a:p>
                    <a:p>
                      <a:pPr indent="0" marL="0">
                        <a:buNone/>
                      </a:pPr>
                      <a:r>
                        <a:rPr lang="en-US" sz="1200" b="1" dirty="0">
                          <a:solidFill>
                            <a:srgbClr val="000000"/>
                          </a:solidFill>
                          <a:latin typeface="Calibri" pitchFamily="34" charset="0"/>
                          <a:ea typeface="Calibri" pitchFamily="34" charset="-122"/>
                          <a:cs typeface="Calibri" pitchFamily="34" charset="-120"/>
                        </a:rPr>
                        <a:t>(ETT benchmark)</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ETTh1: transformer, county 1</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ETTh2: transformer, county 2</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7 vars: HUFL, HULL, MUFL, MULL, LUFL, LULL, OT</a:t>
                      </a:r>
                      <a:endParaRPr lang="en-US" sz="105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Hourly</a:t>
                      </a:r>
                      <a:endParaRPr lang="en-US" sz="1200" dirty="0">
                        <a:latin typeface="Calibri" charset="0"/>
                        <a:ea typeface="Calibri" charset="0"/>
                        <a:cs typeface="Calibri" charset="0"/>
                      </a:endParaRPr>
                    </a:p>
                    <a:p>
                      <a:pPr indent="0" marL="0">
                        <a:buNone/>
                      </a:pPr>
                      <a:r>
                        <a:rPr lang="en-US" sz="1200" dirty="0">
                          <a:solidFill>
                            <a:srgbClr val="000000"/>
                          </a:solidFill>
                          <a:latin typeface="Calibri" pitchFamily="34" charset="0"/>
                          <a:ea typeface="Calibri" pitchFamily="34" charset="-122"/>
                          <a:cs typeface="Calibri" pitchFamily="34" charset="-120"/>
                        </a:rPr>
                        <a:t>2016-07-01 → 2018-06-26</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168 → 24</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Different load profiles and oil-temperature dynamics</a:t>
                      </a:r>
                      <a:endParaRPr lang="en-US" sz="1200" dirty="0">
                        <a:latin typeface="Calibri" charset="0"/>
                        <a:ea typeface="Calibri" charset="0"/>
                        <a:cs typeface="Calibri" charset="0"/>
                      </a:endParaRPr>
                    </a:p>
                  </a:txBody>
                  <a:tcPr marL="64008" marR="64008" marT="64008" marB="64008"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394960"/>
            <a:ext cx="1600200" cy="731520"/>
          </a:xfrm>
          <a:prstGeom prst="rect">
            <a:avLst/>
          </a:prstGeom>
          <a:noFill/>
          <a:ln/>
        </p:spPr>
        <p:txBody>
          <a:bodyPr wrap="square" lIns="0" tIns="0" rIns="0" bIns="0" rtlCol="0" anchor="ctr"/>
          <a:lstStyle/>
          <a:p>
            <a:pPr indent="0" marL="0">
              <a:buNone/>
            </a:pPr>
            <a:r>
              <a:rPr lang="en-US" sz="3600" b="1" dirty="0">
                <a:solidFill>
                  <a:srgbClr val="2F7F73"/>
                </a:solidFill>
                <a:latin typeface="Cambria" pitchFamily="34" charset="0"/>
                <a:ea typeface="Cambria" pitchFamily="34" charset="-122"/>
                <a:cs typeface="Cambria" pitchFamily="34" charset="-120"/>
              </a:rPr>
              <a:t>35.1k</a:t>
            </a:r>
            <a:endParaRPr lang="en-US" sz="3600" dirty="0"/>
          </a:p>
        </p:txBody>
      </p:sp>
      <p:sp>
        <p:nvSpPr>
          <p:cNvPr id="7" name="Text 4"/>
          <p:cNvSpPr txBox="1"/>
          <p:nvPr/>
        </p:nvSpPr>
        <p:spPr>
          <a:xfrm>
            <a:off x="2194560" y="5440680"/>
            <a:ext cx="2011680" cy="640080"/>
          </a:xfrm>
          <a:prstGeom prst="rect">
            <a:avLst/>
          </a:prstGeom>
          <a:noFill/>
          <a:ln/>
        </p:spPr>
        <p:txBody>
          <a:bodyPr wrap="square" lIns="0" tIns="0" rIns="0" bIns="0" rtlCol="0" anchor="ctr"/>
          <a:lstStyle/>
          <a:p>
            <a:pPr indent="0" marL="0">
              <a:buNone/>
            </a:pPr>
            <a:r>
              <a:rPr lang="en-US" sz="1200" dirty="0">
                <a:solidFill>
                  <a:srgbClr val="4F5F65"/>
                </a:solidFill>
                <a:latin typeface="Calibri" pitchFamily="34" charset="0"/>
                <a:ea typeface="Calibri" pitchFamily="34" charset="-122"/>
                <a:cs typeface="Calibri" pitchFamily="34" charset="-120"/>
              </a:rPr>
              <a:t>hourly records per climate site (4 years)</a:t>
            </a:r>
            <a:endParaRPr lang="en-US" sz="1200" dirty="0"/>
          </a:p>
        </p:txBody>
      </p:sp>
      <p:sp>
        <p:nvSpPr>
          <p:cNvPr id="8" name="Text 5"/>
          <p:cNvSpPr txBox="1"/>
          <p:nvPr/>
        </p:nvSpPr>
        <p:spPr>
          <a:xfrm>
            <a:off x="4297680" y="5394960"/>
            <a:ext cx="1600200" cy="731520"/>
          </a:xfrm>
          <a:prstGeom prst="rect">
            <a:avLst/>
          </a:prstGeom>
          <a:noFill/>
          <a:ln/>
        </p:spPr>
        <p:txBody>
          <a:bodyPr wrap="square" lIns="0" tIns="0" rIns="0" bIns="0" rtlCol="0" anchor="ctr"/>
          <a:lstStyle/>
          <a:p>
            <a:pPr indent="0" marL="0">
              <a:buNone/>
            </a:pPr>
            <a:r>
              <a:rPr lang="en-US" sz="3600" b="1" dirty="0">
                <a:solidFill>
                  <a:srgbClr val="D98A1E"/>
                </a:solidFill>
                <a:latin typeface="Cambria" pitchFamily="34" charset="0"/>
                <a:ea typeface="Cambria" pitchFamily="34" charset="-122"/>
                <a:cs typeface="Cambria" pitchFamily="34" charset="-120"/>
              </a:rPr>
              <a:t>3322</a:t>
            </a:r>
            <a:endParaRPr lang="en-US" sz="3600" dirty="0"/>
          </a:p>
        </p:txBody>
      </p:sp>
      <p:sp>
        <p:nvSpPr>
          <p:cNvPr id="9" name="Text 6"/>
          <p:cNvSpPr txBox="1"/>
          <p:nvPr/>
        </p:nvSpPr>
        <p:spPr>
          <a:xfrm>
            <a:off x="5943600" y="5440680"/>
            <a:ext cx="2011680" cy="640080"/>
          </a:xfrm>
          <a:prstGeom prst="rect">
            <a:avLst/>
          </a:prstGeom>
          <a:noFill/>
          <a:ln/>
        </p:spPr>
        <p:txBody>
          <a:bodyPr wrap="square" lIns="0" tIns="0" rIns="0" bIns="0" rtlCol="0" anchor="ctr"/>
          <a:lstStyle/>
          <a:p>
            <a:pPr indent="0" marL="0">
              <a:buNone/>
            </a:pPr>
            <a:r>
              <a:rPr lang="en-US" sz="1200" dirty="0">
                <a:solidFill>
                  <a:srgbClr val="4F5F65"/>
                </a:solidFill>
                <a:latin typeface="Calibri" pitchFamily="34" charset="0"/>
                <a:ea typeface="Calibri" pitchFamily="34" charset="-122"/>
                <a:cs typeface="Calibri" pitchFamily="34" charset="-120"/>
              </a:rPr>
              <a:t>trading days per stock (5 stocks per sector)</a:t>
            </a:r>
            <a:endParaRPr lang="en-US" sz="1200" dirty="0"/>
          </a:p>
        </p:txBody>
      </p:sp>
      <p:sp>
        <p:nvSpPr>
          <p:cNvPr id="10" name="Text 7"/>
          <p:cNvSpPr txBox="1"/>
          <p:nvPr/>
        </p:nvSpPr>
        <p:spPr>
          <a:xfrm>
            <a:off x="8046720" y="5394960"/>
            <a:ext cx="1600200" cy="731520"/>
          </a:xfrm>
          <a:prstGeom prst="rect">
            <a:avLst/>
          </a:prstGeom>
          <a:noFill/>
          <a:ln/>
        </p:spPr>
        <p:txBody>
          <a:bodyPr wrap="square" lIns="0" tIns="0" rIns="0" bIns="0" rtlCol="0" anchor="ctr"/>
          <a:lstStyle/>
          <a:p>
            <a:pPr indent="0" marL="0">
              <a:buNone/>
            </a:pPr>
            <a:r>
              <a:rPr lang="en-US" sz="3600" b="1" dirty="0">
                <a:solidFill>
                  <a:srgbClr val="2F7F73"/>
                </a:solidFill>
                <a:latin typeface="Cambria" pitchFamily="34" charset="0"/>
                <a:ea typeface="Cambria" pitchFamily="34" charset="-122"/>
                <a:cs typeface="Cambria" pitchFamily="34" charset="-120"/>
              </a:rPr>
              <a:t>17.4k</a:t>
            </a:r>
            <a:endParaRPr lang="en-US" sz="3600" dirty="0"/>
          </a:p>
        </p:txBody>
      </p:sp>
      <p:sp>
        <p:nvSpPr>
          <p:cNvPr id="11" name="Text 8"/>
          <p:cNvSpPr txBox="1"/>
          <p:nvPr/>
        </p:nvSpPr>
        <p:spPr>
          <a:xfrm>
            <a:off x="9692640" y="5440680"/>
            <a:ext cx="2011680" cy="640080"/>
          </a:xfrm>
          <a:prstGeom prst="rect">
            <a:avLst/>
          </a:prstGeom>
          <a:noFill/>
          <a:ln/>
        </p:spPr>
        <p:txBody>
          <a:bodyPr wrap="square" lIns="0" tIns="0" rIns="0" bIns="0" rtlCol="0" anchor="ctr"/>
          <a:lstStyle/>
          <a:p>
            <a:pPr indent="0" marL="0">
              <a:buNone/>
            </a:pPr>
            <a:r>
              <a:rPr lang="en-US" sz="1200" dirty="0">
                <a:solidFill>
                  <a:srgbClr val="4F5F65"/>
                </a:solidFill>
                <a:latin typeface="Calibri" pitchFamily="34" charset="0"/>
                <a:ea typeface="Calibri" pitchFamily="34" charset="-122"/>
                <a:cs typeface="Calibri" pitchFamily="34" charset="-120"/>
              </a:rPr>
              <a:t>hourly records per transformer (2 years)</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03 · DATA EXTRACTION &amp; CURATION</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From raw APIs to leakage-free training windows</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sp>
        <p:nvSpPr>
          <p:cNvPr id="5" name="Shape 3"/>
          <p:cNvSpPr/>
          <p:nvPr/>
        </p:nvSpPr>
        <p:spPr>
          <a:xfrm>
            <a:off x="548640" y="1508760"/>
            <a:ext cx="1691640" cy="2834640"/>
          </a:xfrm>
          <a:prstGeom prst="roundRect">
            <a:avLst>
              <a:gd name="adj" fmla="val 4324"/>
            </a:avLst>
          </a:prstGeom>
          <a:solidFill>
            <a:srgbClr val="F1F6F5"/>
          </a:solidFill>
          <a:ln w="12700">
            <a:solidFill>
              <a:srgbClr val="F1F6F5"/>
            </a:solidFill>
            <a:prstDash val="solid"/>
          </a:ln>
        </p:spPr>
      </p:sp>
      <p:sp>
        <p:nvSpPr>
          <p:cNvPr id="6" name="Shape 4"/>
          <p:cNvSpPr/>
          <p:nvPr/>
        </p:nvSpPr>
        <p:spPr>
          <a:xfrm>
            <a:off x="1097280" y="1691640"/>
            <a:ext cx="566928" cy="566928"/>
          </a:xfrm>
          <a:prstGeom prst="ellipse">
            <a:avLst/>
          </a:prstGeom>
          <a:solidFill>
            <a:srgbClr val="2F7F73"/>
          </a:solidFill>
          <a:ln w="12700">
            <a:solidFill>
              <a:srgbClr val="2F7F73"/>
            </a:solidFill>
            <a:prstDash val="solid"/>
          </a:ln>
        </p:spPr>
      </p:sp>
      <p:pic>
        <p:nvPicPr>
          <p:cNvPr id="7" name="Image 0" descr="preencoded.png">    </p:cNvPr>
          <p:cNvPicPr>
            <a:picLocks noChangeAspect="1"/>
          </p:cNvPicPr>
          <p:nvPr/>
        </p:nvPicPr>
        <p:blipFill>
          <a:blip r:embed="rId2"/>
          <a:stretch>
            <a:fillRect/>
          </a:stretch>
        </p:blipFill>
        <p:spPr>
          <a:xfrm>
            <a:off x="1244681" y="1839041"/>
            <a:ext cx="272125" cy="272125"/>
          </a:xfrm>
          <a:prstGeom prst="rect">
            <a:avLst/>
          </a:prstGeom>
        </p:spPr>
      </p:pic>
      <p:sp>
        <p:nvSpPr>
          <p:cNvPr id="8" name="Text 5"/>
          <p:cNvSpPr txBox="1"/>
          <p:nvPr/>
        </p:nvSpPr>
        <p:spPr>
          <a:xfrm>
            <a:off x="658368" y="2377440"/>
            <a:ext cx="1481328" cy="365760"/>
          </a:xfrm>
          <a:prstGeom prst="rect">
            <a:avLst/>
          </a:prstGeom>
          <a:noFill/>
          <a:ln/>
        </p:spPr>
        <p:txBody>
          <a:bodyPr wrap="square" lIns="0" tIns="0" rIns="0" bIns="0" rtlCol="0" anchor="t"/>
          <a:lstStyle/>
          <a:p>
            <a:pPr algn="ctr" indent="0" marL="0">
              <a:buNone/>
            </a:pPr>
            <a:r>
              <a:rPr lang="en-US" sz="1500" b="1" dirty="0">
                <a:solidFill>
                  <a:srgbClr val="1B2B31"/>
                </a:solidFill>
                <a:latin typeface="Calibri" pitchFamily="34" charset="0"/>
                <a:ea typeface="Calibri" pitchFamily="34" charset="-122"/>
                <a:cs typeface="Calibri" pitchFamily="34" charset="-120"/>
              </a:rPr>
              <a:t>1. Extract</a:t>
            </a:r>
            <a:endParaRPr lang="en-US" sz="1500" dirty="0"/>
          </a:p>
        </p:txBody>
      </p:sp>
      <p:sp>
        <p:nvSpPr>
          <p:cNvPr id="9" name="Text 6"/>
          <p:cNvSpPr txBox="1"/>
          <p:nvPr/>
        </p:nvSpPr>
        <p:spPr>
          <a:xfrm>
            <a:off x="685800" y="2788920"/>
            <a:ext cx="1444752" cy="1508760"/>
          </a:xfrm>
          <a:prstGeom prst="rect">
            <a:avLst/>
          </a:prstGeom>
          <a:noFill/>
          <a:ln/>
        </p:spPr>
        <p:txBody>
          <a:bodyPr wrap="square" lIns="0" tIns="0" rIns="0" bIns="0" rtlCol="0" anchor="t"/>
          <a:lstStyle/>
          <a:p>
            <a:pPr algn="ctr" indent="0" marL="0">
              <a:buNone/>
            </a:pPr>
            <a:r>
              <a:rPr lang="en-US" sz="1200" dirty="0">
                <a:solidFill>
                  <a:srgbClr val="4F5F65"/>
                </a:solidFill>
                <a:latin typeface="Calibri" pitchFamily="34" charset="0"/>
                <a:ea typeface="Calibri" pitchFamily="34" charset="-122"/>
                <a:cs typeface="Calibri" pitchFamily="34" charset="-120"/>
              </a:rPr>
              <a:t>Open-Meteo archive API (7 hourly vars, IST); yfinance OHLCV; ETT CSVs from GitHub</a:t>
            </a:r>
            <a:endParaRPr lang="en-US" sz="1200" dirty="0"/>
          </a:p>
        </p:txBody>
      </p:sp>
      <p:sp>
        <p:nvSpPr>
          <p:cNvPr id="10" name="Shape 7"/>
          <p:cNvSpPr/>
          <p:nvPr/>
        </p:nvSpPr>
        <p:spPr>
          <a:xfrm>
            <a:off x="2258568" y="1975104"/>
            <a:ext cx="146304" cy="914"/>
          </a:xfrm>
          <a:prstGeom prst="line">
            <a:avLst/>
          </a:prstGeom>
          <a:noFill/>
          <a:ln w="19050">
            <a:solidFill>
              <a:srgbClr val="4F5F65"/>
            </a:solidFill>
            <a:prstDash val="solid"/>
            <a:tailEnd type="triangle"/>
          </a:ln>
        </p:spPr>
      </p:sp>
      <p:sp>
        <p:nvSpPr>
          <p:cNvPr id="11" name="Shape 8"/>
          <p:cNvSpPr/>
          <p:nvPr/>
        </p:nvSpPr>
        <p:spPr>
          <a:xfrm>
            <a:off x="2423160" y="1508760"/>
            <a:ext cx="1691640" cy="2834640"/>
          </a:xfrm>
          <a:prstGeom prst="roundRect">
            <a:avLst>
              <a:gd name="adj" fmla="val 4324"/>
            </a:avLst>
          </a:prstGeom>
          <a:solidFill>
            <a:srgbClr val="F1F6F5"/>
          </a:solidFill>
          <a:ln w="12700">
            <a:solidFill>
              <a:srgbClr val="F1F6F5"/>
            </a:solidFill>
            <a:prstDash val="solid"/>
          </a:ln>
        </p:spPr>
      </p:sp>
      <p:sp>
        <p:nvSpPr>
          <p:cNvPr id="12" name="Shape 9"/>
          <p:cNvSpPr/>
          <p:nvPr/>
        </p:nvSpPr>
        <p:spPr>
          <a:xfrm>
            <a:off x="2971800" y="1691640"/>
            <a:ext cx="566928" cy="566928"/>
          </a:xfrm>
          <a:prstGeom prst="ellipse">
            <a:avLst/>
          </a:prstGeom>
          <a:solidFill>
            <a:srgbClr val="2F7F73"/>
          </a:solidFill>
          <a:ln w="12700">
            <a:solidFill>
              <a:srgbClr val="2F7F73"/>
            </a:solidFill>
            <a:prstDash val="solid"/>
          </a:ln>
        </p:spPr>
      </p:sp>
      <p:pic>
        <p:nvPicPr>
          <p:cNvPr id="13" name="Image 1" descr="preencoded.png">    </p:cNvPr>
          <p:cNvPicPr>
            <a:picLocks noChangeAspect="1"/>
          </p:cNvPicPr>
          <p:nvPr/>
        </p:nvPicPr>
        <p:blipFill>
          <a:blip r:embed="rId3"/>
          <a:stretch>
            <a:fillRect/>
          </a:stretch>
        </p:blipFill>
        <p:spPr>
          <a:xfrm>
            <a:off x="3119201" y="1839041"/>
            <a:ext cx="272125" cy="272125"/>
          </a:xfrm>
          <a:prstGeom prst="rect">
            <a:avLst/>
          </a:prstGeom>
        </p:spPr>
      </p:pic>
      <p:sp>
        <p:nvSpPr>
          <p:cNvPr id="14" name="Text 10"/>
          <p:cNvSpPr txBox="1"/>
          <p:nvPr/>
        </p:nvSpPr>
        <p:spPr>
          <a:xfrm>
            <a:off x="2532888" y="2377440"/>
            <a:ext cx="1481328" cy="365760"/>
          </a:xfrm>
          <a:prstGeom prst="rect">
            <a:avLst/>
          </a:prstGeom>
          <a:noFill/>
          <a:ln/>
        </p:spPr>
        <p:txBody>
          <a:bodyPr wrap="square" lIns="0" tIns="0" rIns="0" bIns="0" rtlCol="0" anchor="t"/>
          <a:lstStyle/>
          <a:p>
            <a:pPr algn="ctr" indent="0" marL="0">
              <a:buNone/>
            </a:pPr>
            <a:r>
              <a:rPr lang="en-US" sz="1500" b="1" dirty="0">
                <a:solidFill>
                  <a:srgbClr val="1B2B31"/>
                </a:solidFill>
                <a:latin typeface="Calibri" pitchFamily="34" charset="0"/>
                <a:ea typeface="Calibri" pitchFamily="34" charset="-122"/>
                <a:cs typeface="Calibri" pitchFamily="34" charset="-120"/>
              </a:rPr>
              <a:t>2. Clean</a:t>
            </a:r>
            <a:endParaRPr lang="en-US" sz="1500" dirty="0"/>
          </a:p>
        </p:txBody>
      </p:sp>
      <p:sp>
        <p:nvSpPr>
          <p:cNvPr id="15" name="Text 11"/>
          <p:cNvSpPr txBox="1"/>
          <p:nvPr/>
        </p:nvSpPr>
        <p:spPr>
          <a:xfrm>
            <a:off x="2560320" y="2788920"/>
            <a:ext cx="1444752" cy="1508760"/>
          </a:xfrm>
          <a:prstGeom prst="rect">
            <a:avLst/>
          </a:prstGeom>
          <a:noFill/>
          <a:ln/>
        </p:spPr>
        <p:txBody>
          <a:bodyPr wrap="square" lIns="0" tIns="0" rIns="0" bIns="0" rtlCol="0" anchor="t"/>
          <a:lstStyle/>
          <a:p>
            <a:pPr algn="ctr" indent="0" marL="0">
              <a:buNone/>
            </a:pPr>
            <a:r>
              <a:rPr lang="en-US" sz="1200" dirty="0">
                <a:solidFill>
                  <a:srgbClr val="4F5F65"/>
                </a:solidFill>
                <a:latin typeface="Calibri" pitchFamily="34" charset="0"/>
                <a:ea typeface="Calibri" pitchFamily="34" charset="-122"/>
                <a:cs typeface="Calibri" pitchFamily="34" charset="-120"/>
              </a:rPr>
              <a:t>Linear interpolation of gaps; drop zero-volume / invalid trading days</a:t>
            </a:r>
            <a:endParaRPr lang="en-US" sz="1200" dirty="0"/>
          </a:p>
        </p:txBody>
      </p:sp>
      <p:sp>
        <p:nvSpPr>
          <p:cNvPr id="16" name="Shape 12"/>
          <p:cNvSpPr/>
          <p:nvPr/>
        </p:nvSpPr>
        <p:spPr>
          <a:xfrm>
            <a:off x="4133088" y="1975104"/>
            <a:ext cx="146304" cy="914"/>
          </a:xfrm>
          <a:prstGeom prst="line">
            <a:avLst/>
          </a:prstGeom>
          <a:noFill/>
          <a:ln w="19050">
            <a:solidFill>
              <a:srgbClr val="4F5F65"/>
            </a:solidFill>
            <a:prstDash val="solid"/>
            <a:tailEnd type="triangle"/>
          </a:ln>
        </p:spPr>
      </p:sp>
      <p:sp>
        <p:nvSpPr>
          <p:cNvPr id="17" name="Shape 13"/>
          <p:cNvSpPr/>
          <p:nvPr/>
        </p:nvSpPr>
        <p:spPr>
          <a:xfrm>
            <a:off x="4297680" y="1508760"/>
            <a:ext cx="1691640" cy="2834640"/>
          </a:xfrm>
          <a:prstGeom prst="roundRect">
            <a:avLst>
              <a:gd name="adj" fmla="val 4324"/>
            </a:avLst>
          </a:prstGeom>
          <a:solidFill>
            <a:srgbClr val="F1F6F5"/>
          </a:solidFill>
          <a:ln w="12700">
            <a:solidFill>
              <a:srgbClr val="F1F6F5"/>
            </a:solidFill>
            <a:prstDash val="solid"/>
          </a:ln>
        </p:spPr>
      </p:sp>
      <p:sp>
        <p:nvSpPr>
          <p:cNvPr id="18" name="Shape 14"/>
          <p:cNvSpPr/>
          <p:nvPr/>
        </p:nvSpPr>
        <p:spPr>
          <a:xfrm>
            <a:off x="4846320" y="1691640"/>
            <a:ext cx="566928" cy="566928"/>
          </a:xfrm>
          <a:prstGeom prst="ellipse">
            <a:avLst/>
          </a:prstGeom>
          <a:solidFill>
            <a:srgbClr val="2F7F73"/>
          </a:solidFill>
          <a:ln w="12700">
            <a:solidFill>
              <a:srgbClr val="2F7F73"/>
            </a:solidFill>
            <a:prstDash val="solid"/>
          </a:ln>
        </p:spPr>
      </p:sp>
      <p:pic>
        <p:nvPicPr>
          <p:cNvPr id="19" name="Image 2" descr="preencoded.png">    </p:cNvPr>
          <p:cNvPicPr>
            <a:picLocks noChangeAspect="1"/>
          </p:cNvPicPr>
          <p:nvPr/>
        </p:nvPicPr>
        <p:blipFill>
          <a:blip r:embed="rId4"/>
          <a:stretch>
            <a:fillRect/>
          </a:stretch>
        </p:blipFill>
        <p:spPr>
          <a:xfrm>
            <a:off x="4993721" y="1839041"/>
            <a:ext cx="272125" cy="272125"/>
          </a:xfrm>
          <a:prstGeom prst="rect">
            <a:avLst/>
          </a:prstGeom>
        </p:spPr>
      </p:pic>
      <p:sp>
        <p:nvSpPr>
          <p:cNvPr id="20" name="Text 15"/>
          <p:cNvSpPr txBox="1"/>
          <p:nvPr/>
        </p:nvSpPr>
        <p:spPr>
          <a:xfrm>
            <a:off x="4407408" y="2377440"/>
            <a:ext cx="1481328" cy="365760"/>
          </a:xfrm>
          <a:prstGeom prst="rect">
            <a:avLst/>
          </a:prstGeom>
          <a:noFill/>
          <a:ln/>
        </p:spPr>
        <p:txBody>
          <a:bodyPr wrap="square" lIns="0" tIns="0" rIns="0" bIns="0" rtlCol="0" anchor="t"/>
          <a:lstStyle/>
          <a:p>
            <a:pPr algn="ctr" indent="0" marL="0">
              <a:buNone/>
            </a:pPr>
            <a:r>
              <a:rPr lang="en-US" sz="1500" b="1" dirty="0">
                <a:solidFill>
                  <a:srgbClr val="1B2B31"/>
                </a:solidFill>
                <a:latin typeface="Calibri" pitchFamily="34" charset="0"/>
                <a:ea typeface="Calibri" pitchFamily="34" charset="-122"/>
                <a:cs typeface="Calibri" pitchFamily="34" charset="-120"/>
              </a:rPr>
              <a:t>3. Engineer</a:t>
            </a:r>
            <a:endParaRPr lang="en-US" sz="1500" dirty="0"/>
          </a:p>
        </p:txBody>
      </p:sp>
      <p:sp>
        <p:nvSpPr>
          <p:cNvPr id="21" name="Text 16"/>
          <p:cNvSpPr txBox="1"/>
          <p:nvPr/>
        </p:nvSpPr>
        <p:spPr>
          <a:xfrm>
            <a:off x="4434840" y="2788920"/>
            <a:ext cx="1444752" cy="1508760"/>
          </a:xfrm>
          <a:prstGeom prst="rect">
            <a:avLst/>
          </a:prstGeom>
          <a:noFill/>
          <a:ln/>
        </p:spPr>
        <p:txBody>
          <a:bodyPr wrap="square" lIns="0" tIns="0" rIns="0" bIns="0" rtlCol="0" anchor="t"/>
          <a:lstStyle/>
          <a:p>
            <a:pPr algn="ctr" indent="0" marL="0">
              <a:buNone/>
            </a:pPr>
            <a:r>
              <a:rPr lang="en-US" sz="1200" dirty="0">
                <a:solidFill>
                  <a:srgbClr val="4F5F65"/>
                </a:solidFill>
                <a:latin typeface="Calibri" pitchFamily="34" charset="0"/>
                <a:ea typeface="Calibri" pitchFamily="34" charset="-122"/>
                <a:cs typeface="Calibri" pitchFamily="34" charset="-120"/>
              </a:rPr>
              <a:t>Finance: log-return, high-low range, overnight gap, log-volume (stationary)</a:t>
            </a:r>
            <a:endParaRPr lang="en-US" sz="1200" dirty="0"/>
          </a:p>
        </p:txBody>
      </p:sp>
      <p:sp>
        <p:nvSpPr>
          <p:cNvPr id="22" name="Shape 17"/>
          <p:cNvSpPr/>
          <p:nvPr/>
        </p:nvSpPr>
        <p:spPr>
          <a:xfrm>
            <a:off x="6007608" y="1975104"/>
            <a:ext cx="146304" cy="914"/>
          </a:xfrm>
          <a:prstGeom prst="line">
            <a:avLst/>
          </a:prstGeom>
          <a:noFill/>
          <a:ln w="19050">
            <a:solidFill>
              <a:srgbClr val="4F5F65"/>
            </a:solidFill>
            <a:prstDash val="solid"/>
            <a:tailEnd type="triangle"/>
          </a:ln>
        </p:spPr>
      </p:sp>
      <p:sp>
        <p:nvSpPr>
          <p:cNvPr id="23" name="Shape 18"/>
          <p:cNvSpPr/>
          <p:nvPr/>
        </p:nvSpPr>
        <p:spPr>
          <a:xfrm>
            <a:off x="6172200" y="1508760"/>
            <a:ext cx="1691640" cy="2834640"/>
          </a:xfrm>
          <a:prstGeom prst="roundRect">
            <a:avLst>
              <a:gd name="adj" fmla="val 4324"/>
            </a:avLst>
          </a:prstGeom>
          <a:solidFill>
            <a:srgbClr val="F1F6F5"/>
          </a:solidFill>
          <a:ln w="12700">
            <a:solidFill>
              <a:srgbClr val="F1F6F5"/>
            </a:solidFill>
            <a:prstDash val="solid"/>
          </a:ln>
        </p:spPr>
      </p:sp>
      <p:sp>
        <p:nvSpPr>
          <p:cNvPr id="24" name="Shape 19"/>
          <p:cNvSpPr/>
          <p:nvPr/>
        </p:nvSpPr>
        <p:spPr>
          <a:xfrm>
            <a:off x="6720840" y="1691640"/>
            <a:ext cx="566928" cy="566928"/>
          </a:xfrm>
          <a:prstGeom prst="ellipse">
            <a:avLst/>
          </a:prstGeom>
          <a:solidFill>
            <a:srgbClr val="D98A1E"/>
          </a:solidFill>
          <a:ln w="12700">
            <a:solidFill>
              <a:srgbClr val="D98A1E"/>
            </a:solidFill>
            <a:prstDash val="solid"/>
          </a:ln>
        </p:spPr>
      </p:sp>
      <p:pic>
        <p:nvPicPr>
          <p:cNvPr id="25" name="Image 3" descr="preencoded.png">    </p:cNvPr>
          <p:cNvPicPr>
            <a:picLocks noChangeAspect="1"/>
          </p:cNvPicPr>
          <p:nvPr/>
        </p:nvPicPr>
        <p:blipFill>
          <a:blip r:embed="rId5"/>
          <a:stretch>
            <a:fillRect/>
          </a:stretch>
        </p:blipFill>
        <p:spPr>
          <a:xfrm>
            <a:off x="6868241" y="1839041"/>
            <a:ext cx="272125" cy="272125"/>
          </a:xfrm>
          <a:prstGeom prst="rect">
            <a:avLst/>
          </a:prstGeom>
        </p:spPr>
      </p:pic>
      <p:sp>
        <p:nvSpPr>
          <p:cNvPr id="26" name="Text 20"/>
          <p:cNvSpPr txBox="1"/>
          <p:nvPr/>
        </p:nvSpPr>
        <p:spPr>
          <a:xfrm>
            <a:off x="6281928" y="2377440"/>
            <a:ext cx="1481328" cy="365760"/>
          </a:xfrm>
          <a:prstGeom prst="rect">
            <a:avLst/>
          </a:prstGeom>
          <a:noFill/>
          <a:ln/>
        </p:spPr>
        <p:txBody>
          <a:bodyPr wrap="square" lIns="0" tIns="0" rIns="0" bIns="0" rtlCol="0" anchor="t"/>
          <a:lstStyle/>
          <a:p>
            <a:pPr algn="ctr" indent="0" marL="0">
              <a:buNone/>
            </a:pPr>
            <a:r>
              <a:rPr lang="en-US" sz="1500" b="1" dirty="0">
                <a:solidFill>
                  <a:srgbClr val="1B2B31"/>
                </a:solidFill>
                <a:latin typeface="Calibri" pitchFamily="34" charset="0"/>
                <a:ea typeface="Calibri" pitchFamily="34" charset="-122"/>
                <a:cs typeface="Calibri" pitchFamily="34" charset="-120"/>
              </a:rPr>
              <a:t>4. Split</a:t>
            </a:r>
            <a:endParaRPr lang="en-US" sz="1500" dirty="0"/>
          </a:p>
        </p:txBody>
      </p:sp>
      <p:sp>
        <p:nvSpPr>
          <p:cNvPr id="27" name="Text 21"/>
          <p:cNvSpPr txBox="1"/>
          <p:nvPr/>
        </p:nvSpPr>
        <p:spPr>
          <a:xfrm>
            <a:off x="6309360" y="2788920"/>
            <a:ext cx="1444752" cy="1508760"/>
          </a:xfrm>
          <a:prstGeom prst="rect">
            <a:avLst/>
          </a:prstGeom>
          <a:noFill/>
          <a:ln/>
        </p:spPr>
        <p:txBody>
          <a:bodyPr wrap="square" lIns="0" tIns="0" rIns="0" bIns="0" rtlCol="0" anchor="t"/>
          <a:lstStyle/>
          <a:p>
            <a:pPr algn="ctr" indent="0" marL="0">
              <a:buNone/>
            </a:pPr>
            <a:r>
              <a:rPr lang="en-US" sz="1200" dirty="0">
                <a:solidFill>
                  <a:srgbClr val="4F5F65"/>
                </a:solidFill>
                <a:latin typeface="Calibri" pitchFamily="34" charset="0"/>
                <a:ea typeface="Calibri" pitchFamily="34" charset="-122"/>
                <a:cs typeface="Calibri" pitchFamily="34" charset="-120"/>
              </a:rPr>
              <a:t>Chronological 70/10/20 per series (ETT 60/20/20); test windows keep L steps of context</a:t>
            </a:r>
            <a:endParaRPr lang="en-US" sz="1200" dirty="0"/>
          </a:p>
        </p:txBody>
      </p:sp>
      <p:sp>
        <p:nvSpPr>
          <p:cNvPr id="28" name="Shape 22"/>
          <p:cNvSpPr/>
          <p:nvPr/>
        </p:nvSpPr>
        <p:spPr>
          <a:xfrm>
            <a:off x="7882128" y="1975104"/>
            <a:ext cx="146304" cy="914"/>
          </a:xfrm>
          <a:prstGeom prst="line">
            <a:avLst/>
          </a:prstGeom>
          <a:noFill/>
          <a:ln w="19050">
            <a:solidFill>
              <a:srgbClr val="4F5F65"/>
            </a:solidFill>
            <a:prstDash val="solid"/>
            <a:tailEnd type="triangle"/>
          </a:ln>
        </p:spPr>
      </p:sp>
      <p:sp>
        <p:nvSpPr>
          <p:cNvPr id="29" name="Shape 23"/>
          <p:cNvSpPr/>
          <p:nvPr/>
        </p:nvSpPr>
        <p:spPr>
          <a:xfrm>
            <a:off x="8046720" y="1508760"/>
            <a:ext cx="1691640" cy="2834640"/>
          </a:xfrm>
          <a:prstGeom prst="roundRect">
            <a:avLst>
              <a:gd name="adj" fmla="val 4324"/>
            </a:avLst>
          </a:prstGeom>
          <a:solidFill>
            <a:srgbClr val="F1F6F5"/>
          </a:solidFill>
          <a:ln w="12700">
            <a:solidFill>
              <a:srgbClr val="F1F6F5"/>
            </a:solidFill>
            <a:prstDash val="solid"/>
          </a:ln>
        </p:spPr>
      </p:sp>
      <p:sp>
        <p:nvSpPr>
          <p:cNvPr id="30" name="Shape 24"/>
          <p:cNvSpPr/>
          <p:nvPr/>
        </p:nvSpPr>
        <p:spPr>
          <a:xfrm>
            <a:off x="8595360" y="1691640"/>
            <a:ext cx="566928" cy="566928"/>
          </a:xfrm>
          <a:prstGeom prst="ellipse">
            <a:avLst/>
          </a:prstGeom>
          <a:solidFill>
            <a:srgbClr val="D98A1E"/>
          </a:solidFill>
          <a:ln w="12700">
            <a:solidFill>
              <a:srgbClr val="D98A1E"/>
            </a:solidFill>
            <a:prstDash val="solid"/>
          </a:ln>
        </p:spPr>
      </p:sp>
      <p:pic>
        <p:nvPicPr>
          <p:cNvPr id="31" name="Image 4" descr="preencoded.png">    </p:cNvPr>
          <p:cNvPicPr>
            <a:picLocks noChangeAspect="1"/>
          </p:cNvPicPr>
          <p:nvPr/>
        </p:nvPicPr>
        <p:blipFill>
          <a:blip r:embed="rId6"/>
          <a:stretch>
            <a:fillRect/>
          </a:stretch>
        </p:blipFill>
        <p:spPr>
          <a:xfrm>
            <a:off x="8742761" y="1839041"/>
            <a:ext cx="272125" cy="272125"/>
          </a:xfrm>
          <a:prstGeom prst="rect">
            <a:avLst/>
          </a:prstGeom>
        </p:spPr>
      </p:pic>
      <p:sp>
        <p:nvSpPr>
          <p:cNvPr id="32" name="Text 25"/>
          <p:cNvSpPr txBox="1"/>
          <p:nvPr/>
        </p:nvSpPr>
        <p:spPr>
          <a:xfrm>
            <a:off x="8156448" y="2377440"/>
            <a:ext cx="1481328" cy="365760"/>
          </a:xfrm>
          <a:prstGeom prst="rect">
            <a:avLst/>
          </a:prstGeom>
          <a:noFill/>
          <a:ln/>
        </p:spPr>
        <p:txBody>
          <a:bodyPr wrap="square" lIns="0" tIns="0" rIns="0" bIns="0" rtlCol="0" anchor="t"/>
          <a:lstStyle/>
          <a:p>
            <a:pPr algn="ctr" indent="0" marL="0">
              <a:buNone/>
            </a:pPr>
            <a:r>
              <a:rPr lang="en-US" sz="1500" b="1" dirty="0">
                <a:solidFill>
                  <a:srgbClr val="1B2B31"/>
                </a:solidFill>
                <a:latin typeface="Calibri" pitchFamily="34" charset="0"/>
                <a:ea typeface="Calibri" pitchFamily="34" charset="-122"/>
                <a:cs typeface="Calibri" pitchFamily="34" charset="-120"/>
              </a:rPr>
              <a:t>5. Scale</a:t>
            </a:r>
            <a:endParaRPr lang="en-US" sz="1500" dirty="0"/>
          </a:p>
        </p:txBody>
      </p:sp>
      <p:sp>
        <p:nvSpPr>
          <p:cNvPr id="33" name="Text 26"/>
          <p:cNvSpPr txBox="1"/>
          <p:nvPr/>
        </p:nvSpPr>
        <p:spPr>
          <a:xfrm>
            <a:off x="8183880" y="2788920"/>
            <a:ext cx="1444752" cy="1508760"/>
          </a:xfrm>
          <a:prstGeom prst="rect">
            <a:avLst/>
          </a:prstGeom>
          <a:noFill/>
          <a:ln/>
        </p:spPr>
        <p:txBody>
          <a:bodyPr wrap="square" lIns="0" tIns="0" rIns="0" bIns="0" rtlCol="0" anchor="t"/>
          <a:lstStyle/>
          <a:p>
            <a:pPr algn="ctr" indent="0" marL="0">
              <a:buNone/>
            </a:pPr>
            <a:r>
              <a:rPr lang="en-US" sz="1200" dirty="0">
                <a:solidFill>
                  <a:srgbClr val="4F5F65"/>
                </a:solidFill>
                <a:latin typeface="Calibri" pitchFamily="34" charset="0"/>
                <a:ea typeface="Calibri" pitchFamily="34" charset="-122"/>
                <a:cs typeface="Calibri" pitchFamily="34" charset="-120"/>
              </a:rPr>
              <a:t>z-score per domain; target statistics from unlabeled target inputs only</a:t>
            </a:r>
            <a:endParaRPr lang="en-US" sz="1200" dirty="0"/>
          </a:p>
        </p:txBody>
      </p:sp>
      <p:sp>
        <p:nvSpPr>
          <p:cNvPr id="34" name="Shape 27"/>
          <p:cNvSpPr/>
          <p:nvPr/>
        </p:nvSpPr>
        <p:spPr>
          <a:xfrm>
            <a:off x="9756648" y="1975104"/>
            <a:ext cx="146304" cy="914"/>
          </a:xfrm>
          <a:prstGeom prst="line">
            <a:avLst/>
          </a:prstGeom>
          <a:noFill/>
          <a:ln w="19050">
            <a:solidFill>
              <a:srgbClr val="4F5F65"/>
            </a:solidFill>
            <a:prstDash val="solid"/>
            <a:tailEnd type="triangle"/>
          </a:ln>
        </p:spPr>
      </p:sp>
      <p:sp>
        <p:nvSpPr>
          <p:cNvPr id="35" name="Shape 28"/>
          <p:cNvSpPr/>
          <p:nvPr/>
        </p:nvSpPr>
        <p:spPr>
          <a:xfrm>
            <a:off x="9921240" y="1508760"/>
            <a:ext cx="1691640" cy="2834640"/>
          </a:xfrm>
          <a:prstGeom prst="roundRect">
            <a:avLst>
              <a:gd name="adj" fmla="val 4324"/>
            </a:avLst>
          </a:prstGeom>
          <a:solidFill>
            <a:srgbClr val="F1F6F5"/>
          </a:solidFill>
          <a:ln w="12700">
            <a:solidFill>
              <a:srgbClr val="F1F6F5"/>
            </a:solidFill>
            <a:prstDash val="solid"/>
          </a:ln>
        </p:spPr>
      </p:sp>
      <p:sp>
        <p:nvSpPr>
          <p:cNvPr id="36" name="Shape 29"/>
          <p:cNvSpPr/>
          <p:nvPr/>
        </p:nvSpPr>
        <p:spPr>
          <a:xfrm>
            <a:off x="10469880" y="1691640"/>
            <a:ext cx="566928" cy="566928"/>
          </a:xfrm>
          <a:prstGeom prst="ellipse">
            <a:avLst/>
          </a:prstGeom>
          <a:solidFill>
            <a:srgbClr val="D98A1E"/>
          </a:solidFill>
          <a:ln w="12700">
            <a:solidFill>
              <a:srgbClr val="D98A1E"/>
            </a:solidFill>
            <a:prstDash val="solid"/>
          </a:ln>
        </p:spPr>
      </p:sp>
      <p:pic>
        <p:nvPicPr>
          <p:cNvPr id="37" name="Image 5" descr="preencoded.png">    </p:cNvPr>
          <p:cNvPicPr>
            <a:picLocks noChangeAspect="1"/>
          </p:cNvPicPr>
          <p:nvPr/>
        </p:nvPicPr>
        <p:blipFill>
          <a:blip r:embed="rId7"/>
          <a:stretch>
            <a:fillRect/>
          </a:stretch>
        </p:blipFill>
        <p:spPr>
          <a:xfrm>
            <a:off x="10617281" y="1839041"/>
            <a:ext cx="272125" cy="272125"/>
          </a:xfrm>
          <a:prstGeom prst="rect">
            <a:avLst/>
          </a:prstGeom>
        </p:spPr>
      </p:pic>
      <p:sp>
        <p:nvSpPr>
          <p:cNvPr id="38" name="Text 30"/>
          <p:cNvSpPr txBox="1"/>
          <p:nvPr/>
        </p:nvSpPr>
        <p:spPr>
          <a:xfrm>
            <a:off x="10030968" y="2377440"/>
            <a:ext cx="1481328" cy="365760"/>
          </a:xfrm>
          <a:prstGeom prst="rect">
            <a:avLst/>
          </a:prstGeom>
          <a:noFill/>
          <a:ln/>
        </p:spPr>
        <p:txBody>
          <a:bodyPr wrap="square" lIns="0" tIns="0" rIns="0" bIns="0" rtlCol="0" anchor="t"/>
          <a:lstStyle/>
          <a:p>
            <a:pPr algn="ctr" indent="0" marL="0">
              <a:buNone/>
            </a:pPr>
            <a:r>
              <a:rPr lang="en-US" sz="1500" b="1" dirty="0">
                <a:solidFill>
                  <a:srgbClr val="1B2B31"/>
                </a:solidFill>
                <a:latin typeface="Calibri" pitchFamily="34" charset="0"/>
                <a:ea typeface="Calibri" pitchFamily="34" charset="-122"/>
                <a:cs typeface="Calibri" pitchFamily="34" charset="-120"/>
              </a:rPr>
              <a:t>6. Window</a:t>
            </a:r>
            <a:endParaRPr lang="en-US" sz="1500" dirty="0"/>
          </a:p>
        </p:txBody>
      </p:sp>
      <p:sp>
        <p:nvSpPr>
          <p:cNvPr id="39" name="Text 31"/>
          <p:cNvSpPr txBox="1"/>
          <p:nvPr/>
        </p:nvSpPr>
        <p:spPr>
          <a:xfrm>
            <a:off x="10058400" y="2788920"/>
            <a:ext cx="1444752" cy="1508760"/>
          </a:xfrm>
          <a:prstGeom prst="rect">
            <a:avLst/>
          </a:prstGeom>
          <a:noFill/>
          <a:ln/>
        </p:spPr>
        <p:txBody>
          <a:bodyPr wrap="square" lIns="0" tIns="0" rIns="0" bIns="0" rtlCol="0" anchor="t"/>
          <a:lstStyle/>
          <a:p>
            <a:pPr algn="ctr" indent="0" marL="0">
              <a:buNone/>
            </a:pPr>
            <a:r>
              <a:rPr lang="en-US" sz="1200" dirty="0">
                <a:solidFill>
                  <a:srgbClr val="4F5F65"/>
                </a:solidFill>
                <a:latin typeface="Calibri" pitchFamily="34" charset="0"/>
                <a:ea typeface="Calibri" pitchFamily="34" charset="-122"/>
                <a:cs typeface="Calibri" pitchFamily="34" charset="-120"/>
              </a:rPr>
              <a:t>Sliding windows: L look-back → H horizon, all variables in and out</a:t>
            </a:r>
            <a:endParaRPr lang="en-US" sz="1200" dirty="0"/>
          </a:p>
        </p:txBody>
      </p:sp>
      <p:sp>
        <p:nvSpPr>
          <p:cNvPr id="40" name="Shape 32"/>
          <p:cNvSpPr/>
          <p:nvPr/>
        </p:nvSpPr>
        <p:spPr>
          <a:xfrm>
            <a:off x="548640" y="4663440"/>
            <a:ext cx="6766560" cy="1554480"/>
          </a:xfrm>
          <a:prstGeom prst="roundRect">
            <a:avLst>
              <a:gd name="adj" fmla="val 4706"/>
            </a:avLst>
          </a:prstGeom>
          <a:solidFill>
            <a:srgbClr val="FFFFFF"/>
          </a:solidFill>
          <a:ln w="12700">
            <a:solidFill>
              <a:srgbClr val="FFFFFF"/>
            </a:solidFill>
            <a:prstDash val="solid"/>
          </a:ln>
        </p:spPr>
      </p:sp>
      <p:sp>
        <p:nvSpPr>
          <p:cNvPr id="41" name="Shape 33"/>
          <p:cNvSpPr/>
          <p:nvPr/>
        </p:nvSpPr>
        <p:spPr>
          <a:xfrm>
            <a:off x="548640" y="4663440"/>
            <a:ext cx="6766560" cy="1554480"/>
          </a:xfrm>
          <a:prstGeom prst="roundRect">
            <a:avLst>
              <a:gd name="adj" fmla="val 4706"/>
            </a:avLst>
          </a:prstGeom>
          <a:solidFill>
            <a:srgbClr val="FFFFFF"/>
          </a:solidFill>
          <a:ln w="12700">
            <a:solidFill>
              <a:srgbClr val="CFDAD8"/>
            </a:solidFill>
            <a:prstDash val="solid"/>
          </a:ln>
        </p:spPr>
      </p:sp>
      <p:sp>
        <p:nvSpPr>
          <p:cNvPr id="42" name="Shape 34"/>
          <p:cNvSpPr/>
          <p:nvPr/>
        </p:nvSpPr>
        <p:spPr>
          <a:xfrm>
            <a:off x="731520" y="4828032"/>
            <a:ext cx="420624" cy="420624"/>
          </a:xfrm>
          <a:prstGeom prst="ellipse">
            <a:avLst/>
          </a:prstGeom>
          <a:solidFill>
            <a:srgbClr val="B5473A"/>
          </a:solidFill>
          <a:ln w="12700">
            <a:solidFill>
              <a:srgbClr val="B5473A"/>
            </a:solidFill>
            <a:prstDash val="solid"/>
          </a:ln>
        </p:spPr>
      </p:sp>
      <p:pic>
        <p:nvPicPr>
          <p:cNvPr id="43" name="Image 6" descr="preencoded.png">    </p:cNvPr>
          <p:cNvPicPr>
            <a:picLocks noChangeAspect="1"/>
          </p:cNvPicPr>
          <p:nvPr/>
        </p:nvPicPr>
        <p:blipFill>
          <a:blip r:embed="rId8"/>
          <a:stretch>
            <a:fillRect/>
          </a:stretch>
        </p:blipFill>
        <p:spPr>
          <a:xfrm>
            <a:off x="840882" y="4937394"/>
            <a:ext cx="201900" cy="201900"/>
          </a:xfrm>
          <a:prstGeom prst="rect">
            <a:avLst/>
          </a:prstGeom>
        </p:spPr>
      </p:pic>
      <p:sp>
        <p:nvSpPr>
          <p:cNvPr id="44" name="Text 35"/>
          <p:cNvSpPr txBox="1"/>
          <p:nvPr/>
        </p:nvSpPr>
        <p:spPr>
          <a:xfrm>
            <a:off x="1280160" y="4846320"/>
            <a:ext cx="4572000" cy="365760"/>
          </a:xfrm>
          <a:prstGeom prst="rect">
            <a:avLst/>
          </a:prstGeom>
          <a:noFill/>
          <a:ln/>
        </p:spPr>
        <p:txBody>
          <a:bodyPr wrap="square" lIns="0" tIns="0" rIns="0" bIns="0" rtlCol="0" anchor="t"/>
          <a:lstStyle/>
          <a:p>
            <a:pPr indent="0" marL="0">
              <a:buNone/>
            </a:pPr>
            <a:r>
              <a:rPr lang="en-US" sz="1500" b="1" dirty="0">
                <a:solidFill>
                  <a:srgbClr val="1B2B31"/>
                </a:solidFill>
                <a:latin typeface="Calibri" pitchFamily="34" charset="0"/>
                <a:ea typeface="Calibri" pitchFamily="34" charset="-122"/>
                <a:cs typeface="Calibri" pitchFamily="34" charset="-120"/>
              </a:rPr>
              <a:t>Leakage guards</a:t>
            </a:r>
            <a:endParaRPr lang="en-US" sz="1500" dirty="0"/>
          </a:p>
        </p:txBody>
      </p:sp>
      <p:sp>
        <p:nvSpPr>
          <p:cNvPr id="45" name="Text 36"/>
          <p:cNvSpPr txBox="1"/>
          <p:nvPr/>
        </p:nvSpPr>
        <p:spPr>
          <a:xfrm>
            <a:off x="731520" y="5257800"/>
            <a:ext cx="6400800" cy="91440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rgbClr val="4F5F65"/>
                </a:solidFill>
                <a:latin typeface="Calibri" pitchFamily="34" charset="0"/>
                <a:ea typeface="Calibri" pitchFamily="34" charset="-122"/>
                <a:cs typeface="Calibri" pitchFamily="34" charset="-120"/>
              </a:rPr>
              <a:t>Strictly chronological splits; no shuffling across time</a:t>
            </a:r>
            <a:endParaRPr lang="en-US" sz="1200" dirty="0"/>
          </a:p>
          <a:p>
            <a:pPr marL="342900" indent="-342900">
              <a:spcAft>
                <a:spcPts val="200"/>
              </a:spcAft>
              <a:buSzPct val="100000"/>
              <a:buChar char="•"/>
            </a:pPr>
            <a:r>
              <a:rPr lang="en-US" sz="1200" dirty="0">
                <a:solidFill>
                  <a:srgbClr val="4F5F65"/>
                </a:solidFill>
                <a:latin typeface="Calibri" pitchFamily="34" charset="0"/>
                <a:ea typeface="Calibri" pitchFamily="34" charset="-122"/>
                <a:cs typeface="Calibri" pitchFamily="34" charset="-120"/>
              </a:rPr>
              <a:t>Target future values never used for UDA training or for choosing checkpoints</a:t>
            </a:r>
            <a:endParaRPr lang="en-US" sz="1200" dirty="0"/>
          </a:p>
          <a:p>
            <a:pPr marL="342900" indent="-342900">
              <a:spcAft>
                <a:spcPts val="200"/>
              </a:spcAft>
              <a:buSzPct val="100000"/>
              <a:buChar char="•"/>
            </a:pPr>
            <a:r>
              <a:rPr lang="en-US" sz="1200" dirty="0">
                <a:solidFill>
                  <a:srgbClr val="4F5F65"/>
                </a:solidFill>
                <a:latin typeface="Calibri" pitchFamily="34" charset="0"/>
                <a:ea typeface="Calibri" pitchFamily="34" charset="-122"/>
                <a:cs typeface="Calibri" pitchFamily="34" charset="-120"/>
              </a:rPr>
              <a:t>Adaptation runs for a fixed number of epochs (no peeking at target validation)</a:t>
            </a:r>
            <a:endParaRPr lang="en-US" sz="1200" dirty="0"/>
          </a:p>
        </p:txBody>
      </p:sp>
      <p:sp>
        <p:nvSpPr>
          <p:cNvPr id="46" name="Shape 37"/>
          <p:cNvSpPr/>
          <p:nvPr/>
        </p:nvSpPr>
        <p:spPr>
          <a:xfrm>
            <a:off x="7543800" y="4663440"/>
            <a:ext cx="4096512" cy="1554480"/>
          </a:xfrm>
          <a:prstGeom prst="roundRect">
            <a:avLst>
              <a:gd name="adj" fmla="val 4706"/>
            </a:avLst>
          </a:prstGeom>
          <a:solidFill>
            <a:srgbClr val="16232A"/>
          </a:solidFill>
          <a:ln w="12700">
            <a:solidFill>
              <a:srgbClr val="16232A"/>
            </a:solidFill>
            <a:prstDash val="solid"/>
          </a:ln>
        </p:spPr>
      </p:sp>
      <p:sp>
        <p:nvSpPr>
          <p:cNvPr id="47" name="Text 38"/>
          <p:cNvSpPr txBox="1"/>
          <p:nvPr/>
        </p:nvSpPr>
        <p:spPr>
          <a:xfrm>
            <a:off x="7772400" y="4828032"/>
            <a:ext cx="3657600" cy="320040"/>
          </a:xfrm>
          <a:prstGeom prst="rect">
            <a:avLst/>
          </a:prstGeom>
          <a:noFill/>
          <a:ln/>
        </p:spPr>
        <p:txBody>
          <a:bodyPr wrap="square" lIns="0" tIns="0" rIns="0" bIns="0" rtlCol="0" anchor="t"/>
          <a:lstStyle/>
          <a:p>
            <a:pPr indent="0" marL="0">
              <a:buNone/>
            </a:pPr>
            <a:r>
              <a:rPr lang="en-US" sz="1300" b="1" dirty="0">
                <a:solidFill>
                  <a:srgbClr val="6FB3A6"/>
                </a:solidFill>
                <a:latin typeface="Calibri" pitchFamily="34" charset="0"/>
                <a:ea typeface="Calibri" pitchFamily="34" charset="-122"/>
                <a:cs typeface="Calibri" pitchFamily="34" charset="-120"/>
              </a:rPr>
              <a:t>Reproduce in one command</a:t>
            </a:r>
            <a:endParaRPr lang="en-US" sz="1300" dirty="0"/>
          </a:p>
        </p:txBody>
      </p:sp>
      <p:sp>
        <p:nvSpPr>
          <p:cNvPr id="48" name="Text 39"/>
          <p:cNvSpPr txBox="1"/>
          <p:nvPr/>
        </p:nvSpPr>
        <p:spPr>
          <a:xfrm>
            <a:off x="7772400" y="5212080"/>
            <a:ext cx="3657600" cy="365760"/>
          </a:xfrm>
          <a:prstGeom prst="rect">
            <a:avLst/>
          </a:prstGeom>
          <a:noFill/>
          <a:ln/>
        </p:spPr>
        <p:txBody>
          <a:bodyPr wrap="square" lIns="0" tIns="0" rIns="0" bIns="0" rtlCol="0" anchor="t"/>
          <a:lstStyle/>
          <a:p>
            <a:pPr indent="0" marL="0">
              <a:buNone/>
            </a:pPr>
            <a:r>
              <a:rPr lang="en-US" sz="1400" dirty="0">
                <a:solidFill>
                  <a:srgbClr val="FFFFFF"/>
                </a:solidFill>
                <a:latin typeface="Consolas" pitchFamily="34" charset="0"/>
                <a:ea typeface="Consolas" pitchFamily="34" charset="-122"/>
                <a:cs typeface="Consolas" pitchFamily="34" charset="-120"/>
              </a:rPr>
              <a:t>python -m src.data_download</a:t>
            </a:r>
            <a:endParaRPr lang="en-US" sz="1400" dirty="0"/>
          </a:p>
        </p:txBody>
      </p:sp>
      <p:sp>
        <p:nvSpPr>
          <p:cNvPr id="49" name="Text 40"/>
          <p:cNvSpPr txBox="1"/>
          <p:nvPr/>
        </p:nvSpPr>
        <p:spPr>
          <a:xfrm>
            <a:off x="7772400" y="5596128"/>
            <a:ext cx="3657600" cy="548640"/>
          </a:xfrm>
          <a:prstGeom prst="rect">
            <a:avLst/>
          </a:prstGeom>
          <a:noFill/>
          <a:ln/>
        </p:spPr>
        <p:txBody>
          <a:bodyPr wrap="square" lIns="0" tIns="0" rIns="0" bIns="0" rtlCol="0" anchor="t"/>
          <a:lstStyle/>
          <a:p>
            <a:pPr indent="0" marL="0">
              <a:buNone/>
            </a:pPr>
            <a:r>
              <a:rPr lang="en-US" sz="1100" dirty="0">
                <a:solidFill>
                  <a:srgbClr val="E6F0EE"/>
                </a:solidFill>
                <a:latin typeface="Calibri" pitchFamily="34" charset="0"/>
                <a:ea typeface="Calibri" pitchFamily="34" charset="-122"/>
                <a:cs typeface="Calibri" pitchFamily="34" charset="-120"/>
              </a:rPr>
              <a:t>Raw pulls saved in data/raw, curated CSVs in data/processed/&lt;benchmark&gt;/&lt;domain&gt;.csv</a:t>
            </a:r>
            <a:endParaRPr lang="en-US" sz="11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03 · DATASETS</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Domain shift in the energy and finance benchmarks</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pic>
        <p:nvPicPr>
          <p:cNvPr id="5" name="Image 0" descr="C:\Users\miral\OneDrive\Documents\IE643_project\results\figures\energy_domain_shift.png">    </p:cNvPr>
          <p:cNvPicPr>
            <a:picLocks noChangeAspect="1"/>
          </p:cNvPicPr>
          <p:nvPr/>
        </p:nvPicPr>
        <p:blipFill>
          <a:blip r:embed="rId2"/>
          <a:stretch>
            <a:fillRect/>
          </a:stretch>
        </p:blipFill>
        <p:spPr>
          <a:xfrm>
            <a:off x="548640" y="1403873"/>
            <a:ext cx="7863840" cy="2312894"/>
          </a:xfrm>
          <a:prstGeom prst="rect">
            <a:avLst/>
          </a:prstGeom>
        </p:spPr>
      </p:pic>
      <p:pic>
        <p:nvPicPr>
          <p:cNvPr id="6" name="Image 1" descr="C:\Users\miral\OneDrive\Documents\IE643_project\results\figures\finance_domain_shift.png">    </p:cNvPr>
          <p:cNvPicPr>
            <a:picLocks noChangeAspect="1"/>
          </p:cNvPicPr>
          <p:nvPr/>
        </p:nvPicPr>
        <p:blipFill>
          <a:blip r:embed="rId3"/>
          <a:stretch>
            <a:fillRect/>
          </a:stretch>
        </p:blipFill>
        <p:spPr>
          <a:xfrm>
            <a:off x="548640" y="3928309"/>
            <a:ext cx="7863840" cy="2293222"/>
          </a:xfrm>
          <a:prstGeom prst="rect">
            <a:avLst/>
          </a:prstGeom>
        </p:spPr>
      </p:pic>
      <p:sp>
        <p:nvSpPr>
          <p:cNvPr id="7" name="Shape 3"/>
          <p:cNvSpPr/>
          <p:nvPr/>
        </p:nvSpPr>
        <p:spPr>
          <a:xfrm>
            <a:off x="8595360" y="1417320"/>
            <a:ext cx="3044952" cy="2286000"/>
          </a:xfrm>
          <a:prstGeom prst="roundRect">
            <a:avLst>
              <a:gd name="adj" fmla="val 3200"/>
            </a:avLst>
          </a:prstGeom>
          <a:solidFill>
            <a:srgbClr val="F1F6F5"/>
          </a:solidFill>
          <a:ln w="12700">
            <a:solidFill>
              <a:srgbClr val="F1F6F5"/>
            </a:solidFill>
            <a:prstDash val="solid"/>
          </a:ln>
        </p:spPr>
      </p:sp>
      <p:sp>
        <p:nvSpPr>
          <p:cNvPr id="8" name="Text 4"/>
          <p:cNvSpPr txBox="1"/>
          <p:nvPr/>
        </p:nvSpPr>
        <p:spPr>
          <a:xfrm>
            <a:off x="8778240" y="1554480"/>
            <a:ext cx="2743200" cy="320040"/>
          </a:xfrm>
          <a:prstGeom prst="rect">
            <a:avLst/>
          </a:prstGeom>
          <a:noFill/>
          <a:ln/>
        </p:spPr>
        <p:txBody>
          <a:bodyPr wrap="square" lIns="0" tIns="0" rIns="0" bIns="0" rtlCol="0" anchor="t"/>
          <a:lstStyle/>
          <a:p>
            <a:pPr indent="0" marL="0">
              <a:buNone/>
            </a:pPr>
            <a:r>
              <a:rPr lang="en-US" sz="1500" b="1" dirty="0">
                <a:solidFill>
                  <a:srgbClr val="2F7F73"/>
                </a:solidFill>
                <a:latin typeface="Calibri" pitchFamily="34" charset="0"/>
                <a:ea typeface="Calibri" pitchFamily="34" charset="-122"/>
                <a:cs typeface="Calibri" pitchFamily="34" charset="-120"/>
              </a:rPr>
              <a:t>ETTh1 → ETTh2</a:t>
            </a:r>
            <a:endParaRPr lang="en-US" sz="1500" dirty="0"/>
          </a:p>
        </p:txBody>
      </p:sp>
      <p:sp>
        <p:nvSpPr>
          <p:cNvPr id="9" name="Text 5"/>
          <p:cNvSpPr txBox="1"/>
          <p:nvPr/>
        </p:nvSpPr>
        <p:spPr>
          <a:xfrm>
            <a:off x="8778240" y="1920240"/>
            <a:ext cx="2697480" cy="1645920"/>
          </a:xfrm>
          <a:prstGeom prst="rect">
            <a:avLst/>
          </a:prstGeom>
          <a:noFill/>
          <a:ln/>
        </p:spPr>
        <p:txBody>
          <a:bodyPr wrap="square" lIns="0" tIns="0" rIns="0" bIns="0" rtlCol="0" anchor="t"/>
          <a:lstStyle/>
          <a:p>
            <a:pPr indent="0" marL="0">
              <a:buNone/>
            </a:pPr>
            <a:r>
              <a:rPr lang="en-US" sz="1200" dirty="0">
                <a:solidFill>
                  <a:srgbClr val="4F5F65"/>
                </a:solidFill>
                <a:latin typeface="Calibri" pitchFamily="34" charset="0"/>
                <a:ea typeface="Calibri" pitchFamily="34" charset="-122"/>
                <a:cs typeface="Calibri" pitchFamily="34" charset="-120"/>
              </a:rPr>
              <a:t>Oil temperature mean 13.3 vs 26.6 °C; load channels have different scales and daily/weekly structure.</a:t>
            </a:r>
            <a:endParaRPr lang="en-US" sz="1200" dirty="0"/>
          </a:p>
        </p:txBody>
      </p:sp>
      <p:sp>
        <p:nvSpPr>
          <p:cNvPr id="10" name="Shape 6"/>
          <p:cNvSpPr/>
          <p:nvPr/>
        </p:nvSpPr>
        <p:spPr>
          <a:xfrm>
            <a:off x="8595360" y="3931920"/>
            <a:ext cx="3044952" cy="2286000"/>
          </a:xfrm>
          <a:prstGeom prst="roundRect">
            <a:avLst>
              <a:gd name="adj" fmla="val 3200"/>
            </a:avLst>
          </a:prstGeom>
          <a:solidFill>
            <a:srgbClr val="F1F6F5"/>
          </a:solidFill>
          <a:ln w="12700">
            <a:solidFill>
              <a:srgbClr val="F1F6F5"/>
            </a:solidFill>
            <a:prstDash val="solid"/>
          </a:ln>
        </p:spPr>
      </p:sp>
      <p:sp>
        <p:nvSpPr>
          <p:cNvPr id="11" name="Text 7"/>
          <p:cNvSpPr txBox="1"/>
          <p:nvPr/>
        </p:nvSpPr>
        <p:spPr>
          <a:xfrm>
            <a:off x="8778240" y="4069080"/>
            <a:ext cx="2743200" cy="320040"/>
          </a:xfrm>
          <a:prstGeom prst="rect">
            <a:avLst/>
          </a:prstGeom>
          <a:noFill/>
          <a:ln/>
        </p:spPr>
        <p:txBody>
          <a:bodyPr wrap="square" lIns="0" tIns="0" rIns="0" bIns="0" rtlCol="0" anchor="t"/>
          <a:lstStyle/>
          <a:p>
            <a:pPr indent="0" marL="0">
              <a:buNone/>
            </a:pPr>
            <a:r>
              <a:rPr lang="en-US" sz="1500" b="1" dirty="0">
                <a:solidFill>
                  <a:srgbClr val="A5650F"/>
                </a:solidFill>
                <a:latin typeface="Calibri" pitchFamily="34" charset="0"/>
                <a:ea typeface="Calibri" pitchFamily="34" charset="-122"/>
                <a:cs typeface="Calibri" pitchFamily="34" charset="-120"/>
              </a:rPr>
              <a:t>IT → Pharma</a:t>
            </a:r>
            <a:endParaRPr lang="en-US" sz="1500" dirty="0"/>
          </a:p>
        </p:txBody>
      </p:sp>
      <p:sp>
        <p:nvSpPr>
          <p:cNvPr id="12" name="Text 8"/>
          <p:cNvSpPr txBox="1"/>
          <p:nvPr/>
        </p:nvSpPr>
        <p:spPr>
          <a:xfrm>
            <a:off x="8778240" y="4434840"/>
            <a:ext cx="2697480" cy="1737360"/>
          </a:xfrm>
          <a:prstGeom prst="rect">
            <a:avLst/>
          </a:prstGeom>
          <a:noFill/>
          <a:ln/>
        </p:spPr>
        <p:txBody>
          <a:bodyPr wrap="square" lIns="0" tIns="0" rIns="0" bIns="0" rtlCol="0" anchor="t"/>
          <a:lstStyle/>
          <a:p>
            <a:pPr indent="0" marL="0">
              <a:buNone/>
            </a:pPr>
            <a:r>
              <a:rPr lang="en-US" sz="1200" dirty="0">
                <a:solidFill>
                  <a:srgbClr val="4F5F65"/>
                </a:solidFill>
                <a:latin typeface="Calibri" pitchFamily="34" charset="0"/>
                <a:ea typeface="Calibri" pitchFamily="34" charset="-122"/>
                <a:cs typeface="Calibri" pitchFamily="34" charset="-120"/>
              </a:rPr>
              <a:t>Daily high-low range 2.33% vs 2.57%. Returns are near-unpredictable, while volatility and volume are persistent and forecastable.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04 · LIGHTWEIGHT FORECASTER</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LiteTCN-Forecaster: small, and built to be adapted</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sp>
        <p:nvSpPr>
          <p:cNvPr id="5" name="Shape 3"/>
          <p:cNvSpPr/>
          <p:nvPr/>
        </p:nvSpPr>
        <p:spPr>
          <a:xfrm>
            <a:off x="548640" y="1828800"/>
            <a:ext cx="1417320" cy="1097280"/>
          </a:xfrm>
          <a:prstGeom prst="roundRect">
            <a:avLst>
              <a:gd name="adj" fmla="val 6667"/>
            </a:avLst>
          </a:prstGeom>
          <a:solidFill>
            <a:srgbClr val="E6F0EE"/>
          </a:solidFill>
          <a:ln w="12700">
            <a:solidFill>
              <a:srgbClr val="E6F0EE"/>
            </a:solidFill>
            <a:prstDash val="solid"/>
          </a:ln>
        </p:spPr>
      </p:sp>
      <p:sp>
        <p:nvSpPr>
          <p:cNvPr id="6" name="Text 4"/>
          <p:cNvSpPr txBox="1"/>
          <p:nvPr/>
        </p:nvSpPr>
        <p:spPr>
          <a:xfrm>
            <a:off x="548640" y="1920240"/>
            <a:ext cx="1417320" cy="320040"/>
          </a:xfrm>
          <a:prstGeom prst="rect">
            <a:avLst/>
          </a:prstGeom>
          <a:noFill/>
          <a:ln/>
        </p:spPr>
        <p:txBody>
          <a:bodyPr wrap="square" lIns="0" tIns="0" rIns="0" bIns="0" rtlCol="0" anchor="t"/>
          <a:lstStyle/>
          <a:p>
            <a:pPr algn="ctr" indent="0" marL="0">
              <a:buNone/>
            </a:pPr>
            <a:r>
              <a:rPr lang="en-US" sz="1350" b="1" dirty="0">
                <a:solidFill>
                  <a:srgbClr val="1B2B31"/>
                </a:solidFill>
                <a:latin typeface="Calibri" pitchFamily="34" charset="0"/>
                <a:ea typeface="Calibri" pitchFamily="34" charset="-122"/>
                <a:cs typeface="Calibri" pitchFamily="34" charset="-120"/>
              </a:rPr>
              <a:t>Input x</a:t>
            </a:r>
            <a:endParaRPr lang="en-US" sz="1350" dirty="0"/>
          </a:p>
        </p:txBody>
      </p:sp>
      <p:sp>
        <p:nvSpPr>
          <p:cNvPr id="7" name="Text 5"/>
          <p:cNvSpPr txBox="1"/>
          <p:nvPr/>
        </p:nvSpPr>
        <p:spPr>
          <a:xfrm>
            <a:off x="621792" y="2240280"/>
            <a:ext cx="1271016" cy="640080"/>
          </a:xfrm>
          <a:prstGeom prst="rect">
            <a:avLst/>
          </a:prstGeom>
          <a:noFill/>
          <a:ln/>
        </p:spPr>
        <p:txBody>
          <a:bodyPr wrap="square" lIns="0" tIns="0" rIns="0" bIns="0" rtlCol="0" anchor="t"/>
          <a:lstStyle/>
          <a:p>
            <a:pPr algn="ctr" indent="0" marL="0">
              <a:buNone/>
            </a:pPr>
            <a:r>
              <a:rPr lang="en-US" sz="1050" dirty="0">
                <a:solidFill>
                  <a:srgbClr val="4F5F65"/>
                </a:solidFill>
                <a:latin typeface="Calibri" pitchFamily="34" charset="0"/>
                <a:ea typeface="Calibri" pitchFamily="34" charset="-122"/>
                <a:cs typeface="Calibri" pitchFamily="34" charset="-120"/>
              </a:rPr>
              <a:t>L × C window</a:t>
            </a:r>
            <a:endParaRPr lang="en-US" sz="1050" dirty="0"/>
          </a:p>
          <a:p>
            <a:pPr algn="ctr" indent="0" marL="0">
              <a:buNone/>
            </a:pPr>
            <a:r>
              <a:rPr lang="en-US" sz="1050" dirty="0">
                <a:solidFill>
                  <a:srgbClr val="4F5F65"/>
                </a:solidFill>
                <a:latin typeface="Calibri" pitchFamily="34" charset="0"/>
                <a:ea typeface="Calibri" pitchFamily="34" charset="-122"/>
                <a:cs typeface="Calibri" pitchFamily="34" charset="-120"/>
              </a:rPr>
              <a:t>(all variables)</a:t>
            </a:r>
            <a:endParaRPr lang="en-US" sz="1050" dirty="0"/>
          </a:p>
        </p:txBody>
      </p:sp>
      <p:sp>
        <p:nvSpPr>
          <p:cNvPr id="8" name="Shape 6"/>
          <p:cNvSpPr/>
          <p:nvPr/>
        </p:nvSpPr>
        <p:spPr>
          <a:xfrm>
            <a:off x="2240280" y="1828800"/>
            <a:ext cx="1417320" cy="1097280"/>
          </a:xfrm>
          <a:prstGeom prst="roundRect">
            <a:avLst>
              <a:gd name="adj" fmla="val 6667"/>
            </a:avLst>
          </a:prstGeom>
          <a:solidFill>
            <a:srgbClr val="F1F6F5"/>
          </a:solidFill>
          <a:ln w="12700">
            <a:solidFill>
              <a:srgbClr val="F1F6F5"/>
            </a:solidFill>
            <a:prstDash val="solid"/>
          </a:ln>
        </p:spPr>
      </p:sp>
      <p:sp>
        <p:nvSpPr>
          <p:cNvPr id="9" name="Text 7"/>
          <p:cNvSpPr txBox="1"/>
          <p:nvPr/>
        </p:nvSpPr>
        <p:spPr>
          <a:xfrm>
            <a:off x="2240280" y="1920240"/>
            <a:ext cx="1417320" cy="320040"/>
          </a:xfrm>
          <a:prstGeom prst="rect">
            <a:avLst/>
          </a:prstGeom>
          <a:noFill/>
          <a:ln/>
        </p:spPr>
        <p:txBody>
          <a:bodyPr wrap="square" lIns="0" tIns="0" rIns="0" bIns="0" rtlCol="0" anchor="t"/>
          <a:lstStyle/>
          <a:p>
            <a:pPr algn="ctr" indent="0" marL="0">
              <a:buNone/>
            </a:pPr>
            <a:r>
              <a:rPr lang="en-US" sz="1350" b="1" dirty="0">
                <a:solidFill>
                  <a:srgbClr val="1B2B31"/>
                </a:solidFill>
                <a:latin typeface="Calibri" pitchFamily="34" charset="0"/>
                <a:ea typeface="Calibri" pitchFamily="34" charset="-122"/>
                <a:cs typeface="Calibri" pitchFamily="34" charset="-120"/>
              </a:rPr>
              <a:t>RevIN</a:t>
            </a:r>
            <a:endParaRPr lang="en-US" sz="1350" dirty="0"/>
          </a:p>
        </p:txBody>
      </p:sp>
      <p:sp>
        <p:nvSpPr>
          <p:cNvPr id="10" name="Text 8"/>
          <p:cNvSpPr txBox="1"/>
          <p:nvPr/>
        </p:nvSpPr>
        <p:spPr>
          <a:xfrm>
            <a:off x="2313432" y="2240280"/>
            <a:ext cx="1271016" cy="640080"/>
          </a:xfrm>
          <a:prstGeom prst="rect">
            <a:avLst/>
          </a:prstGeom>
          <a:noFill/>
          <a:ln/>
        </p:spPr>
        <p:txBody>
          <a:bodyPr wrap="square" lIns="0" tIns="0" rIns="0" bIns="0" rtlCol="0" anchor="t"/>
          <a:lstStyle/>
          <a:p>
            <a:pPr algn="ctr" indent="0" marL="0">
              <a:buNone/>
            </a:pPr>
            <a:r>
              <a:rPr lang="en-US" sz="1050" dirty="0">
                <a:solidFill>
                  <a:srgbClr val="4F5F65"/>
                </a:solidFill>
                <a:latin typeface="Calibri" pitchFamily="34" charset="0"/>
                <a:ea typeface="Calibri" pitchFamily="34" charset="-122"/>
                <a:cs typeface="Calibri" pitchFamily="34" charset="-120"/>
              </a:rPr>
              <a:t>normalise per window</a:t>
            </a:r>
            <a:endParaRPr lang="en-US" sz="1050" dirty="0"/>
          </a:p>
          <a:p>
            <a:pPr algn="ctr" indent="0" marL="0">
              <a:buNone/>
            </a:pPr>
            <a:r>
              <a:rPr lang="en-US" sz="1050" dirty="0">
                <a:solidFill>
                  <a:srgbClr val="4F5F65"/>
                </a:solidFill>
                <a:latin typeface="Calibri" pitchFamily="34" charset="0"/>
                <a:ea typeface="Calibri" pitchFamily="34" charset="-122"/>
                <a:cs typeface="Calibri" pitchFamily="34" charset="-120"/>
              </a:rPr>
              <a:t>(stats kept)</a:t>
            </a:r>
            <a:endParaRPr lang="en-US" sz="1050" dirty="0"/>
          </a:p>
        </p:txBody>
      </p:sp>
      <p:sp>
        <p:nvSpPr>
          <p:cNvPr id="11" name="Shape 9"/>
          <p:cNvSpPr/>
          <p:nvPr/>
        </p:nvSpPr>
        <p:spPr>
          <a:xfrm>
            <a:off x="3931920" y="1828800"/>
            <a:ext cx="1874520" cy="1097280"/>
          </a:xfrm>
          <a:prstGeom prst="roundRect">
            <a:avLst>
              <a:gd name="adj" fmla="val 6667"/>
            </a:avLst>
          </a:prstGeom>
          <a:solidFill>
            <a:srgbClr val="2F7F73"/>
          </a:solidFill>
          <a:ln w="12700">
            <a:solidFill>
              <a:srgbClr val="2F7F73"/>
            </a:solidFill>
            <a:prstDash val="solid"/>
          </a:ln>
        </p:spPr>
      </p:sp>
      <p:sp>
        <p:nvSpPr>
          <p:cNvPr id="12" name="Text 10"/>
          <p:cNvSpPr txBox="1"/>
          <p:nvPr/>
        </p:nvSpPr>
        <p:spPr>
          <a:xfrm>
            <a:off x="3931920" y="1920240"/>
            <a:ext cx="1874520" cy="320040"/>
          </a:xfrm>
          <a:prstGeom prst="rect">
            <a:avLst/>
          </a:prstGeom>
          <a:noFill/>
          <a:ln/>
        </p:spPr>
        <p:txBody>
          <a:bodyPr wrap="square" lIns="0" tIns="0" rIns="0" bIns="0" rtlCol="0" anchor="t"/>
          <a:lstStyle/>
          <a:p>
            <a:pPr algn="ctr" indent="0" marL="0">
              <a:buNone/>
            </a:pPr>
            <a:r>
              <a:rPr lang="en-US" sz="1350" b="1" dirty="0">
                <a:solidFill>
                  <a:srgbClr val="FFFFFF"/>
                </a:solidFill>
                <a:latin typeface="Calibri" pitchFamily="34" charset="0"/>
                <a:ea typeface="Calibri" pitchFamily="34" charset="-122"/>
                <a:cs typeface="Calibri" pitchFamily="34" charset="-120"/>
              </a:rPr>
              <a:t>Conv encoder</a:t>
            </a:r>
            <a:endParaRPr lang="en-US" sz="1350" dirty="0"/>
          </a:p>
        </p:txBody>
      </p:sp>
      <p:sp>
        <p:nvSpPr>
          <p:cNvPr id="13" name="Text 11"/>
          <p:cNvSpPr txBox="1"/>
          <p:nvPr/>
        </p:nvSpPr>
        <p:spPr>
          <a:xfrm>
            <a:off x="4005072" y="2240280"/>
            <a:ext cx="1728216" cy="640080"/>
          </a:xfrm>
          <a:prstGeom prst="rect">
            <a:avLst/>
          </a:prstGeom>
          <a:noFill/>
          <a:ln/>
        </p:spPr>
        <p:txBody>
          <a:bodyPr wrap="square" lIns="0" tIns="0" rIns="0" bIns="0" rtlCol="0" anchor="t"/>
          <a:lstStyle/>
          <a:p>
            <a:pPr algn="ctr" indent="0" marL="0">
              <a:buNone/>
            </a:pPr>
            <a:r>
              <a:rPr lang="en-US" sz="1050" dirty="0">
                <a:solidFill>
                  <a:srgbClr val="E6F0EE"/>
                </a:solidFill>
                <a:latin typeface="Calibri" pitchFamily="34" charset="0"/>
                <a:ea typeface="Calibri" pitchFamily="34" charset="-122"/>
                <a:cs typeface="Calibri" pitchFamily="34" charset="-120"/>
              </a:rPr>
              <a:t>3 × Conv1d, stride 2</a:t>
            </a:r>
            <a:endParaRPr lang="en-US" sz="1050" dirty="0"/>
          </a:p>
          <a:p>
            <a:pPr algn="ctr" indent="0" marL="0">
              <a:buNone/>
            </a:pPr>
            <a:r>
              <a:rPr lang="en-US" sz="1050" dirty="0">
                <a:solidFill>
                  <a:srgbClr val="E6F0EE"/>
                </a:solidFill>
                <a:latin typeface="Calibri" pitchFamily="34" charset="0"/>
                <a:ea typeface="Calibri" pitchFamily="34" charset="-122"/>
                <a:cs typeface="Calibri" pitchFamily="34" charset="-120"/>
              </a:rPr>
              <a:t>dilation 1-2-2, GELU</a:t>
            </a:r>
            <a:endParaRPr lang="en-US" sz="1050" dirty="0"/>
          </a:p>
        </p:txBody>
      </p:sp>
      <p:sp>
        <p:nvSpPr>
          <p:cNvPr id="14" name="Shape 12"/>
          <p:cNvSpPr/>
          <p:nvPr/>
        </p:nvSpPr>
        <p:spPr>
          <a:xfrm>
            <a:off x="6080760" y="1828800"/>
            <a:ext cx="1463040" cy="1097280"/>
          </a:xfrm>
          <a:prstGeom prst="roundRect">
            <a:avLst>
              <a:gd name="adj" fmla="val 6667"/>
            </a:avLst>
          </a:prstGeom>
          <a:solidFill>
            <a:srgbClr val="16232A"/>
          </a:solidFill>
          <a:ln w="12700">
            <a:solidFill>
              <a:srgbClr val="16232A"/>
            </a:solidFill>
            <a:prstDash val="solid"/>
          </a:ln>
        </p:spPr>
      </p:sp>
      <p:sp>
        <p:nvSpPr>
          <p:cNvPr id="15" name="Text 13"/>
          <p:cNvSpPr txBox="1"/>
          <p:nvPr/>
        </p:nvSpPr>
        <p:spPr>
          <a:xfrm>
            <a:off x="6080760" y="1920240"/>
            <a:ext cx="1463040" cy="320040"/>
          </a:xfrm>
          <a:prstGeom prst="rect">
            <a:avLst/>
          </a:prstGeom>
          <a:noFill/>
          <a:ln/>
        </p:spPr>
        <p:txBody>
          <a:bodyPr wrap="square" lIns="0" tIns="0" rIns="0" bIns="0" rtlCol="0" anchor="t"/>
          <a:lstStyle/>
          <a:p>
            <a:pPr algn="ctr" indent="0" marL="0">
              <a:buNone/>
            </a:pPr>
            <a:r>
              <a:rPr lang="en-US" sz="1350" b="1" dirty="0">
                <a:solidFill>
                  <a:srgbClr val="FFFFFF"/>
                </a:solidFill>
                <a:latin typeface="Calibri" pitchFamily="34" charset="0"/>
                <a:ea typeface="Calibri" pitchFamily="34" charset="-122"/>
                <a:cs typeface="Calibri" pitchFamily="34" charset="-120"/>
              </a:rPr>
              <a:t>Latent z</a:t>
            </a:r>
            <a:endParaRPr lang="en-US" sz="1350" dirty="0"/>
          </a:p>
        </p:txBody>
      </p:sp>
      <p:sp>
        <p:nvSpPr>
          <p:cNvPr id="16" name="Text 14"/>
          <p:cNvSpPr txBox="1"/>
          <p:nvPr/>
        </p:nvSpPr>
        <p:spPr>
          <a:xfrm>
            <a:off x="6153912" y="2240280"/>
            <a:ext cx="1316736" cy="640080"/>
          </a:xfrm>
          <a:prstGeom prst="rect">
            <a:avLst/>
          </a:prstGeom>
          <a:noFill/>
          <a:ln/>
        </p:spPr>
        <p:txBody>
          <a:bodyPr wrap="square" lIns="0" tIns="0" rIns="0" bIns="0" rtlCol="0" anchor="t"/>
          <a:lstStyle/>
          <a:p>
            <a:pPr algn="ctr" indent="0" marL="0">
              <a:buNone/>
            </a:pPr>
            <a:r>
              <a:rPr lang="en-US" sz="1050" dirty="0">
                <a:solidFill>
                  <a:srgbClr val="E6F0EE"/>
                </a:solidFill>
                <a:latin typeface="Calibri" pitchFamily="34" charset="0"/>
                <a:ea typeface="Calibri" pitchFamily="34" charset="-122"/>
                <a:cs typeface="Calibri" pitchFamily="34" charset="-120"/>
              </a:rPr>
              <a:t>Flatten → Linear</a:t>
            </a:r>
            <a:endParaRPr lang="en-US" sz="1050" dirty="0"/>
          </a:p>
          <a:p>
            <a:pPr algn="ctr" indent="0" marL="0">
              <a:buNone/>
            </a:pPr>
            <a:r>
              <a:rPr lang="en-US" sz="1050" dirty="0">
                <a:solidFill>
                  <a:srgbClr val="E6F0EE"/>
                </a:solidFill>
                <a:latin typeface="Calibri" pitchFamily="34" charset="0"/>
                <a:ea typeface="Calibri" pitchFamily="34" charset="-122"/>
                <a:cs typeface="Calibri" pitchFamily="34" charset="-120"/>
              </a:rPr>
              <a:t>128-d features</a:t>
            </a:r>
            <a:endParaRPr lang="en-US" sz="1050" dirty="0"/>
          </a:p>
        </p:txBody>
      </p:sp>
      <p:sp>
        <p:nvSpPr>
          <p:cNvPr id="17" name="Shape 15"/>
          <p:cNvSpPr/>
          <p:nvPr/>
        </p:nvSpPr>
        <p:spPr>
          <a:xfrm>
            <a:off x="7863840" y="1920240"/>
            <a:ext cx="1783080" cy="914400"/>
          </a:xfrm>
          <a:prstGeom prst="roundRect">
            <a:avLst>
              <a:gd name="adj" fmla="val 8000"/>
            </a:avLst>
          </a:prstGeom>
          <a:solidFill>
            <a:srgbClr val="F1F6F5"/>
          </a:solidFill>
          <a:ln w="12700">
            <a:solidFill>
              <a:srgbClr val="F1F6F5"/>
            </a:solidFill>
            <a:prstDash val="solid"/>
          </a:ln>
        </p:spPr>
      </p:sp>
      <p:sp>
        <p:nvSpPr>
          <p:cNvPr id="18" name="Text 16"/>
          <p:cNvSpPr txBox="1"/>
          <p:nvPr/>
        </p:nvSpPr>
        <p:spPr>
          <a:xfrm>
            <a:off x="7863840" y="2011680"/>
            <a:ext cx="1783080" cy="320040"/>
          </a:xfrm>
          <a:prstGeom prst="rect">
            <a:avLst/>
          </a:prstGeom>
          <a:noFill/>
          <a:ln/>
        </p:spPr>
        <p:txBody>
          <a:bodyPr wrap="square" lIns="0" tIns="0" rIns="0" bIns="0" rtlCol="0" anchor="t"/>
          <a:lstStyle/>
          <a:p>
            <a:pPr algn="ctr" indent="0" marL="0">
              <a:buNone/>
            </a:pPr>
            <a:r>
              <a:rPr lang="en-US" sz="1350" b="1" dirty="0">
                <a:solidFill>
                  <a:srgbClr val="1B2B31"/>
                </a:solidFill>
                <a:latin typeface="Calibri" pitchFamily="34" charset="0"/>
                <a:ea typeface="Calibri" pitchFamily="34" charset="-122"/>
                <a:cs typeface="Calibri" pitchFamily="34" charset="-120"/>
              </a:rPr>
              <a:t>Forecast head</a:t>
            </a:r>
            <a:endParaRPr lang="en-US" sz="1350" dirty="0"/>
          </a:p>
        </p:txBody>
      </p:sp>
      <p:sp>
        <p:nvSpPr>
          <p:cNvPr id="19" name="Text 17"/>
          <p:cNvSpPr txBox="1"/>
          <p:nvPr/>
        </p:nvSpPr>
        <p:spPr>
          <a:xfrm>
            <a:off x="7936992" y="2331720"/>
            <a:ext cx="1636776" cy="457200"/>
          </a:xfrm>
          <a:prstGeom prst="rect">
            <a:avLst/>
          </a:prstGeom>
          <a:noFill/>
          <a:ln/>
        </p:spPr>
        <p:txBody>
          <a:bodyPr wrap="square" lIns="0" tIns="0" rIns="0" bIns="0" rtlCol="0" anchor="t"/>
          <a:lstStyle/>
          <a:p>
            <a:pPr algn="ctr" indent="0" marL="0">
              <a:buNone/>
            </a:pPr>
            <a:r>
              <a:rPr lang="en-US" sz="1050" dirty="0">
                <a:solidFill>
                  <a:srgbClr val="4F5F65"/>
                </a:solidFill>
                <a:latin typeface="Calibri" pitchFamily="34" charset="0"/>
                <a:ea typeface="Calibri" pitchFamily="34" charset="-122"/>
                <a:cs typeface="Calibri" pitchFamily="34" charset="-120"/>
              </a:rPr>
              <a:t>Linear 128 → H·C</a:t>
            </a:r>
            <a:endParaRPr lang="en-US" sz="1050" dirty="0"/>
          </a:p>
        </p:txBody>
      </p:sp>
      <p:sp>
        <p:nvSpPr>
          <p:cNvPr id="20" name="Shape 18"/>
          <p:cNvSpPr/>
          <p:nvPr/>
        </p:nvSpPr>
        <p:spPr>
          <a:xfrm>
            <a:off x="7863840" y="3246120"/>
            <a:ext cx="1783080" cy="914400"/>
          </a:xfrm>
          <a:prstGeom prst="roundRect">
            <a:avLst>
              <a:gd name="adj" fmla="val 8000"/>
            </a:avLst>
          </a:prstGeom>
          <a:solidFill>
            <a:srgbClr val="FBEBD3"/>
          </a:solidFill>
          <a:ln w="12700">
            <a:solidFill>
              <a:srgbClr val="FBEBD3"/>
            </a:solidFill>
            <a:prstDash val="solid"/>
          </a:ln>
        </p:spPr>
      </p:sp>
      <p:sp>
        <p:nvSpPr>
          <p:cNvPr id="21" name="Text 19"/>
          <p:cNvSpPr txBox="1"/>
          <p:nvPr/>
        </p:nvSpPr>
        <p:spPr>
          <a:xfrm>
            <a:off x="7863840" y="3337560"/>
            <a:ext cx="1783080" cy="320040"/>
          </a:xfrm>
          <a:prstGeom prst="rect">
            <a:avLst/>
          </a:prstGeom>
          <a:noFill/>
          <a:ln/>
        </p:spPr>
        <p:txBody>
          <a:bodyPr wrap="square" lIns="0" tIns="0" rIns="0" bIns="0" rtlCol="0" anchor="t"/>
          <a:lstStyle/>
          <a:p>
            <a:pPr algn="ctr" indent="0" marL="0">
              <a:buNone/>
            </a:pPr>
            <a:r>
              <a:rPr lang="en-US" sz="1350" b="1" dirty="0">
                <a:solidFill>
                  <a:srgbClr val="1B2B31"/>
                </a:solidFill>
                <a:latin typeface="Calibri" pitchFamily="34" charset="0"/>
                <a:ea typeface="Calibri" pitchFamily="34" charset="-122"/>
                <a:cs typeface="Calibri" pitchFamily="34" charset="-120"/>
              </a:rPr>
              <a:t>Recon head</a:t>
            </a:r>
            <a:endParaRPr lang="en-US" sz="1350" dirty="0"/>
          </a:p>
        </p:txBody>
      </p:sp>
      <p:sp>
        <p:nvSpPr>
          <p:cNvPr id="22" name="Text 20"/>
          <p:cNvSpPr txBox="1"/>
          <p:nvPr/>
        </p:nvSpPr>
        <p:spPr>
          <a:xfrm>
            <a:off x="7936992" y="3657600"/>
            <a:ext cx="1636776" cy="457200"/>
          </a:xfrm>
          <a:prstGeom prst="rect">
            <a:avLst/>
          </a:prstGeom>
          <a:noFill/>
          <a:ln/>
        </p:spPr>
        <p:txBody>
          <a:bodyPr wrap="square" lIns="0" tIns="0" rIns="0" bIns="0" rtlCol="0" anchor="t"/>
          <a:lstStyle/>
          <a:p>
            <a:pPr algn="ctr" indent="0" marL="0">
              <a:buNone/>
            </a:pPr>
            <a:r>
              <a:rPr lang="en-US" sz="1050" dirty="0">
                <a:solidFill>
                  <a:srgbClr val="4F5F65"/>
                </a:solidFill>
                <a:latin typeface="Calibri" pitchFamily="34" charset="0"/>
                <a:ea typeface="Calibri" pitchFamily="34" charset="-122"/>
                <a:cs typeface="Calibri" pitchFamily="34" charset="-120"/>
              </a:rPr>
              <a:t>Linear 128 → L·C</a:t>
            </a:r>
            <a:endParaRPr lang="en-US" sz="1050" dirty="0"/>
          </a:p>
          <a:p>
            <a:pPr algn="ctr" indent="0" marL="0">
              <a:buNone/>
            </a:pPr>
            <a:r>
              <a:rPr lang="en-US" sz="1050" dirty="0">
                <a:solidFill>
                  <a:srgbClr val="4F5F65"/>
                </a:solidFill>
                <a:latin typeface="Calibri" pitchFamily="34" charset="0"/>
                <a:ea typeface="Calibri" pitchFamily="34" charset="-122"/>
                <a:cs typeface="Calibri" pitchFamily="34" charset="-120"/>
              </a:rPr>
              <a:t>(self-supervision)</a:t>
            </a:r>
            <a:endParaRPr lang="en-US" sz="1050" dirty="0"/>
          </a:p>
        </p:txBody>
      </p:sp>
      <p:sp>
        <p:nvSpPr>
          <p:cNvPr id="23" name="Shape 21"/>
          <p:cNvSpPr/>
          <p:nvPr/>
        </p:nvSpPr>
        <p:spPr>
          <a:xfrm>
            <a:off x="2240280" y="4343400"/>
            <a:ext cx="7406640" cy="777240"/>
          </a:xfrm>
          <a:prstGeom prst="roundRect">
            <a:avLst>
              <a:gd name="adj" fmla="val 9412"/>
            </a:avLst>
          </a:prstGeom>
          <a:solidFill>
            <a:srgbClr val="F1F6F5"/>
          </a:solidFill>
          <a:ln w="12700">
            <a:solidFill>
              <a:srgbClr val="F1F6F5"/>
            </a:solidFill>
            <a:prstDash val="solid"/>
          </a:ln>
        </p:spPr>
      </p:sp>
      <p:sp>
        <p:nvSpPr>
          <p:cNvPr id="24" name="Text 22"/>
          <p:cNvSpPr txBox="1"/>
          <p:nvPr/>
        </p:nvSpPr>
        <p:spPr>
          <a:xfrm>
            <a:off x="2240280" y="4434840"/>
            <a:ext cx="7406640" cy="320040"/>
          </a:xfrm>
          <a:prstGeom prst="rect">
            <a:avLst/>
          </a:prstGeom>
          <a:noFill/>
          <a:ln/>
        </p:spPr>
        <p:txBody>
          <a:bodyPr wrap="square" lIns="0" tIns="0" rIns="0" bIns="0" rtlCol="0" anchor="t"/>
          <a:lstStyle/>
          <a:p>
            <a:pPr algn="ctr" indent="0" marL="0">
              <a:buNone/>
            </a:pPr>
            <a:r>
              <a:rPr lang="en-US" sz="1350" b="1" dirty="0">
                <a:solidFill>
                  <a:srgbClr val="1B2B31"/>
                </a:solidFill>
                <a:latin typeface="Calibri" pitchFamily="34" charset="0"/>
                <a:ea typeface="Calibri" pitchFamily="34" charset="-122"/>
                <a:cs typeface="Calibri" pitchFamily="34" charset="-120"/>
              </a:rPr>
              <a:t>Linear temporal path</a:t>
            </a:r>
            <a:endParaRPr lang="en-US" sz="1350" dirty="0"/>
          </a:p>
        </p:txBody>
      </p:sp>
      <p:sp>
        <p:nvSpPr>
          <p:cNvPr id="25" name="Text 23"/>
          <p:cNvSpPr txBox="1"/>
          <p:nvPr/>
        </p:nvSpPr>
        <p:spPr>
          <a:xfrm>
            <a:off x="2313432" y="4754880"/>
            <a:ext cx="7260336" cy="320040"/>
          </a:xfrm>
          <a:prstGeom prst="rect">
            <a:avLst/>
          </a:prstGeom>
          <a:noFill/>
          <a:ln/>
        </p:spPr>
        <p:txBody>
          <a:bodyPr wrap="square" lIns="0" tIns="0" rIns="0" bIns="0" rtlCol="0" anchor="t"/>
          <a:lstStyle/>
          <a:p>
            <a:pPr algn="ctr" indent="0" marL="0">
              <a:buNone/>
            </a:pPr>
            <a:r>
              <a:rPr lang="en-US" sz="1050" dirty="0">
                <a:solidFill>
                  <a:srgbClr val="4F5F65"/>
                </a:solidFill>
                <a:latin typeface="Calibri" pitchFamily="34" charset="0"/>
                <a:ea typeface="Calibri" pitchFamily="34" charset="-122"/>
                <a:cs typeface="Calibri" pitchFamily="34" charset="-120"/>
              </a:rPr>
              <a:t>DLinear-style L → H, shared across channels</a:t>
            </a:r>
            <a:endParaRPr lang="en-US" sz="1050" dirty="0"/>
          </a:p>
        </p:txBody>
      </p:sp>
      <p:sp>
        <p:nvSpPr>
          <p:cNvPr id="26" name="Shape 24"/>
          <p:cNvSpPr/>
          <p:nvPr/>
        </p:nvSpPr>
        <p:spPr>
          <a:xfrm>
            <a:off x="9921240" y="2148840"/>
            <a:ext cx="457200" cy="457200"/>
          </a:xfrm>
          <a:prstGeom prst="ellipse">
            <a:avLst/>
          </a:prstGeom>
          <a:solidFill>
            <a:srgbClr val="FFFFFF"/>
          </a:solidFill>
          <a:ln w="15875">
            <a:solidFill>
              <a:srgbClr val="1B2B31"/>
            </a:solidFill>
            <a:prstDash val="solid"/>
          </a:ln>
        </p:spPr>
      </p:sp>
      <p:sp>
        <p:nvSpPr>
          <p:cNvPr id="27" name="Text 25"/>
          <p:cNvSpPr txBox="1"/>
          <p:nvPr/>
        </p:nvSpPr>
        <p:spPr>
          <a:xfrm>
            <a:off x="9921240" y="2148840"/>
            <a:ext cx="457200" cy="457200"/>
          </a:xfrm>
          <a:prstGeom prst="rect">
            <a:avLst/>
          </a:prstGeom>
          <a:noFill/>
          <a:ln/>
        </p:spPr>
        <p:txBody>
          <a:bodyPr wrap="square" lIns="0" tIns="0" rIns="0" bIns="0" rtlCol="0" anchor="ctr"/>
          <a:lstStyle/>
          <a:p>
            <a:pPr algn="ctr" indent="0" marL="0">
              <a:buNone/>
            </a:pPr>
            <a:r>
              <a:rPr lang="en-US" sz="2000" b="1" dirty="0">
                <a:solidFill>
                  <a:srgbClr val="1B2B31"/>
                </a:solidFill>
                <a:latin typeface="Calibri" pitchFamily="34" charset="0"/>
                <a:ea typeface="Calibri" pitchFamily="34" charset="-122"/>
                <a:cs typeface="Calibri" pitchFamily="34" charset="-120"/>
              </a:rPr>
              <a:t>+</a:t>
            </a:r>
            <a:endParaRPr lang="en-US" sz="2000" dirty="0"/>
          </a:p>
        </p:txBody>
      </p:sp>
      <p:sp>
        <p:nvSpPr>
          <p:cNvPr id="28" name="Shape 26"/>
          <p:cNvSpPr/>
          <p:nvPr/>
        </p:nvSpPr>
        <p:spPr>
          <a:xfrm>
            <a:off x="10561320" y="1920240"/>
            <a:ext cx="1078992" cy="914400"/>
          </a:xfrm>
          <a:prstGeom prst="roundRect">
            <a:avLst>
              <a:gd name="adj" fmla="val 8000"/>
            </a:avLst>
          </a:prstGeom>
          <a:solidFill>
            <a:srgbClr val="E6F0EE"/>
          </a:solidFill>
          <a:ln w="12700">
            <a:solidFill>
              <a:srgbClr val="E6F0EE"/>
            </a:solidFill>
            <a:prstDash val="solid"/>
          </a:ln>
        </p:spPr>
      </p:sp>
      <p:sp>
        <p:nvSpPr>
          <p:cNvPr id="29" name="Text 27"/>
          <p:cNvSpPr txBox="1"/>
          <p:nvPr/>
        </p:nvSpPr>
        <p:spPr>
          <a:xfrm>
            <a:off x="10561320" y="2011680"/>
            <a:ext cx="1078992" cy="320040"/>
          </a:xfrm>
          <a:prstGeom prst="rect">
            <a:avLst/>
          </a:prstGeom>
          <a:noFill/>
          <a:ln/>
        </p:spPr>
        <p:txBody>
          <a:bodyPr wrap="square" lIns="0" tIns="0" rIns="0" bIns="0" rtlCol="0" anchor="t"/>
          <a:lstStyle/>
          <a:p>
            <a:pPr algn="ctr" indent="0" marL="0">
              <a:buNone/>
            </a:pPr>
            <a:r>
              <a:rPr lang="en-US" sz="1350" b="1" dirty="0">
                <a:solidFill>
                  <a:srgbClr val="1B2B31"/>
                </a:solidFill>
                <a:latin typeface="Calibri" pitchFamily="34" charset="0"/>
                <a:ea typeface="Calibri" pitchFamily="34" charset="-122"/>
                <a:cs typeface="Calibri" pitchFamily="34" charset="-120"/>
              </a:rPr>
              <a:t>ŷ</a:t>
            </a:r>
            <a:endParaRPr lang="en-US" sz="1350" dirty="0"/>
          </a:p>
        </p:txBody>
      </p:sp>
      <p:sp>
        <p:nvSpPr>
          <p:cNvPr id="30" name="Text 28"/>
          <p:cNvSpPr txBox="1"/>
          <p:nvPr/>
        </p:nvSpPr>
        <p:spPr>
          <a:xfrm>
            <a:off x="10634472" y="2331720"/>
            <a:ext cx="932688" cy="457200"/>
          </a:xfrm>
          <a:prstGeom prst="rect">
            <a:avLst/>
          </a:prstGeom>
          <a:noFill/>
          <a:ln/>
        </p:spPr>
        <p:txBody>
          <a:bodyPr wrap="square" lIns="0" tIns="0" rIns="0" bIns="0" rtlCol="0" anchor="t"/>
          <a:lstStyle/>
          <a:p>
            <a:pPr algn="ctr" indent="0" marL="0">
              <a:buNone/>
            </a:pPr>
            <a:r>
              <a:rPr lang="en-US" sz="1050" dirty="0">
                <a:solidFill>
                  <a:srgbClr val="4F5F65"/>
                </a:solidFill>
                <a:latin typeface="Calibri" pitchFamily="34" charset="0"/>
                <a:ea typeface="Calibri" pitchFamily="34" charset="-122"/>
                <a:cs typeface="Calibri" pitchFamily="34" charset="-120"/>
              </a:rPr>
              <a:t>RevIN⁻¹</a:t>
            </a:r>
            <a:endParaRPr lang="en-US" sz="1050" dirty="0"/>
          </a:p>
          <a:p>
            <a:pPr algn="ctr" indent="0" marL="0">
              <a:buNone/>
            </a:pPr>
            <a:r>
              <a:rPr lang="en-US" sz="1050" dirty="0">
                <a:solidFill>
                  <a:srgbClr val="4F5F65"/>
                </a:solidFill>
                <a:latin typeface="Calibri" pitchFamily="34" charset="0"/>
                <a:ea typeface="Calibri" pitchFamily="34" charset="-122"/>
                <a:cs typeface="Calibri" pitchFamily="34" charset="-120"/>
              </a:rPr>
              <a:t>H × C</a:t>
            </a:r>
            <a:endParaRPr lang="en-US" sz="1050" dirty="0"/>
          </a:p>
        </p:txBody>
      </p:sp>
      <p:sp>
        <p:nvSpPr>
          <p:cNvPr id="31" name="Shape 29"/>
          <p:cNvSpPr/>
          <p:nvPr/>
        </p:nvSpPr>
        <p:spPr>
          <a:xfrm>
            <a:off x="1965960" y="2377440"/>
            <a:ext cx="274320" cy="914"/>
          </a:xfrm>
          <a:prstGeom prst="line">
            <a:avLst/>
          </a:prstGeom>
          <a:noFill/>
          <a:ln w="22225">
            <a:solidFill>
              <a:srgbClr val="4F5F65"/>
            </a:solidFill>
            <a:prstDash val="solid"/>
            <a:tailEnd type="triangle"/>
          </a:ln>
        </p:spPr>
      </p:sp>
      <p:sp>
        <p:nvSpPr>
          <p:cNvPr id="32" name="Shape 30"/>
          <p:cNvSpPr/>
          <p:nvPr/>
        </p:nvSpPr>
        <p:spPr>
          <a:xfrm>
            <a:off x="3657600" y="2377440"/>
            <a:ext cx="274320" cy="914"/>
          </a:xfrm>
          <a:prstGeom prst="line">
            <a:avLst/>
          </a:prstGeom>
          <a:noFill/>
          <a:ln w="22225">
            <a:solidFill>
              <a:srgbClr val="4F5F65"/>
            </a:solidFill>
            <a:prstDash val="solid"/>
            <a:tailEnd type="triangle"/>
          </a:ln>
        </p:spPr>
      </p:sp>
      <p:sp>
        <p:nvSpPr>
          <p:cNvPr id="33" name="Shape 31"/>
          <p:cNvSpPr/>
          <p:nvPr/>
        </p:nvSpPr>
        <p:spPr>
          <a:xfrm>
            <a:off x="5806440" y="2377440"/>
            <a:ext cx="274320" cy="914"/>
          </a:xfrm>
          <a:prstGeom prst="line">
            <a:avLst/>
          </a:prstGeom>
          <a:noFill/>
          <a:ln w="22225">
            <a:solidFill>
              <a:srgbClr val="4F5F65"/>
            </a:solidFill>
            <a:prstDash val="solid"/>
            <a:tailEnd type="triangle"/>
          </a:ln>
        </p:spPr>
      </p:sp>
      <p:sp>
        <p:nvSpPr>
          <p:cNvPr id="34" name="Shape 32"/>
          <p:cNvSpPr/>
          <p:nvPr/>
        </p:nvSpPr>
        <p:spPr>
          <a:xfrm>
            <a:off x="7543800" y="2377440"/>
            <a:ext cx="320040" cy="914"/>
          </a:xfrm>
          <a:prstGeom prst="line">
            <a:avLst/>
          </a:prstGeom>
          <a:noFill/>
          <a:ln w="22225">
            <a:solidFill>
              <a:srgbClr val="4F5F65"/>
            </a:solidFill>
            <a:prstDash val="solid"/>
            <a:tailEnd type="triangle"/>
          </a:ln>
        </p:spPr>
      </p:sp>
      <p:sp>
        <p:nvSpPr>
          <p:cNvPr id="35" name="Shape 33"/>
          <p:cNvSpPr/>
          <p:nvPr/>
        </p:nvSpPr>
        <p:spPr>
          <a:xfrm>
            <a:off x="7543800" y="2743200"/>
            <a:ext cx="320040" cy="960120"/>
          </a:xfrm>
          <a:prstGeom prst="line">
            <a:avLst/>
          </a:prstGeom>
          <a:noFill/>
          <a:ln w="22225">
            <a:solidFill>
              <a:srgbClr val="4F5F65"/>
            </a:solidFill>
            <a:prstDash val="solid"/>
            <a:tailEnd type="triangle"/>
          </a:ln>
        </p:spPr>
      </p:sp>
      <p:sp>
        <p:nvSpPr>
          <p:cNvPr id="36" name="Shape 34"/>
          <p:cNvSpPr/>
          <p:nvPr/>
        </p:nvSpPr>
        <p:spPr>
          <a:xfrm>
            <a:off x="9646920" y="2377440"/>
            <a:ext cx="274320" cy="914"/>
          </a:xfrm>
          <a:prstGeom prst="line">
            <a:avLst/>
          </a:prstGeom>
          <a:noFill/>
          <a:ln w="22225">
            <a:solidFill>
              <a:srgbClr val="4F5F65"/>
            </a:solidFill>
            <a:prstDash val="solid"/>
            <a:tailEnd type="triangle"/>
          </a:ln>
        </p:spPr>
      </p:sp>
      <p:sp>
        <p:nvSpPr>
          <p:cNvPr id="37" name="Shape 35"/>
          <p:cNvSpPr/>
          <p:nvPr/>
        </p:nvSpPr>
        <p:spPr>
          <a:xfrm>
            <a:off x="10378440" y="2377440"/>
            <a:ext cx="182880" cy="914"/>
          </a:xfrm>
          <a:prstGeom prst="line">
            <a:avLst/>
          </a:prstGeom>
          <a:noFill/>
          <a:ln w="22225">
            <a:solidFill>
              <a:srgbClr val="4F5F65"/>
            </a:solidFill>
            <a:prstDash val="solid"/>
            <a:tailEnd type="triangle"/>
          </a:ln>
        </p:spPr>
      </p:sp>
      <p:sp>
        <p:nvSpPr>
          <p:cNvPr id="38" name="Shape 36"/>
          <p:cNvSpPr/>
          <p:nvPr/>
        </p:nvSpPr>
        <p:spPr>
          <a:xfrm>
            <a:off x="2944368" y="2926080"/>
            <a:ext cx="914" cy="1417320"/>
          </a:xfrm>
          <a:prstGeom prst="line">
            <a:avLst/>
          </a:prstGeom>
          <a:noFill/>
          <a:ln w="22225">
            <a:solidFill>
              <a:srgbClr val="4F5F65"/>
            </a:solidFill>
            <a:prstDash val="solid"/>
            <a:tailEnd type="triangle"/>
          </a:ln>
        </p:spPr>
      </p:sp>
      <p:sp>
        <p:nvSpPr>
          <p:cNvPr id="39" name="Shape 37"/>
          <p:cNvSpPr/>
          <p:nvPr/>
        </p:nvSpPr>
        <p:spPr>
          <a:xfrm>
            <a:off x="9646920" y="4727448"/>
            <a:ext cx="502920" cy="914"/>
          </a:xfrm>
          <a:prstGeom prst="line">
            <a:avLst/>
          </a:prstGeom>
          <a:noFill/>
          <a:ln w="22225">
            <a:solidFill>
              <a:srgbClr val="4F5F65"/>
            </a:solidFill>
            <a:prstDash val="solid"/>
            <a:tailEnd type="triangle"/>
          </a:ln>
        </p:spPr>
      </p:sp>
      <p:sp>
        <p:nvSpPr>
          <p:cNvPr id="40" name="Shape 38"/>
          <p:cNvSpPr/>
          <p:nvPr/>
        </p:nvSpPr>
        <p:spPr>
          <a:xfrm flipV="1">
            <a:off x="10149840" y="2606040"/>
            <a:ext cx="0" cy="2121408"/>
          </a:xfrm>
          <a:prstGeom prst="line">
            <a:avLst/>
          </a:prstGeom>
          <a:noFill/>
          <a:ln w="22225">
            <a:solidFill>
              <a:srgbClr val="4F5F65"/>
            </a:solidFill>
            <a:prstDash val="solid"/>
            <a:tailEnd type="triangle"/>
          </a:ln>
        </p:spPr>
      </p:sp>
      <p:sp>
        <p:nvSpPr>
          <p:cNvPr id="41" name="Text 39"/>
          <p:cNvSpPr txBox="1"/>
          <p:nvPr/>
        </p:nvSpPr>
        <p:spPr>
          <a:xfrm>
            <a:off x="5669280" y="3017520"/>
            <a:ext cx="1920240" cy="320040"/>
          </a:xfrm>
          <a:prstGeom prst="rect">
            <a:avLst/>
          </a:prstGeom>
          <a:noFill/>
          <a:ln/>
        </p:spPr>
        <p:txBody>
          <a:bodyPr wrap="square" lIns="0" tIns="0" rIns="0" bIns="0" rtlCol="0" anchor="t"/>
          <a:lstStyle/>
          <a:p>
            <a:pPr algn="r" indent="0" marL="0">
              <a:buNone/>
            </a:pPr>
            <a:r>
              <a:rPr lang="en-US" sz="1100" i="1" dirty="0">
                <a:solidFill>
                  <a:srgbClr val="A5650F"/>
                </a:solidFill>
                <a:latin typeface="Calibri" pitchFamily="34" charset="0"/>
                <a:ea typeface="Calibri" pitchFamily="34" charset="-122"/>
                <a:cs typeface="Calibri" pitchFamily="34" charset="-120"/>
              </a:rPr>
              <a:t>↑ z is aligned across domains</a:t>
            </a:r>
            <a:endParaRPr lang="en-US" sz="1100" dirty="0"/>
          </a:p>
        </p:txBody>
      </p:sp>
      <p:sp>
        <p:nvSpPr>
          <p:cNvPr id="42" name="Shape 40"/>
          <p:cNvSpPr/>
          <p:nvPr/>
        </p:nvSpPr>
        <p:spPr>
          <a:xfrm>
            <a:off x="548640" y="5440680"/>
            <a:ext cx="3566160" cy="777240"/>
          </a:xfrm>
          <a:prstGeom prst="roundRect">
            <a:avLst>
              <a:gd name="adj" fmla="val 9412"/>
            </a:avLst>
          </a:prstGeom>
          <a:solidFill>
            <a:srgbClr val="F1F6F5"/>
          </a:solidFill>
          <a:ln w="12700">
            <a:solidFill>
              <a:srgbClr val="F1F6F5"/>
            </a:solidFill>
            <a:prstDash val="solid"/>
          </a:ln>
        </p:spPr>
      </p:sp>
      <p:sp>
        <p:nvSpPr>
          <p:cNvPr id="43" name="Text 41"/>
          <p:cNvSpPr txBox="1"/>
          <p:nvPr/>
        </p:nvSpPr>
        <p:spPr>
          <a:xfrm>
            <a:off x="731520" y="5440680"/>
            <a:ext cx="1554480" cy="777240"/>
          </a:xfrm>
          <a:prstGeom prst="rect">
            <a:avLst/>
          </a:prstGeom>
          <a:noFill/>
          <a:ln/>
        </p:spPr>
        <p:txBody>
          <a:bodyPr wrap="square" lIns="0" tIns="0" rIns="0" bIns="0" rtlCol="0" anchor="ctr"/>
          <a:lstStyle/>
          <a:p>
            <a:pPr indent="0" marL="0">
              <a:buNone/>
            </a:pPr>
            <a:r>
              <a:rPr lang="en-US" sz="2400" b="1" dirty="0">
                <a:solidFill>
                  <a:srgbClr val="2F7F73"/>
                </a:solidFill>
                <a:latin typeface="Cambria" pitchFamily="34" charset="0"/>
                <a:ea typeface="Cambria" pitchFamily="34" charset="-122"/>
                <a:cs typeface="Cambria" pitchFamily="34" charset="-120"/>
              </a:rPr>
              <a:t>381,606</a:t>
            </a:r>
            <a:endParaRPr lang="en-US" sz="2400" dirty="0"/>
          </a:p>
        </p:txBody>
      </p:sp>
      <p:sp>
        <p:nvSpPr>
          <p:cNvPr id="44" name="Text 42"/>
          <p:cNvSpPr txBox="1"/>
          <p:nvPr/>
        </p:nvSpPr>
        <p:spPr>
          <a:xfrm>
            <a:off x="2331720" y="5440680"/>
            <a:ext cx="1691640" cy="777240"/>
          </a:xfrm>
          <a:prstGeom prst="rect">
            <a:avLst/>
          </a:prstGeom>
          <a:noFill/>
          <a:ln/>
        </p:spPr>
        <p:txBody>
          <a:bodyPr wrap="square" lIns="0" tIns="0" rIns="0" bIns="0" rtlCol="0" anchor="ctr"/>
          <a:lstStyle/>
          <a:p>
            <a:pPr indent="0" marL="0">
              <a:buNone/>
            </a:pPr>
            <a:r>
              <a:rPr lang="en-US" sz="1200" dirty="0">
                <a:solidFill>
                  <a:srgbClr val="4F5F65"/>
                </a:solidFill>
                <a:latin typeface="Calibri" pitchFamily="34" charset="0"/>
                <a:ea typeface="Calibri" pitchFamily="34" charset="-122"/>
                <a:cs typeface="Calibri" pitchFamily="34" charset="-120"/>
              </a:rPr>
              <a:t>parameters (L=168, C=7)</a:t>
            </a:r>
            <a:endParaRPr lang="en-US" sz="1200" dirty="0"/>
          </a:p>
        </p:txBody>
      </p:sp>
      <p:sp>
        <p:nvSpPr>
          <p:cNvPr id="45" name="Shape 43"/>
          <p:cNvSpPr/>
          <p:nvPr/>
        </p:nvSpPr>
        <p:spPr>
          <a:xfrm>
            <a:off x="4297680" y="5440680"/>
            <a:ext cx="3566160" cy="777240"/>
          </a:xfrm>
          <a:prstGeom prst="roundRect">
            <a:avLst>
              <a:gd name="adj" fmla="val 9412"/>
            </a:avLst>
          </a:prstGeom>
          <a:solidFill>
            <a:srgbClr val="F1F6F5"/>
          </a:solidFill>
          <a:ln w="12700">
            <a:solidFill>
              <a:srgbClr val="F1F6F5"/>
            </a:solidFill>
            <a:prstDash val="solid"/>
          </a:ln>
        </p:spPr>
      </p:sp>
      <p:sp>
        <p:nvSpPr>
          <p:cNvPr id="46" name="Text 44"/>
          <p:cNvSpPr txBox="1"/>
          <p:nvPr/>
        </p:nvSpPr>
        <p:spPr>
          <a:xfrm>
            <a:off x="4480560" y="5440680"/>
            <a:ext cx="1554480" cy="777240"/>
          </a:xfrm>
          <a:prstGeom prst="rect">
            <a:avLst/>
          </a:prstGeom>
          <a:noFill/>
          <a:ln/>
        </p:spPr>
        <p:txBody>
          <a:bodyPr wrap="square" lIns="0" tIns="0" rIns="0" bIns="0" rtlCol="0" anchor="ctr"/>
          <a:lstStyle/>
          <a:p>
            <a:pPr indent="0" marL="0">
              <a:buNone/>
            </a:pPr>
            <a:r>
              <a:rPr lang="en-US" sz="2400" b="1" dirty="0">
                <a:solidFill>
                  <a:srgbClr val="2F7F73"/>
                </a:solidFill>
                <a:latin typeface="Cambria" pitchFamily="34" charset="0"/>
                <a:ea typeface="Cambria" pitchFamily="34" charset="-122"/>
                <a:cs typeface="Cambria" pitchFamily="34" charset="-120"/>
              </a:rPr>
              <a:t>&lt; 1 min</a:t>
            </a:r>
            <a:endParaRPr lang="en-US" sz="2400" dirty="0"/>
          </a:p>
        </p:txBody>
      </p:sp>
      <p:sp>
        <p:nvSpPr>
          <p:cNvPr id="47" name="Text 45"/>
          <p:cNvSpPr txBox="1"/>
          <p:nvPr/>
        </p:nvSpPr>
        <p:spPr>
          <a:xfrm>
            <a:off x="6080760" y="5440680"/>
            <a:ext cx="1691640" cy="777240"/>
          </a:xfrm>
          <a:prstGeom prst="rect">
            <a:avLst/>
          </a:prstGeom>
          <a:noFill/>
          <a:ln/>
        </p:spPr>
        <p:txBody>
          <a:bodyPr wrap="square" lIns="0" tIns="0" rIns="0" bIns="0" rtlCol="0" anchor="ctr"/>
          <a:lstStyle/>
          <a:p>
            <a:pPr indent="0" marL="0">
              <a:buNone/>
            </a:pPr>
            <a:r>
              <a:rPr lang="en-US" sz="1200" dirty="0">
                <a:solidFill>
                  <a:srgbClr val="4F5F65"/>
                </a:solidFill>
                <a:latin typeface="Calibri" pitchFamily="34" charset="0"/>
                <a:ea typeface="Calibri" pitchFamily="34" charset="-122"/>
                <a:cs typeface="Calibri" pitchFamily="34" charset="-120"/>
              </a:rPr>
              <a:t>per epoch on a laptop CPU</a:t>
            </a:r>
            <a:endParaRPr lang="en-US" sz="1200" dirty="0"/>
          </a:p>
        </p:txBody>
      </p:sp>
      <p:sp>
        <p:nvSpPr>
          <p:cNvPr id="48" name="Shape 46"/>
          <p:cNvSpPr/>
          <p:nvPr/>
        </p:nvSpPr>
        <p:spPr>
          <a:xfrm>
            <a:off x="8046720" y="5440680"/>
            <a:ext cx="3566160" cy="777240"/>
          </a:xfrm>
          <a:prstGeom prst="roundRect">
            <a:avLst>
              <a:gd name="adj" fmla="val 9412"/>
            </a:avLst>
          </a:prstGeom>
          <a:solidFill>
            <a:srgbClr val="F1F6F5"/>
          </a:solidFill>
          <a:ln w="12700">
            <a:solidFill>
              <a:srgbClr val="F1F6F5"/>
            </a:solidFill>
            <a:prstDash val="solid"/>
          </a:ln>
        </p:spPr>
      </p:sp>
      <p:sp>
        <p:nvSpPr>
          <p:cNvPr id="49" name="Text 47"/>
          <p:cNvSpPr txBox="1"/>
          <p:nvPr/>
        </p:nvSpPr>
        <p:spPr>
          <a:xfrm>
            <a:off x="8229600" y="5440680"/>
            <a:ext cx="1554480" cy="777240"/>
          </a:xfrm>
          <a:prstGeom prst="rect">
            <a:avLst/>
          </a:prstGeom>
          <a:noFill/>
          <a:ln/>
        </p:spPr>
        <p:txBody>
          <a:bodyPr wrap="square" lIns="0" tIns="0" rIns="0" bIns="0" rtlCol="0" anchor="ctr"/>
          <a:lstStyle/>
          <a:p>
            <a:pPr indent="0" marL="0">
              <a:buNone/>
            </a:pPr>
            <a:r>
              <a:rPr lang="en-US" sz="2400" b="1" dirty="0">
                <a:solidFill>
                  <a:srgbClr val="2F7F73"/>
                </a:solidFill>
                <a:latin typeface="Cambria" pitchFamily="34" charset="0"/>
                <a:ea typeface="Cambria" pitchFamily="34" charset="-122"/>
                <a:cs typeface="Cambria" pitchFamily="34" charset="-120"/>
              </a:rPr>
              <a:t>3</a:t>
            </a:r>
            <a:endParaRPr lang="en-US" sz="2400" dirty="0"/>
          </a:p>
        </p:txBody>
      </p:sp>
      <p:sp>
        <p:nvSpPr>
          <p:cNvPr id="50" name="Text 48"/>
          <p:cNvSpPr txBox="1"/>
          <p:nvPr/>
        </p:nvSpPr>
        <p:spPr>
          <a:xfrm>
            <a:off x="9829800" y="5440680"/>
            <a:ext cx="1691640" cy="777240"/>
          </a:xfrm>
          <a:prstGeom prst="rect">
            <a:avLst/>
          </a:prstGeom>
          <a:noFill/>
          <a:ln/>
        </p:spPr>
        <p:txBody>
          <a:bodyPr wrap="square" lIns="0" tIns="0" rIns="0" bIns="0" rtlCol="0" anchor="ctr"/>
          <a:lstStyle/>
          <a:p>
            <a:pPr indent="0" marL="0">
              <a:buNone/>
            </a:pPr>
            <a:r>
              <a:rPr lang="en-US" sz="1200" dirty="0">
                <a:solidFill>
                  <a:srgbClr val="4F5F65"/>
                </a:solidFill>
                <a:latin typeface="Calibri" pitchFamily="34" charset="0"/>
                <a:ea typeface="Calibri" pitchFamily="34" charset="-122"/>
                <a:cs typeface="Calibri" pitchFamily="34" charset="-120"/>
              </a:rPr>
              <a:t>outputs: forecast, latent, reconstruction</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05 · ADAPTATION STRATEGY</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CARE-DA: our label-free adaptation strategy</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sp>
        <p:nvSpPr>
          <p:cNvPr id="5" name="Text 3"/>
          <p:cNvSpPr txBox="1"/>
          <p:nvPr/>
        </p:nvSpPr>
        <p:spPr>
          <a:xfrm>
            <a:off x="548640" y="1207008"/>
            <a:ext cx="10972800" cy="320040"/>
          </a:xfrm>
          <a:prstGeom prst="rect">
            <a:avLst/>
          </a:prstGeom>
          <a:noFill/>
          <a:ln/>
        </p:spPr>
        <p:txBody>
          <a:bodyPr wrap="square" lIns="0" tIns="0" rIns="0" bIns="0" rtlCol="0" anchor="t"/>
          <a:lstStyle/>
          <a:p>
            <a:pPr indent="0" marL="0">
              <a:buNone/>
            </a:pPr>
            <a:r>
              <a:rPr lang="en-US" sz="1400" i="1" dirty="0">
                <a:solidFill>
                  <a:srgbClr val="4F5F65"/>
                </a:solidFill>
                <a:latin typeface="Calibri" pitchFamily="34" charset="0"/>
                <a:ea typeface="Calibri" pitchFamily="34" charset="-122"/>
                <a:cs typeface="Calibri" pitchFamily="34" charset="-120"/>
              </a:rPr>
              <a:t>Correlation-Aligned, Reconstruction-regularised, Elastic-anchored Domain Adaptation</a:t>
            </a:r>
            <a:endParaRPr lang="en-US" sz="1400" dirty="0"/>
          </a:p>
        </p:txBody>
      </p:sp>
      <p:sp>
        <p:nvSpPr>
          <p:cNvPr id="6" name="Shape 4"/>
          <p:cNvSpPr/>
          <p:nvPr/>
        </p:nvSpPr>
        <p:spPr>
          <a:xfrm>
            <a:off x="548640" y="2011680"/>
            <a:ext cx="2011680" cy="1005840"/>
          </a:xfrm>
          <a:prstGeom prst="roundRect">
            <a:avLst>
              <a:gd name="adj" fmla="val 9091"/>
            </a:avLst>
          </a:prstGeom>
          <a:solidFill>
            <a:srgbClr val="2F7F73"/>
          </a:solidFill>
          <a:ln w="12700">
            <a:solidFill>
              <a:srgbClr val="2F7F73"/>
            </a:solidFill>
            <a:prstDash val="solid"/>
          </a:ln>
        </p:spPr>
      </p:sp>
      <p:sp>
        <p:nvSpPr>
          <p:cNvPr id="7" name="Text 5"/>
          <p:cNvSpPr txBox="1"/>
          <p:nvPr/>
        </p:nvSpPr>
        <p:spPr>
          <a:xfrm>
            <a:off x="548640" y="2084832"/>
            <a:ext cx="2011680" cy="320040"/>
          </a:xfrm>
          <a:prstGeom prst="rect">
            <a:avLst/>
          </a:prstGeom>
          <a:noFill/>
          <a:ln/>
        </p:spPr>
        <p:txBody>
          <a:bodyPr wrap="square" lIns="0" tIns="0" rIns="0" bIns="0" rtlCol="0" anchor="t"/>
          <a:lstStyle/>
          <a:p>
            <a:pPr algn="ctr" indent="0" marL="0">
              <a:buNone/>
            </a:pPr>
            <a:r>
              <a:rPr lang="en-US" sz="1350" b="1" dirty="0">
                <a:solidFill>
                  <a:srgbClr val="FFFFFF"/>
                </a:solidFill>
                <a:latin typeface="Calibri" pitchFamily="34" charset="0"/>
                <a:ea typeface="Calibri" pitchFamily="34" charset="-122"/>
                <a:cs typeface="Calibri" pitchFamily="34" charset="-120"/>
              </a:rPr>
              <a:t>Source batch</a:t>
            </a:r>
            <a:endParaRPr lang="en-US" sz="1350" dirty="0"/>
          </a:p>
        </p:txBody>
      </p:sp>
      <p:sp>
        <p:nvSpPr>
          <p:cNvPr id="8" name="Text 6"/>
          <p:cNvSpPr txBox="1"/>
          <p:nvPr/>
        </p:nvSpPr>
        <p:spPr>
          <a:xfrm>
            <a:off x="621792" y="2395728"/>
            <a:ext cx="1865376" cy="594360"/>
          </a:xfrm>
          <a:prstGeom prst="rect">
            <a:avLst/>
          </a:prstGeom>
          <a:noFill/>
          <a:ln/>
        </p:spPr>
        <p:txBody>
          <a:bodyPr wrap="square" lIns="0" tIns="0" rIns="0" bIns="0" rtlCol="0" anchor="t"/>
          <a:lstStyle/>
          <a:p>
            <a:pPr algn="ctr" indent="0" marL="0">
              <a:buNone/>
            </a:pPr>
            <a:r>
              <a:rPr lang="en-US" sz="1050" dirty="0">
                <a:solidFill>
                  <a:srgbClr val="FFFFFF"/>
                </a:solidFill>
                <a:latin typeface="Calibri" pitchFamily="34" charset="0"/>
                <a:ea typeface="Calibri" pitchFamily="34" charset="-122"/>
                <a:cs typeface="Calibri" pitchFamily="34" charset="-120"/>
              </a:rPr>
              <a:t>(x_s, y_s) labeled</a:t>
            </a:r>
            <a:endParaRPr lang="en-US" sz="1050" dirty="0"/>
          </a:p>
        </p:txBody>
      </p:sp>
      <p:sp>
        <p:nvSpPr>
          <p:cNvPr id="9" name="Shape 7"/>
          <p:cNvSpPr/>
          <p:nvPr/>
        </p:nvSpPr>
        <p:spPr>
          <a:xfrm>
            <a:off x="548640" y="4023360"/>
            <a:ext cx="2011680" cy="1005840"/>
          </a:xfrm>
          <a:prstGeom prst="roundRect">
            <a:avLst>
              <a:gd name="adj" fmla="val 9091"/>
            </a:avLst>
          </a:prstGeom>
          <a:solidFill>
            <a:srgbClr val="D98A1E"/>
          </a:solidFill>
          <a:ln w="12700">
            <a:solidFill>
              <a:srgbClr val="D98A1E"/>
            </a:solidFill>
            <a:prstDash val="solid"/>
          </a:ln>
        </p:spPr>
      </p:sp>
      <p:sp>
        <p:nvSpPr>
          <p:cNvPr id="10" name="Text 8"/>
          <p:cNvSpPr txBox="1"/>
          <p:nvPr/>
        </p:nvSpPr>
        <p:spPr>
          <a:xfrm>
            <a:off x="548640" y="4096512"/>
            <a:ext cx="2011680" cy="320040"/>
          </a:xfrm>
          <a:prstGeom prst="rect">
            <a:avLst/>
          </a:prstGeom>
          <a:noFill/>
          <a:ln/>
        </p:spPr>
        <p:txBody>
          <a:bodyPr wrap="square" lIns="0" tIns="0" rIns="0" bIns="0" rtlCol="0" anchor="t"/>
          <a:lstStyle/>
          <a:p>
            <a:pPr algn="ctr" indent="0" marL="0">
              <a:buNone/>
            </a:pPr>
            <a:r>
              <a:rPr lang="en-US" sz="1350" b="1" dirty="0">
                <a:solidFill>
                  <a:srgbClr val="16232A"/>
                </a:solidFill>
                <a:latin typeface="Calibri" pitchFamily="34" charset="0"/>
                <a:ea typeface="Calibri" pitchFamily="34" charset="-122"/>
                <a:cs typeface="Calibri" pitchFamily="34" charset="-120"/>
              </a:rPr>
              <a:t>Target batch</a:t>
            </a:r>
            <a:endParaRPr lang="en-US" sz="1350" dirty="0"/>
          </a:p>
        </p:txBody>
      </p:sp>
      <p:sp>
        <p:nvSpPr>
          <p:cNvPr id="11" name="Text 9"/>
          <p:cNvSpPr txBox="1"/>
          <p:nvPr/>
        </p:nvSpPr>
        <p:spPr>
          <a:xfrm>
            <a:off x="621792" y="4407408"/>
            <a:ext cx="1865376" cy="594360"/>
          </a:xfrm>
          <a:prstGeom prst="rect">
            <a:avLst/>
          </a:prstGeom>
          <a:noFill/>
          <a:ln/>
        </p:spPr>
        <p:txBody>
          <a:bodyPr wrap="square" lIns="0" tIns="0" rIns="0" bIns="0" rtlCol="0" anchor="t"/>
          <a:lstStyle/>
          <a:p>
            <a:pPr algn="ctr" indent="0" marL="0">
              <a:buNone/>
            </a:pPr>
            <a:r>
              <a:rPr lang="en-US" sz="1050" dirty="0">
                <a:solidFill>
                  <a:srgbClr val="16232A"/>
                </a:solidFill>
                <a:latin typeface="Calibri" pitchFamily="34" charset="0"/>
                <a:ea typeface="Calibri" pitchFamily="34" charset="-122"/>
                <a:cs typeface="Calibri" pitchFamily="34" charset="-120"/>
              </a:rPr>
              <a:t>x_t only — no labels</a:t>
            </a:r>
            <a:endParaRPr lang="en-US" sz="1050" dirty="0"/>
          </a:p>
        </p:txBody>
      </p:sp>
      <p:sp>
        <p:nvSpPr>
          <p:cNvPr id="12" name="Shape 10"/>
          <p:cNvSpPr/>
          <p:nvPr/>
        </p:nvSpPr>
        <p:spPr>
          <a:xfrm>
            <a:off x="3063240" y="2788920"/>
            <a:ext cx="2103120" cy="1463040"/>
          </a:xfrm>
          <a:prstGeom prst="roundRect">
            <a:avLst>
              <a:gd name="adj" fmla="val 6250"/>
            </a:avLst>
          </a:prstGeom>
          <a:solidFill>
            <a:srgbClr val="16232A"/>
          </a:solidFill>
          <a:ln w="12700">
            <a:solidFill>
              <a:srgbClr val="16232A"/>
            </a:solidFill>
            <a:prstDash val="solid"/>
          </a:ln>
        </p:spPr>
      </p:sp>
      <p:sp>
        <p:nvSpPr>
          <p:cNvPr id="13" name="Text 11"/>
          <p:cNvSpPr txBox="1"/>
          <p:nvPr/>
        </p:nvSpPr>
        <p:spPr>
          <a:xfrm>
            <a:off x="3063240" y="2862072"/>
            <a:ext cx="2103120" cy="320040"/>
          </a:xfrm>
          <a:prstGeom prst="rect">
            <a:avLst/>
          </a:prstGeom>
          <a:noFill/>
          <a:ln/>
        </p:spPr>
        <p:txBody>
          <a:bodyPr wrap="square" lIns="0" tIns="0" rIns="0" bIns="0" rtlCol="0" anchor="t"/>
          <a:lstStyle/>
          <a:p>
            <a:pPr algn="ctr" indent="0" marL="0">
              <a:buNone/>
            </a:pPr>
            <a:r>
              <a:rPr lang="en-US" sz="1350" b="1" dirty="0">
                <a:solidFill>
                  <a:srgbClr val="FFFFFF"/>
                </a:solidFill>
                <a:latin typeface="Calibri" pitchFamily="34" charset="0"/>
                <a:ea typeface="Calibri" pitchFamily="34" charset="-122"/>
                <a:cs typeface="Calibri" pitchFamily="34" charset="-120"/>
              </a:rPr>
              <a:t>Shared LiteTCN</a:t>
            </a:r>
            <a:endParaRPr lang="en-US" sz="1350" dirty="0"/>
          </a:p>
        </p:txBody>
      </p:sp>
      <p:sp>
        <p:nvSpPr>
          <p:cNvPr id="14" name="Text 12"/>
          <p:cNvSpPr txBox="1"/>
          <p:nvPr/>
        </p:nvSpPr>
        <p:spPr>
          <a:xfrm>
            <a:off x="3136392" y="3172968"/>
            <a:ext cx="1956816" cy="1051560"/>
          </a:xfrm>
          <a:prstGeom prst="rect">
            <a:avLst/>
          </a:prstGeom>
          <a:noFill/>
          <a:ln/>
        </p:spPr>
        <p:txBody>
          <a:bodyPr wrap="square" lIns="0" tIns="0" rIns="0" bIns="0" rtlCol="0" anchor="t"/>
          <a:lstStyle/>
          <a:p>
            <a:pPr algn="ctr" indent="0" marL="0">
              <a:buNone/>
            </a:pPr>
            <a:r>
              <a:rPr lang="en-US" sz="1050" dirty="0">
                <a:solidFill>
                  <a:srgbClr val="FFFFFF"/>
                </a:solidFill>
                <a:latin typeface="Calibri" pitchFamily="34" charset="0"/>
                <a:ea typeface="Calibri" pitchFamily="34" charset="-122"/>
                <a:cs typeface="Calibri" pitchFamily="34" charset="-120"/>
              </a:rPr>
              <a:t>weights θ, initialised</a:t>
            </a:r>
            <a:endParaRPr lang="en-US" sz="1050" dirty="0"/>
          </a:p>
          <a:p>
            <a:pPr algn="ctr" indent="0" marL="0">
              <a:buNone/>
            </a:pPr>
            <a:r>
              <a:rPr lang="en-US" sz="1050" dirty="0">
                <a:solidFill>
                  <a:srgbClr val="FFFFFF"/>
                </a:solidFill>
                <a:latin typeface="Calibri" pitchFamily="34" charset="0"/>
                <a:ea typeface="Calibri" pitchFamily="34" charset="-122"/>
                <a:cs typeface="Calibri" pitchFamily="34" charset="-120"/>
              </a:rPr>
              <a:t>from source model θ_S</a:t>
            </a:r>
            <a:endParaRPr lang="en-US" sz="1050" dirty="0"/>
          </a:p>
        </p:txBody>
      </p:sp>
      <p:sp>
        <p:nvSpPr>
          <p:cNvPr id="15" name="Shape 13"/>
          <p:cNvSpPr/>
          <p:nvPr/>
        </p:nvSpPr>
        <p:spPr>
          <a:xfrm>
            <a:off x="2560320" y="2514600"/>
            <a:ext cx="502920" cy="685800"/>
          </a:xfrm>
          <a:prstGeom prst="line">
            <a:avLst/>
          </a:prstGeom>
          <a:noFill/>
          <a:ln w="25400">
            <a:solidFill>
              <a:srgbClr val="2F7F73"/>
            </a:solidFill>
            <a:prstDash val="solid"/>
            <a:tailEnd type="triangle"/>
          </a:ln>
        </p:spPr>
      </p:sp>
      <p:sp>
        <p:nvSpPr>
          <p:cNvPr id="16" name="Shape 14"/>
          <p:cNvSpPr/>
          <p:nvPr/>
        </p:nvSpPr>
        <p:spPr>
          <a:xfrm flipV="1">
            <a:off x="2560320" y="3840480"/>
            <a:ext cx="502920" cy="685800"/>
          </a:xfrm>
          <a:prstGeom prst="line">
            <a:avLst/>
          </a:prstGeom>
          <a:noFill/>
          <a:ln w="25400">
            <a:solidFill>
              <a:srgbClr val="D98A1E"/>
            </a:solidFill>
            <a:prstDash val="solid"/>
            <a:tailEnd type="triangle"/>
          </a:ln>
        </p:spPr>
      </p:sp>
      <p:sp>
        <p:nvSpPr>
          <p:cNvPr id="17" name="Shape 15"/>
          <p:cNvSpPr/>
          <p:nvPr/>
        </p:nvSpPr>
        <p:spPr>
          <a:xfrm flipV="1">
            <a:off x="5166360" y="2167128"/>
            <a:ext cx="548640" cy="1353312"/>
          </a:xfrm>
          <a:prstGeom prst="line">
            <a:avLst/>
          </a:prstGeom>
          <a:noFill/>
          <a:ln w="15875">
            <a:solidFill>
              <a:srgbClr val="7C8B90"/>
            </a:solidFill>
            <a:prstDash val="solid"/>
            <a:tailEnd type="triangle"/>
          </a:ln>
        </p:spPr>
      </p:sp>
      <p:sp>
        <p:nvSpPr>
          <p:cNvPr id="18" name="Shape 16"/>
          <p:cNvSpPr/>
          <p:nvPr/>
        </p:nvSpPr>
        <p:spPr>
          <a:xfrm>
            <a:off x="5715000" y="1783080"/>
            <a:ext cx="3291840" cy="777240"/>
          </a:xfrm>
          <a:prstGeom prst="roundRect">
            <a:avLst>
              <a:gd name="adj" fmla="val 9412"/>
            </a:avLst>
          </a:prstGeom>
          <a:solidFill>
            <a:srgbClr val="FFFFFF"/>
          </a:solidFill>
          <a:ln w="19050">
            <a:solidFill>
              <a:srgbClr val="2F7F73"/>
            </a:solidFill>
            <a:prstDash val="solid"/>
          </a:ln>
        </p:spPr>
      </p:sp>
      <p:sp>
        <p:nvSpPr>
          <p:cNvPr id="19" name="Text 17"/>
          <p:cNvSpPr txBox="1"/>
          <p:nvPr/>
        </p:nvSpPr>
        <p:spPr>
          <a:xfrm>
            <a:off x="5852160" y="1847088"/>
            <a:ext cx="1188720" cy="320040"/>
          </a:xfrm>
          <a:prstGeom prst="rect">
            <a:avLst/>
          </a:prstGeom>
          <a:noFill/>
          <a:ln/>
        </p:spPr>
        <p:txBody>
          <a:bodyPr wrap="square" lIns="0" tIns="0" rIns="0" bIns="0" rtlCol="0" anchor="t"/>
          <a:lstStyle/>
          <a:p>
            <a:pPr indent="0" marL="0">
              <a:buNone/>
            </a:pPr>
            <a:r>
              <a:rPr lang="en-US" sz="1400" b="1" dirty="0">
                <a:solidFill>
                  <a:srgbClr val="2F7F73"/>
                </a:solidFill>
                <a:latin typeface="Consolas" pitchFamily="34" charset="0"/>
                <a:ea typeface="Consolas" pitchFamily="34" charset="-122"/>
                <a:cs typeface="Consolas" pitchFamily="34" charset="-120"/>
              </a:rPr>
              <a:t>L_fcst</a:t>
            </a:r>
            <a:endParaRPr lang="en-US" sz="1400" dirty="0"/>
          </a:p>
        </p:txBody>
      </p:sp>
      <p:sp>
        <p:nvSpPr>
          <p:cNvPr id="20" name="Text 18"/>
          <p:cNvSpPr txBox="1"/>
          <p:nvPr/>
        </p:nvSpPr>
        <p:spPr>
          <a:xfrm>
            <a:off x="7040880" y="1865376"/>
            <a:ext cx="1920240" cy="320040"/>
          </a:xfrm>
          <a:prstGeom prst="rect">
            <a:avLst/>
          </a:prstGeom>
          <a:noFill/>
          <a:ln/>
        </p:spPr>
        <p:txBody>
          <a:bodyPr wrap="square" lIns="0" tIns="0" rIns="0" bIns="0" rtlCol="0" anchor="t"/>
          <a:lstStyle/>
          <a:p>
            <a:pPr indent="0" marL="0">
              <a:buNone/>
            </a:pPr>
            <a:r>
              <a:rPr lang="en-US" sz="1100" dirty="0">
                <a:solidFill>
                  <a:srgbClr val="1B2B31"/>
                </a:solidFill>
                <a:latin typeface="Calibri" pitchFamily="34" charset="0"/>
                <a:ea typeface="Calibri" pitchFamily="34" charset="-122"/>
                <a:cs typeface="Calibri" pitchFamily="34" charset="-120"/>
              </a:rPr>
              <a:t>MSE(ŷ_s, y_s)</a:t>
            </a:r>
            <a:endParaRPr lang="en-US" sz="1100" dirty="0"/>
          </a:p>
        </p:txBody>
      </p:sp>
      <p:sp>
        <p:nvSpPr>
          <p:cNvPr id="21" name="Text 19"/>
          <p:cNvSpPr txBox="1"/>
          <p:nvPr/>
        </p:nvSpPr>
        <p:spPr>
          <a:xfrm>
            <a:off x="5852160" y="2194560"/>
            <a:ext cx="3108960" cy="274320"/>
          </a:xfrm>
          <a:prstGeom prst="rect">
            <a:avLst/>
          </a:prstGeom>
          <a:noFill/>
          <a:ln/>
        </p:spPr>
        <p:txBody>
          <a:bodyPr wrap="square" lIns="0" tIns="0" rIns="0" bIns="0" rtlCol="0" anchor="t"/>
          <a:lstStyle/>
          <a:p>
            <a:pPr indent="0" marL="0">
              <a:buNone/>
            </a:pPr>
            <a:r>
              <a:rPr lang="en-US" sz="1050" i="1" dirty="0">
                <a:solidFill>
                  <a:srgbClr val="4F5F65"/>
                </a:solidFill>
                <a:latin typeface="Calibri" pitchFamily="34" charset="0"/>
                <a:ea typeface="Calibri" pitchFamily="34" charset="-122"/>
                <a:cs typeface="Calibri" pitchFamily="34" charset="-120"/>
              </a:rPr>
              <a:t>keeps source skill</a:t>
            </a:r>
            <a:endParaRPr lang="en-US" sz="1050" dirty="0"/>
          </a:p>
        </p:txBody>
      </p:sp>
      <p:sp>
        <p:nvSpPr>
          <p:cNvPr id="22" name="Shape 20"/>
          <p:cNvSpPr/>
          <p:nvPr/>
        </p:nvSpPr>
        <p:spPr>
          <a:xfrm flipV="1">
            <a:off x="5166360" y="3172968"/>
            <a:ext cx="548640" cy="347472"/>
          </a:xfrm>
          <a:prstGeom prst="line">
            <a:avLst/>
          </a:prstGeom>
          <a:noFill/>
          <a:ln w="15875">
            <a:solidFill>
              <a:srgbClr val="7C8B90"/>
            </a:solidFill>
            <a:prstDash val="solid"/>
            <a:tailEnd type="triangle"/>
          </a:ln>
        </p:spPr>
      </p:sp>
      <p:sp>
        <p:nvSpPr>
          <p:cNvPr id="23" name="Shape 21"/>
          <p:cNvSpPr/>
          <p:nvPr/>
        </p:nvSpPr>
        <p:spPr>
          <a:xfrm>
            <a:off x="5715000" y="2788920"/>
            <a:ext cx="3291840" cy="777240"/>
          </a:xfrm>
          <a:prstGeom prst="roundRect">
            <a:avLst>
              <a:gd name="adj" fmla="val 9412"/>
            </a:avLst>
          </a:prstGeom>
          <a:solidFill>
            <a:srgbClr val="FFFFFF"/>
          </a:solidFill>
          <a:ln w="19050">
            <a:solidFill>
              <a:srgbClr val="D98A1E"/>
            </a:solidFill>
            <a:prstDash val="solid"/>
          </a:ln>
        </p:spPr>
      </p:sp>
      <p:sp>
        <p:nvSpPr>
          <p:cNvPr id="24" name="Text 22"/>
          <p:cNvSpPr txBox="1"/>
          <p:nvPr/>
        </p:nvSpPr>
        <p:spPr>
          <a:xfrm>
            <a:off x="5852160" y="2852928"/>
            <a:ext cx="1188720" cy="320040"/>
          </a:xfrm>
          <a:prstGeom prst="rect">
            <a:avLst/>
          </a:prstGeom>
          <a:noFill/>
          <a:ln/>
        </p:spPr>
        <p:txBody>
          <a:bodyPr wrap="square" lIns="0" tIns="0" rIns="0" bIns="0" rtlCol="0" anchor="t"/>
          <a:lstStyle/>
          <a:p>
            <a:pPr indent="0" marL="0">
              <a:buNone/>
            </a:pPr>
            <a:r>
              <a:rPr lang="en-US" sz="1400" b="1" dirty="0">
                <a:solidFill>
                  <a:srgbClr val="A5650F"/>
                </a:solidFill>
                <a:latin typeface="Consolas" pitchFamily="34" charset="0"/>
                <a:ea typeface="Consolas" pitchFamily="34" charset="-122"/>
                <a:cs typeface="Consolas" pitchFamily="34" charset="-120"/>
              </a:rPr>
              <a:t>L_align</a:t>
            </a:r>
            <a:endParaRPr lang="en-US" sz="1400" dirty="0"/>
          </a:p>
        </p:txBody>
      </p:sp>
      <p:sp>
        <p:nvSpPr>
          <p:cNvPr id="25" name="Text 23"/>
          <p:cNvSpPr txBox="1"/>
          <p:nvPr/>
        </p:nvSpPr>
        <p:spPr>
          <a:xfrm>
            <a:off x="7040880" y="2871216"/>
            <a:ext cx="1920240" cy="320040"/>
          </a:xfrm>
          <a:prstGeom prst="rect">
            <a:avLst/>
          </a:prstGeom>
          <a:noFill/>
          <a:ln/>
        </p:spPr>
        <p:txBody>
          <a:bodyPr wrap="square" lIns="0" tIns="0" rIns="0" bIns="0" rtlCol="0" anchor="t"/>
          <a:lstStyle/>
          <a:p>
            <a:pPr indent="0" marL="0">
              <a:buNone/>
            </a:pPr>
            <a:r>
              <a:rPr lang="en-US" sz="1100" dirty="0">
                <a:solidFill>
                  <a:srgbClr val="1B2B31"/>
                </a:solidFill>
                <a:latin typeface="Calibri" pitchFamily="34" charset="0"/>
                <a:ea typeface="Calibri" pitchFamily="34" charset="-122"/>
                <a:cs typeface="Calibri" pitchFamily="34" charset="-120"/>
              </a:rPr>
              <a:t>MMD² + CORAL on (z_s, z_t)</a:t>
            </a:r>
            <a:endParaRPr lang="en-US" sz="1100" dirty="0"/>
          </a:p>
        </p:txBody>
      </p:sp>
      <p:sp>
        <p:nvSpPr>
          <p:cNvPr id="26" name="Text 24"/>
          <p:cNvSpPr txBox="1"/>
          <p:nvPr/>
        </p:nvSpPr>
        <p:spPr>
          <a:xfrm>
            <a:off x="5852160" y="3200400"/>
            <a:ext cx="3108960" cy="274320"/>
          </a:xfrm>
          <a:prstGeom prst="rect">
            <a:avLst/>
          </a:prstGeom>
          <a:noFill/>
          <a:ln/>
        </p:spPr>
        <p:txBody>
          <a:bodyPr wrap="square" lIns="0" tIns="0" rIns="0" bIns="0" rtlCol="0" anchor="t"/>
          <a:lstStyle/>
          <a:p>
            <a:pPr indent="0" marL="0">
              <a:buNone/>
            </a:pPr>
            <a:r>
              <a:rPr lang="en-US" sz="1050" i="1" dirty="0">
                <a:solidFill>
                  <a:srgbClr val="4F5F65"/>
                </a:solidFill>
                <a:latin typeface="Calibri" pitchFamily="34" charset="0"/>
                <a:ea typeface="Calibri" pitchFamily="34" charset="-122"/>
                <a:cs typeface="Calibri" pitchFamily="34" charset="-120"/>
              </a:rPr>
              <a:t>closes domain gap</a:t>
            </a:r>
            <a:endParaRPr lang="en-US" sz="1050" dirty="0"/>
          </a:p>
        </p:txBody>
      </p:sp>
      <p:sp>
        <p:nvSpPr>
          <p:cNvPr id="27" name="Shape 25"/>
          <p:cNvSpPr/>
          <p:nvPr/>
        </p:nvSpPr>
        <p:spPr>
          <a:xfrm>
            <a:off x="5166360" y="3520440"/>
            <a:ext cx="548640" cy="658368"/>
          </a:xfrm>
          <a:prstGeom prst="line">
            <a:avLst/>
          </a:prstGeom>
          <a:noFill/>
          <a:ln w="15875">
            <a:solidFill>
              <a:srgbClr val="7C8B90"/>
            </a:solidFill>
            <a:prstDash val="solid"/>
            <a:tailEnd type="triangle"/>
          </a:ln>
        </p:spPr>
      </p:sp>
      <p:sp>
        <p:nvSpPr>
          <p:cNvPr id="28" name="Shape 26"/>
          <p:cNvSpPr/>
          <p:nvPr/>
        </p:nvSpPr>
        <p:spPr>
          <a:xfrm>
            <a:off x="5715000" y="3794760"/>
            <a:ext cx="3291840" cy="777240"/>
          </a:xfrm>
          <a:prstGeom prst="roundRect">
            <a:avLst>
              <a:gd name="adj" fmla="val 9412"/>
            </a:avLst>
          </a:prstGeom>
          <a:solidFill>
            <a:srgbClr val="FFFFFF"/>
          </a:solidFill>
          <a:ln w="19050">
            <a:solidFill>
              <a:srgbClr val="D98A1E"/>
            </a:solidFill>
            <a:prstDash val="solid"/>
          </a:ln>
        </p:spPr>
      </p:sp>
      <p:sp>
        <p:nvSpPr>
          <p:cNvPr id="29" name="Text 27"/>
          <p:cNvSpPr txBox="1"/>
          <p:nvPr/>
        </p:nvSpPr>
        <p:spPr>
          <a:xfrm>
            <a:off x="5852160" y="3858768"/>
            <a:ext cx="1188720" cy="320040"/>
          </a:xfrm>
          <a:prstGeom prst="rect">
            <a:avLst/>
          </a:prstGeom>
          <a:noFill/>
          <a:ln/>
        </p:spPr>
        <p:txBody>
          <a:bodyPr wrap="square" lIns="0" tIns="0" rIns="0" bIns="0" rtlCol="0" anchor="t"/>
          <a:lstStyle/>
          <a:p>
            <a:pPr indent="0" marL="0">
              <a:buNone/>
            </a:pPr>
            <a:r>
              <a:rPr lang="en-US" sz="1400" b="1" dirty="0">
                <a:solidFill>
                  <a:srgbClr val="A5650F"/>
                </a:solidFill>
                <a:latin typeface="Consolas" pitchFamily="34" charset="0"/>
                <a:ea typeface="Consolas" pitchFamily="34" charset="-122"/>
                <a:cs typeface="Consolas" pitchFamily="34" charset="-120"/>
              </a:rPr>
              <a:t>L_SSL</a:t>
            </a:r>
            <a:endParaRPr lang="en-US" sz="1400" dirty="0"/>
          </a:p>
        </p:txBody>
      </p:sp>
      <p:sp>
        <p:nvSpPr>
          <p:cNvPr id="30" name="Text 28"/>
          <p:cNvSpPr txBox="1"/>
          <p:nvPr/>
        </p:nvSpPr>
        <p:spPr>
          <a:xfrm>
            <a:off x="7040880" y="3877056"/>
            <a:ext cx="1920240" cy="320040"/>
          </a:xfrm>
          <a:prstGeom prst="rect">
            <a:avLst/>
          </a:prstGeom>
          <a:noFill/>
          <a:ln/>
        </p:spPr>
        <p:txBody>
          <a:bodyPr wrap="square" lIns="0" tIns="0" rIns="0" bIns="0" rtlCol="0" anchor="t"/>
          <a:lstStyle/>
          <a:p>
            <a:pPr indent="0" marL="0">
              <a:buNone/>
            </a:pPr>
            <a:r>
              <a:rPr lang="en-US" sz="1100" dirty="0">
                <a:solidFill>
                  <a:srgbClr val="1B2B31"/>
                </a:solidFill>
                <a:latin typeface="Calibri" pitchFamily="34" charset="0"/>
                <a:ea typeface="Calibri" pitchFamily="34" charset="-122"/>
                <a:cs typeface="Calibri" pitchFamily="34" charset="-120"/>
              </a:rPr>
              <a:t>masked recon of x_t</a:t>
            </a:r>
            <a:endParaRPr lang="en-US" sz="1100" dirty="0"/>
          </a:p>
        </p:txBody>
      </p:sp>
      <p:sp>
        <p:nvSpPr>
          <p:cNvPr id="31" name="Text 29"/>
          <p:cNvSpPr txBox="1"/>
          <p:nvPr/>
        </p:nvSpPr>
        <p:spPr>
          <a:xfrm>
            <a:off x="5852160" y="4206240"/>
            <a:ext cx="3108960" cy="274320"/>
          </a:xfrm>
          <a:prstGeom prst="rect">
            <a:avLst/>
          </a:prstGeom>
          <a:noFill/>
          <a:ln/>
        </p:spPr>
        <p:txBody>
          <a:bodyPr wrap="square" lIns="0" tIns="0" rIns="0" bIns="0" rtlCol="0" anchor="t"/>
          <a:lstStyle/>
          <a:p>
            <a:pPr indent="0" marL="0">
              <a:buNone/>
            </a:pPr>
            <a:r>
              <a:rPr lang="en-US" sz="1050" i="1" dirty="0">
                <a:solidFill>
                  <a:srgbClr val="4F5F65"/>
                </a:solidFill>
                <a:latin typeface="Calibri" pitchFamily="34" charset="0"/>
                <a:ea typeface="Calibri" pitchFamily="34" charset="-122"/>
                <a:cs typeface="Calibri" pitchFamily="34" charset="-120"/>
              </a:rPr>
              <a:t>target-specific features</a:t>
            </a:r>
            <a:endParaRPr lang="en-US" sz="1050" dirty="0"/>
          </a:p>
        </p:txBody>
      </p:sp>
      <p:sp>
        <p:nvSpPr>
          <p:cNvPr id="32" name="Shape 30"/>
          <p:cNvSpPr/>
          <p:nvPr/>
        </p:nvSpPr>
        <p:spPr>
          <a:xfrm>
            <a:off x="5166360" y="3520440"/>
            <a:ext cx="548640" cy="1664208"/>
          </a:xfrm>
          <a:prstGeom prst="line">
            <a:avLst/>
          </a:prstGeom>
          <a:noFill/>
          <a:ln w="15875">
            <a:solidFill>
              <a:srgbClr val="7C8B90"/>
            </a:solidFill>
            <a:prstDash val="solid"/>
            <a:tailEnd type="triangle"/>
          </a:ln>
        </p:spPr>
      </p:sp>
      <p:sp>
        <p:nvSpPr>
          <p:cNvPr id="33" name="Shape 31"/>
          <p:cNvSpPr/>
          <p:nvPr/>
        </p:nvSpPr>
        <p:spPr>
          <a:xfrm>
            <a:off x="5715000" y="4800600"/>
            <a:ext cx="3291840" cy="777240"/>
          </a:xfrm>
          <a:prstGeom prst="roundRect">
            <a:avLst>
              <a:gd name="adj" fmla="val 9412"/>
            </a:avLst>
          </a:prstGeom>
          <a:solidFill>
            <a:srgbClr val="FFFFFF"/>
          </a:solidFill>
          <a:ln w="19050">
            <a:solidFill>
              <a:srgbClr val="B5473A"/>
            </a:solidFill>
            <a:prstDash val="solid"/>
          </a:ln>
        </p:spPr>
      </p:sp>
      <p:sp>
        <p:nvSpPr>
          <p:cNvPr id="34" name="Text 32"/>
          <p:cNvSpPr txBox="1"/>
          <p:nvPr/>
        </p:nvSpPr>
        <p:spPr>
          <a:xfrm>
            <a:off x="5852160" y="4864608"/>
            <a:ext cx="1188720" cy="320040"/>
          </a:xfrm>
          <a:prstGeom prst="rect">
            <a:avLst/>
          </a:prstGeom>
          <a:noFill/>
          <a:ln/>
        </p:spPr>
        <p:txBody>
          <a:bodyPr wrap="square" lIns="0" tIns="0" rIns="0" bIns="0" rtlCol="0" anchor="t"/>
          <a:lstStyle/>
          <a:p>
            <a:pPr indent="0" marL="0">
              <a:buNone/>
            </a:pPr>
            <a:r>
              <a:rPr lang="en-US" sz="1400" b="1" dirty="0">
                <a:solidFill>
                  <a:srgbClr val="B5473A"/>
                </a:solidFill>
                <a:latin typeface="Consolas" pitchFamily="34" charset="0"/>
                <a:ea typeface="Consolas" pitchFamily="34" charset="-122"/>
                <a:cs typeface="Consolas" pitchFamily="34" charset="-120"/>
              </a:rPr>
              <a:t>L_anchor</a:t>
            </a:r>
            <a:endParaRPr lang="en-US" sz="1400" dirty="0"/>
          </a:p>
        </p:txBody>
      </p:sp>
      <p:sp>
        <p:nvSpPr>
          <p:cNvPr id="35" name="Text 33"/>
          <p:cNvSpPr txBox="1"/>
          <p:nvPr/>
        </p:nvSpPr>
        <p:spPr>
          <a:xfrm>
            <a:off x="7040880" y="4882896"/>
            <a:ext cx="1920240" cy="320040"/>
          </a:xfrm>
          <a:prstGeom prst="rect">
            <a:avLst/>
          </a:prstGeom>
          <a:noFill/>
          <a:ln/>
        </p:spPr>
        <p:txBody>
          <a:bodyPr wrap="square" lIns="0" tIns="0" rIns="0" bIns="0" rtlCol="0" anchor="t"/>
          <a:lstStyle/>
          <a:p>
            <a:pPr indent="0" marL="0">
              <a:buNone/>
            </a:pPr>
            <a:r>
              <a:rPr lang="en-US" sz="1100" dirty="0">
                <a:solidFill>
                  <a:srgbClr val="1B2B31"/>
                </a:solidFill>
                <a:latin typeface="Calibri" pitchFamily="34" charset="0"/>
                <a:ea typeface="Calibri" pitchFamily="34" charset="-122"/>
                <a:cs typeface="Calibri" pitchFamily="34" charset="-120"/>
              </a:rPr>
              <a:t>‖θ − θ_S‖²</a:t>
            </a:r>
            <a:endParaRPr lang="en-US" sz="1100" dirty="0"/>
          </a:p>
        </p:txBody>
      </p:sp>
      <p:sp>
        <p:nvSpPr>
          <p:cNvPr id="36" name="Text 34"/>
          <p:cNvSpPr txBox="1"/>
          <p:nvPr/>
        </p:nvSpPr>
        <p:spPr>
          <a:xfrm>
            <a:off x="5852160" y="5212080"/>
            <a:ext cx="3108960" cy="274320"/>
          </a:xfrm>
          <a:prstGeom prst="rect">
            <a:avLst/>
          </a:prstGeom>
          <a:noFill/>
          <a:ln/>
        </p:spPr>
        <p:txBody>
          <a:bodyPr wrap="square" lIns="0" tIns="0" rIns="0" bIns="0" rtlCol="0" anchor="t"/>
          <a:lstStyle/>
          <a:p>
            <a:pPr indent="0" marL="0">
              <a:buNone/>
            </a:pPr>
            <a:r>
              <a:rPr lang="en-US" sz="1050" i="1" dirty="0">
                <a:solidFill>
                  <a:srgbClr val="4F5F65"/>
                </a:solidFill>
                <a:latin typeface="Calibri" pitchFamily="34" charset="0"/>
                <a:ea typeface="Calibri" pitchFamily="34" charset="-122"/>
                <a:cs typeface="Calibri" pitchFamily="34" charset="-120"/>
              </a:rPr>
              <a:t>no forgetting / collapse</a:t>
            </a:r>
            <a:endParaRPr lang="en-US" sz="1050" dirty="0"/>
          </a:p>
        </p:txBody>
      </p:sp>
      <p:sp>
        <p:nvSpPr>
          <p:cNvPr id="37" name="Shape 35"/>
          <p:cNvSpPr/>
          <p:nvPr/>
        </p:nvSpPr>
        <p:spPr>
          <a:xfrm>
            <a:off x="9281160" y="1783080"/>
            <a:ext cx="2359152" cy="3794760"/>
          </a:xfrm>
          <a:prstGeom prst="roundRect">
            <a:avLst>
              <a:gd name="adj" fmla="val 3101"/>
            </a:avLst>
          </a:prstGeom>
          <a:solidFill>
            <a:srgbClr val="16232A"/>
          </a:solidFill>
          <a:ln w="12700">
            <a:solidFill>
              <a:srgbClr val="16232A"/>
            </a:solidFill>
            <a:prstDash val="solid"/>
          </a:ln>
        </p:spPr>
      </p:sp>
      <p:sp>
        <p:nvSpPr>
          <p:cNvPr id="38" name="Text 36"/>
          <p:cNvSpPr txBox="1"/>
          <p:nvPr/>
        </p:nvSpPr>
        <p:spPr>
          <a:xfrm>
            <a:off x="9464040" y="1938528"/>
            <a:ext cx="2011680" cy="320040"/>
          </a:xfrm>
          <a:prstGeom prst="rect">
            <a:avLst/>
          </a:prstGeom>
          <a:noFill/>
          <a:ln/>
        </p:spPr>
        <p:txBody>
          <a:bodyPr wrap="square" lIns="0" tIns="0" rIns="0" bIns="0" rtlCol="0" anchor="t"/>
          <a:lstStyle/>
          <a:p>
            <a:pPr indent="0" marL="0">
              <a:buNone/>
            </a:pPr>
            <a:r>
              <a:rPr lang="en-US" sz="1300" b="1" dirty="0">
                <a:solidFill>
                  <a:srgbClr val="6FB3A6"/>
                </a:solidFill>
                <a:latin typeface="Calibri" pitchFamily="34" charset="0"/>
                <a:ea typeface="Calibri" pitchFamily="34" charset="-122"/>
                <a:cs typeface="Calibri" pitchFamily="34" charset="-120"/>
              </a:rPr>
              <a:t>One training step</a:t>
            </a:r>
            <a:endParaRPr lang="en-US" sz="1300" dirty="0"/>
          </a:p>
        </p:txBody>
      </p:sp>
      <p:sp>
        <p:nvSpPr>
          <p:cNvPr id="39" name="Text 37"/>
          <p:cNvSpPr txBox="1"/>
          <p:nvPr/>
        </p:nvSpPr>
        <p:spPr>
          <a:xfrm>
            <a:off x="9464040" y="2331720"/>
            <a:ext cx="2057400" cy="310896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150" dirty="0">
                <a:solidFill>
                  <a:srgbClr val="E6F0EE"/>
                </a:solidFill>
                <a:latin typeface="Calibri" pitchFamily="34" charset="0"/>
                <a:ea typeface="Calibri" pitchFamily="34" charset="-122"/>
                <a:cs typeface="Calibri" pitchFamily="34" charset="-120"/>
              </a:rPr>
              <a:t>Sample a source and a target batch</a:t>
            </a:r>
            <a:endParaRPr lang="en-US" sz="1150" dirty="0"/>
          </a:p>
          <a:p>
            <a:pPr marL="342900" indent="-342900">
              <a:spcAft>
                <a:spcPts val="500"/>
              </a:spcAft>
              <a:buSzPct val="100000"/>
              <a:buFont typeface="+mj-lt"/>
              <a:buAutoNum type="arabicPeriod" startAt="1"/>
            </a:pPr>
            <a:r>
              <a:rPr lang="en-US" sz="1150" dirty="0">
                <a:solidFill>
                  <a:srgbClr val="E6F0EE"/>
                </a:solidFill>
                <a:latin typeface="Calibri" pitchFamily="34" charset="0"/>
                <a:ea typeface="Calibri" pitchFamily="34" charset="-122"/>
                <a:cs typeface="Calibri" pitchFamily="34" charset="-120"/>
              </a:rPr>
              <a:t>Forward both through the shared model</a:t>
            </a:r>
            <a:endParaRPr lang="en-US" sz="1150" dirty="0"/>
          </a:p>
          <a:p>
            <a:pPr marL="342900" indent="-342900">
              <a:spcAft>
                <a:spcPts val="500"/>
              </a:spcAft>
              <a:buSzPct val="100000"/>
              <a:buFont typeface="+mj-lt"/>
              <a:buAutoNum type="arabicPeriod" startAt="1"/>
            </a:pPr>
            <a:r>
              <a:rPr lang="en-US" sz="1150" dirty="0">
                <a:solidFill>
                  <a:srgbClr val="E6F0EE"/>
                </a:solidFill>
                <a:latin typeface="Calibri" pitchFamily="34" charset="0"/>
                <a:ea typeface="Calibri" pitchFamily="34" charset="-122"/>
                <a:cs typeface="Calibri" pitchFamily="34" charset="-120"/>
              </a:rPr>
              <a:t>Compute the 4 loss terms</a:t>
            </a:r>
            <a:endParaRPr lang="en-US" sz="1150" dirty="0"/>
          </a:p>
          <a:p>
            <a:pPr marL="342900" indent="-342900">
              <a:spcAft>
                <a:spcPts val="500"/>
              </a:spcAft>
              <a:buSzPct val="100000"/>
              <a:buFont typeface="+mj-lt"/>
              <a:buAutoNum type="arabicPeriod" startAt="1"/>
            </a:pPr>
            <a:r>
              <a:rPr lang="en-US" sz="1150" dirty="0">
                <a:solidFill>
                  <a:srgbClr val="E6F0EE"/>
                </a:solidFill>
                <a:latin typeface="Calibri" pitchFamily="34" charset="0"/>
                <a:ea typeface="Calibri" pitchFamily="34" charset="-122"/>
                <a:cs typeface="Calibri" pitchFamily="34" charset="-120"/>
              </a:rPr>
              <a:t>One AdamW update of θ</a:t>
            </a:r>
            <a:endParaRPr lang="en-US" sz="1150" dirty="0"/>
          </a:p>
          <a:p>
            <a:pPr marL="342900" indent="-342900">
              <a:spcAft>
                <a:spcPts val="500"/>
              </a:spcAft>
              <a:buSzPct val="100000"/>
              <a:buFont typeface="+mj-lt"/>
              <a:buAutoNum type="arabicPeriod" startAt="1"/>
            </a:pPr>
            <a:r>
              <a:rPr lang="en-US" sz="1150" dirty="0">
                <a:solidFill>
                  <a:srgbClr val="E6F0EE"/>
                </a:solidFill>
                <a:latin typeface="Calibri" pitchFamily="34" charset="0"/>
                <a:ea typeface="Calibri" pitchFamily="34" charset="-122"/>
                <a:cs typeface="Calibri" pitchFamily="34" charset="-120"/>
              </a:rPr>
              <a:t>Log each term, feature MMD and source error per epoch</a:t>
            </a:r>
            <a:endParaRPr lang="en-US" sz="1150" dirty="0"/>
          </a:p>
        </p:txBody>
      </p:sp>
      <p:sp>
        <p:nvSpPr>
          <p:cNvPr id="40" name="Text 38"/>
          <p:cNvSpPr txBox="1"/>
          <p:nvPr/>
        </p:nvSpPr>
        <p:spPr>
          <a:xfrm>
            <a:off x="548640" y="5852160"/>
            <a:ext cx="11064240" cy="365760"/>
          </a:xfrm>
          <a:prstGeom prst="rect">
            <a:avLst/>
          </a:prstGeom>
          <a:noFill/>
          <a:ln/>
        </p:spPr>
        <p:txBody>
          <a:bodyPr wrap="square" lIns="0" tIns="0" rIns="0" bIns="0" rtlCol="0" anchor="t"/>
          <a:lstStyle/>
          <a:p>
            <a:pPr indent="0" marL="0">
              <a:buNone/>
            </a:pPr>
            <a:r>
              <a:rPr lang="en-US" sz="1300" i="1" dirty="0">
                <a:solidFill>
                  <a:srgbClr val="4F5F65"/>
                </a:solidFill>
                <a:latin typeface="Calibri" pitchFamily="34" charset="0"/>
                <a:ea typeface="Calibri" pitchFamily="34" charset="-122"/>
                <a:cs typeface="Calibri" pitchFamily="34" charset="-120"/>
              </a:rPr>
              <a:t>Deployment: the adapted weights θ' replace θ_S for Domain 2; the Domain 1 model is kept unchanged.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05 · LOSS FUNCTION DESIGN</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The adaptation objective, term by term</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sp>
        <p:nvSpPr>
          <p:cNvPr id="5" name="Shape 3"/>
          <p:cNvSpPr/>
          <p:nvPr/>
        </p:nvSpPr>
        <p:spPr>
          <a:xfrm>
            <a:off x="548640" y="1417320"/>
            <a:ext cx="11091672" cy="960120"/>
          </a:xfrm>
          <a:prstGeom prst="roundRect">
            <a:avLst>
              <a:gd name="adj" fmla="val 7619"/>
            </a:avLst>
          </a:prstGeom>
          <a:solidFill>
            <a:srgbClr val="16232A"/>
          </a:solidFill>
          <a:ln w="12700">
            <a:solidFill>
              <a:srgbClr val="16232A"/>
            </a:solidFill>
            <a:prstDash val="solid"/>
          </a:ln>
        </p:spPr>
      </p:sp>
      <p:sp>
        <p:nvSpPr>
          <p:cNvPr id="6" name="Text 4"/>
          <p:cNvSpPr txBox="1"/>
          <p:nvPr/>
        </p:nvSpPr>
        <p:spPr>
          <a:xfrm>
            <a:off x="548640" y="1417320"/>
            <a:ext cx="11091672" cy="960120"/>
          </a:xfrm>
          <a:prstGeom prst="rect">
            <a:avLst/>
          </a:prstGeom>
          <a:noFill/>
          <a:ln/>
        </p:spPr>
        <p:txBody>
          <a:bodyPr wrap="square" lIns="0" tIns="0" rIns="0" bIns="0" rtlCol="0" anchor="ctr"/>
          <a:lstStyle/>
          <a:p>
            <a:pPr algn="ctr" indent="0" marL="0">
              <a:buNone/>
            </a:pPr>
            <a:r>
              <a:rPr lang="en-US" sz="1800" dirty="0">
                <a:solidFill>
                  <a:srgbClr val="FFFFFF"/>
                </a:solidFill>
                <a:latin typeface="Cambria Math" pitchFamily="34" charset="0"/>
                <a:ea typeface="Cambria Math" pitchFamily="34" charset="-122"/>
                <a:cs typeface="Cambria Math" pitchFamily="34" charset="-120"/>
              </a:rPr>
              <a:t>L_CARE  =  L_fcst(S)  +  λ_M · MMD²_k(z_s, z_t)  +  λ_C · CORAL(z_s, z_t)  +  λ_R · L_mask(x_t)  +  λ_A · ‖θ − θ_S‖²</a:t>
            </a:r>
            <a:endParaRPr lang="en-US" sz="1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2606040"/>
          <a:ext cx="11091672" cy="914400"/>
        </p:xfrm>
        <a:graphic>
          <a:graphicData uri="http://schemas.openxmlformats.org/drawingml/2006/table">
            <a:tbl>
              <a:tblPr/>
              <a:tblGrid>
                <a:gridCol w="1234440"/>
                <a:gridCol w="4572000"/>
                <a:gridCol w="4599432"/>
                <a:gridCol w="68580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Term</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2F7F73"/>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Definition</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2F7F73"/>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Why it is needed</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2F7F73"/>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λ</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2F7F73"/>
                    </a:solidFill>
                  </a:tcPr>
                </a:tc>
              </a:tr>
              <a:tr h="566928">
                <a:tc>
                  <a:txBody>
                    <a:bodyPr/>
                    <a:lstStyle/>
                    <a:p>
                      <a:pPr indent="0" marL="0">
                        <a:buNone/>
                      </a:pPr>
                      <a:r>
                        <a:rPr lang="en-US" sz="1250" b="1" dirty="0">
                          <a:solidFill>
                            <a:srgbClr val="000000"/>
                          </a:solidFill>
                          <a:latin typeface="Consolas" pitchFamily="34" charset="0"/>
                          <a:ea typeface="Consolas" pitchFamily="34" charset="-122"/>
                          <a:cs typeface="Consolas" pitchFamily="34" charset="-120"/>
                        </a:rPr>
                        <a:t>L_fcst</a:t>
                      </a:r>
                      <a:endParaRPr lang="en-US" sz="1250" dirty="0">
                        <a:latin typeface="Consolas" charset="0"/>
                        <a:ea typeface="Consolas" charset="0"/>
                        <a:cs typeface="Consolas"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(1/HC)‖f_θ(x_s) − y_s‖² on the source batch</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Bound term ε_S; prevents the model from forgetting how to forecast</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000000"/>
                          </a:solidFill>
                          <a:latin typeface="Consolas" pitchFamily="34" charset="0"/>
                          <a:ea typeface="Consolas" pitchFamily="34" charset="-122"/>
                          <a:cs typeface="Consolas" pitchFamily="34" charset="-120"/>
                        </a:rPr>
                        <a:t>MMD²_k</a:t>
                      </a:r>
                      <a:endParaRPr lang="en-US" sz="1250" dirty="0">
                        <a:latin typeface="Consolas" charset="0"/>
                        <a:ea typeface="Consolas" charset="0"/>
                        <a:cs typeface="Consolas"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Multi-kernel RBF MMD between latent batches, bandwidth from median heuristic × {¼ … 4}</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Matches the whole feature distribution (all moments)</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r>
              <a:tr h="566928">
                <a:tc>
                  <a:txBody>
                    <a:bodyPr/>
                    <a:lstStyle/>
                    <a:p>
                      <a:pPr indent="0" marL="0">
                        <a:buNone/>
                      </a:pPr>
                      <a:r>
                        <a:rPr lang="en-US" sz="1250" b="1" dirty="0">
                          <a:solidFill>
                            <a:srgbClr val="000000"/>
                          </a:solidFill>
                          <a:latin typeface="Consolas" pitchFamily="34" charset="0"/>
                          <a:ea typeface="Consolas" pitchFamily="34" charset="-122"/>
                          <a:cs typeface="Consolas" pitchFamily="34" charset="-120"/>
                        </a:rPr>
                        <a:t>CORAL</a:t>
                      </a:r>
                      <a:endParaRPr lang="en-US" sz="1250" dirty="0">
                        <a:latin typeface="Consolas" charset="0"/>
                        <a:ea typeface="Consolas" charset="0"/>
                        <a:cs typeface="Consolas"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‖Cov(z_s) − Cov(z_t)‖²_F / 4d²</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Matches cross-feature correlation, i.e. inter-variable structure</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000000"/>
                          </a:solidFill>
                          <a:latin typeface="Consolas" pitchFamily="34" charset="0"/>
                          <a:ea typeface="Consolas" pitchFamily="34" charset="-122"/>
                          <a:cs typeface="Consolas" pitchFamily="34" charset="-120"/>
                        </a:rPr>
                        <a:t>L_mask</a:t>
                      </a:r>
                      <a:endParaRPr lang="en-US" sz="1250" dirty="0">
                        <a:latin typeface="Consolas" charset="0"/>
                        <a:ea typeface="Consolas" charset="0"/>
                        <a:cs typeface="Consolas"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Mask 30% of target time steps; MSE of reconstructing them from z</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Label-free target signal; stops alignment from collapsing features</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r>
              <a:tr h="566928">
                <a:tc>
                  <a:txBody>
                    <a:bodyPr/>
                    <a:lstStyle/>
                    <a:p>
                      <a:pPr indent="0" marL="0">
                        <a:buNone/>
                      </a:pPr>
                      <a:r>
                        <a:rPr lang="en-US" sz="1250" b="1" dirty="0">
                          <a:solidFill>
                            <a:srgbClr val="000000"/>
                          </a:solidFill>
                          <a:latin typeface="Consolas" pitchFamily="34" charset="0"/>
                          <a:ea typeface="Consolas" pitchFamily="34" charset="-122"/>
                          <a:cs typeface="Consolas" pitchFamily="34" charset="-120"/>
                        </a:rPr>
                        <a:t>Anchor</a:t>
                      </a:r>
                      <a:endParaRPr lang="en-US" sz="1250" dirty="0">
                        <a:latin typeface="Consolas" charset="0"/>
                        <a:ea typeface="Consolas" charset="0"/>
                        <a:cs typeface="Consolas"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L2-SP: squared distance to source weights θ_S</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Elastic memory of Domain 1; limits negative transfer</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0.01</a:t>
                      </a:r>
                      <a:endParaRPr lang="en-US" sz="1250" dirty="0">
                        <a:latin typeface="Calibri" charset="0"/>
                        <a:ea typeface="Calibri" charset="0"/>
                        <a:cs typeface="Calibri" charset="0"/>
                      </a:endParaRPr>
                    </a:p>
                  </a:txBody>
                  <a:tcPr marL="73152" marR="73152" marT="73152" marB="73152"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250" i="1" dirty="0">
                <a:solidFill>
                  <a:srgbClr val="4F5F65"/>
                </a:solidFill>
                <a:latin typeface="Calibri" pitchFamily="34" charset="0"/>
                <a:ea typeface="Calibri" pitchFamily="34" charset="-122"/>
                <a:cs typeface="Calibri" pitchFamily="34" charset="-120"/>
              </a:rPr>
              <a:t>Weights fixed a priori and shared by all three benchmarks (no tuning on target labels). Post-hoc finding: λ_R = 0 works best (slide 21).</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06 · PERFORMANCE METRICS</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Measuring forecast quality and adaptation efficiency</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sp>
        <p:nvSpPr>
          <p:cNvPr id="5" name="Shape 3"/>
          <p:cNvSpPr/>
          <p:nvPr/>
        </p:nvSpPr>
        <p:spPr>
          <a:xfrm>
            <a:off x="548640" y="1463040"/>
            <a:ext cx="5394960" cy="4754880"/>
          </a:xfrm>
          <a:prstGeom prst="roundRect">
            <a:avLst>
              <a:gd name="adj" fmla="val 1538"/>
            </a:avLst>
          </a:prstGeom>
          <a:solidFill>
            <a:srgbClr val="F1F6F5"/>
          </a:solidFill>
          <a:ln w="12700">
            <a:solidFill>
              <a:srgbClr val="F1F6F5"/>
            </a:solidFill>
            <a:prstDash val="solid"/>
          </a:ln>
        </p:spPr>
      </p:sp>
      <p:sp>
        <p:nvSpPr>
          <p:cNvPr id="6" name="Text 4"/>
          <p:cNvSpPr txBox="1"/>
          <p:nvPr/>
        </p:nvSpPr>
        <p:spPr>
          <a:xfrm>
            <a:off x="777240" y="1645920"/>
            <a:ext cx="4937760" cy="365760"/>
          </a:xfrm>
          <a:prstGeom prst="rect">
            <a:avLst/>
          </a:prstGeom>
          <a:noFill/>
          <a:ln/>
        </p:spPr>
        <p:txBody>
          <a:bodyPr wrap="square" lIns="0" tIns="0" rIns="0" bIns="0" rtlCol="0" anchor="t"/>
          <a:lstStyle/>
          <a:p>
            <a:pPr indent="0" marL="0">
              <a:buNone/>
            </a:pPr>
            <a:r>
              <a:rPr lang="en-US" sz="1700" b="1" dirty="0">
                <a:solidFill>
                  <a:srgbClr val="2F7F73"/>
                </a:solidFill>
                <a:latin typeface="Calibri" pitchFamily="34" charset="0"/>
                <a:ea typeface="Calibri" pitchFamily="34" charset="-122"/>
                <a:cs typeface="Calibri" pitchFamily="34" charset="-120"/>
              </a:rPr>
              <a:t>Forecast accuracy (per domain)</a:t>
            </a:r>
            <a:endParaRPr lang="en-US" sz="1700" dirty="0"/>
          </a:p>
        </p:txBody>
      </p:sp>
      <p:sp>
        <p:nvSpPr>
          <p:cNvPr id="7" name="Text 5"/>
          <p:cNvSpPr txBox="1"/>
          <p:nvPr/>
        </p:nvSpPr>
        <p:spPr>
          <a:xfrm>
            <a:off x="777240" y="2194560"/>
            <a:ext cx="4937760" cy="320040"/>
          </a:xfrm>
          <a:prstGeom prst="rect">
            <a:avLst/>
          </a:prstGeom>
          <a:noFill/>
          <a:ln/>
        </p:spPr>
        <p:txBody>
          <a:bodyPr wrap="square" lIns="0" tIns="0" rIns="0" bIns="0" rtlCol="0" anchor="t"/>
          <a:lstStyle/>
          <a:p>
            <a:pPr indent="0" marL="0">
              <a:buNone/>
            </a:pPr>
            <a:r>
              <a:rPr lang="en-US" sz="1450" b="1" dirty="0">
                <a:solidFill>
                  <a:srgbClr val="1B2B31"/>
                </a:solidFill>
                <a:latin typeface="Calibri" pitchFamily="34" charset="0"/>
                <a:ea typeface="Calibri" pitchFamily="34" charset="-122"/>
                <a:cs typeface="Calibri" pitchFamily="34" charset="-120"/>
              </a:rPr>
              <a:t>MSE / MAE</a:t>
            </a:r>
            <a:endParaRPr lang="en-US" sz="1450" dirty="0"/>
          </a:p>
        </p:txBody>
      </p:sp>
      <p:sp>
        <p:nvSpPr>
          <p:cNvPr id="8" name="Text 6"/>
          <p:cNvSpPr txBox="1"/>
          <p:nvPr/>
        </p:nvSpPr>
        <p:spPr>
          <a:xfrm>
            <a:off x="777240" y="2514600"/>
            <a:ext cx="4937760" cy="731520"/>
          </a:xfrm>
          <a:prstGeom prst="rect">
            <a:avLst/>
          </a:prstGeom>
          <a:noFill/>
          <a:ln/>
        </p:spPr>
        <p:txBody>
          <a:bodyPr wrap="square" lIns="0" tIns="0" rIns="0" bIns="0" rtlCol="0" anchor="t"/>
          <a:lstStyle/>
          <a:p>
            <a:pPr indent="0" marL="0">
              <a:buNone/>
            </a:pPr>
            <a:r>
              <a:rPr lang="en-US" sz="1250" dirty="0">
                <a:solidFill>
                  <a:srgbClr val="4F5F65"/>
                </a:solidFill>
                <a:latin typeface="Calibri" pitchFamily="34" charset="0"/>
                <a:ea typeface="Calibri" pitchFamily="34" charset="-122"/>
                <a:cs typeface="Calibri" pitchFamily="34" charset="-120"/>
              </a:rPr>
              <a:t>on z-scored values, averaged over all H steps and C variables (comparable across variables)</a:t>
            </a:r>
            <a:endParaRPr lang="en-US" sz="1250" dirty="0"/>
          </a:p>
        </p:txBody>
      </p:sp>
      <p:sp>
        <p:nvSpPr>
          <p:cNvPr id="9" name="Text 7"/>
          <p:cNvSpPr txBox="1"/>
          <p:nvPr/>
        </p:nvSpPr>
        <p:spPr>
          <a:xfrm>
            <a:off x="777240" y="3383280"/>
            <a:ext cx="4937760" cy="320040"/>
          </a:xfrm>
          <a:prstGeom prst="rect">
            <a:avLst/>
          </a:prstGeom>
          <a:noFill/>
          <a:ln/>
        </p:spPr>
        <p:txBody>
          <a:bodyPr wrap="square" lIns="0" tIns="0" rIns="0" bIns="0" rtlCol="0" anchor="t"/>
          <a:lstStyle/>
          <a:p>
            <a:pPr indent="0" marL="0">
              <a:buNone/>
            </a:pPr>
            <a:r>
              <a:rPr lang="en-US" sz="1450" b="1" dirty="0">
                <a:solidFill>
                  <a:srgbClr val="1B2B31"/>
                </a:solidFill>
                <a:latin typeface="Calibri" pitchFamily="34" charset="0"/>
                <a:ea typeface="Calibri" pitchFamily="34" charset="-122"/>
                <a:cs typeface="Calibri" pitchFamily="34" charset="-120"/>
              </a:rPr>
              <a:t>MASE</a:t>
            </a:r>
            <a:endParaRPr lang="en-US" sz="1450" dirty="0"/>
          </a:p>
        </p:txBody>
      </p:sp>
      <p:sp>
        <p:nvSpPr>
          <p:cNvPr id="10" name="Text 8"/>
          <p:cNvSpPr txBox="1"/>
          <p:nvPr/>
        </p:nvSpPr>
        <p:spPr>
          <a:xfrm>
            <a:off x="777240" y="3703320"/>
            <a:ext cx="4937760" cy="731520"/>
          </a:xfrm>
          <a:prstGeom prst="rect">
            <a:avLst/>
          </a:prstGeom>
          <a:noFill/>
          <a:ln/>
        </p:spPr>
        <p:txBody>
          <a:bodyPr wrap="square" lIns="0" tIns="0" rIns="0" bIns="0" rtlCol="0" anchor="t"/>
          <a:lstStyle/>
          <a:p>
            <a:pPr indent="0" marL="0">
              <a:buNone/>
            </a:pPr>
            <a:r>
              <a:rPr lang="en-US" sz="1250" dirty="0">
                <a:solidFill>
                  <a:srgbClr val="4F5F65"/>
                </a:solidFill>
                <a:latin typeface="Calibri" pitchFamily="34" charset="0"/>
                <a:ea typeface="Calibri" pitchFamily="34" charset="-122"/>
                <a:cs typeface="Calibri" pitchFamily="34" charset="-120"/>
              </a:rPr>
              <a:t>MAE ÷ in-sample seasonal-naive MAE: &lt; 1 beats the naive forecast; scale-free across domains</a:t>
            </a:r>
            <a:endParaRPr lang="en-US" sz="1250" dirty="0"/>
          </a:p>
        </p:txBody>
      </p:sp>
      <p:sp>
        <p:nvSpPr>
          <p:cNvPr id="11" name="Text 9"/>
          <p:cNvSpPr txBox="1"/>
          <p:nvPr/>
        </p:nvSpPr>
        <p:spPr>
          <a:xfrm>
            <a:off x="777240" y="4572000"/>
            <a:ext cx="4937760" cy="320040"/>
          </a:xfrm>
          <a:prstGeom prst="rect">
            <a:avLst/>
          </a:prstGeom>
          <a:noFill/>
          <a:ln/>
        </p:spPr>
        <p:txBody>
          <a:bodyPr wrap="square" lIns="0" tIns="0" rIns="0" bIns="0" rtlCol="0" anchor="t"/>
          <a:lstStyle/>
          <a:p>
            <a:pPr indent="0" marL="0">
              <a:buNone/>
            </a:pPr>
            <a:r>
              <a:rPr lang="en-US" sz="1450" b="1" dirty="0">
                <a:solidFill>
                  <a:srgbClr val="1B2B31"/>
                </a:solidFill>
                <a:latin typeface="Calibri" pitchFamily="34" charset="0"/>
                <a:ea typeface="Calibri" pitchFamily="34" charset="-122"/>
                <a:cs typeface="Calibri" pitchFamily="34" charset="-120"/>
              </a:rPr>
              <a:t>Key-variable RMSE</a:t>
            </a:r>
            <a:endParaRPr lang="en-US" sz="1450" dirty="0"/>
          </a:p>
        </p:txBody>
      </p:sp>
      <p:sp>
        <p:nvSpPr>
          <p:cNvPr id="12" name="Text 10"/>
          <p:cNvSpPr txBox="1"/>
          <p:nvPr/>
        </p:nvSpPr>
        <p:spPr>
          <a:xfrm>
            <a:off x="777240" y="4892040"/>
            <a:ext cx="4937760" cy="731520"/>
          </a:xfrm>
          <a:prstGeom prst="rect">
            <a:avLst/>
          </a:prstGeom>
          <a:noFill/>
          <a:ln/>
        </p:spPr>
        <p:txBody>
          <a:bodyPr wrap="square" lIns="0" tIns="0" rIns="0" bIns="0" rtlCol="0" anchor="t"/>
          <a:lstStyle/>
          <a:p>
            <a:pPr indent="0" marL="0">
              <a:buNone/>
            </a:pPr>
            <a:r>
              <a:rPr lang="en-US" sz="1250" dirty="0">
                <a:solidFill>
                  <a:srgbClr val="4F5F65"/>
                </a:solidFill>
                <a:latin typeface="Calibri" pitchFamily="34" charset="0"/>
                <a:ea typeface="Calibri" pitchFamily="34" charset="-122"/>
                <a:cs typeface="Calibri" pitchFamily="34" charset="-120"/>
              </a:rPr>
              <a:t>in physical units: °C temperature, % range, °C oil temperature (interpretable for users)</a:t>
            </a:r>
            <a:endParaRPr lang="en-US" sz="1250" dirty="0"/>
          </a:p>
        </p:txBody>
      </p:sp>
      <p:sp>
        <p:nvSpPr>
          <p:cNvPr id="13" name="Shape 11"/>
          <p:cNvSpPr/>
          <p:nvPr/>
        </p:nvSpPr>
        <p:spPr>
          <a:xfrm>
            <a:off x="6245352" y="1463040"/>
            <a:ext cx="5394960" cy="4754880"/>
          </a:xfrm>
          <a:prstGeom prst="roundRect">
            <a:avLst>
              <a:gd name="adj" fmla="val 1538"/>
            </a:avLst>
          </a:prstGeom>
          <a:solidFill>
            <a:srgbClr val="16232A"/>
          </a:solidFill>
          <a:ln w="12700">
            <a:solidFill>
              <a:srgbClr val="16232A"/>
            </a:solidFill>
            <a:prstDash val="solid"/>
          </a:ln>
        </p:spPr>
      </p:sp>
      <p:sp>
        <p:nvSpPr>
          <p:cNvPr id="14" name="Text 12"/>
          <p:cNvSpPr txBox="1"/>
          <p:nvPr/>
        </p:nvSpPr>
        <p:spPr>
          <a:xfrm>
            <a:off x="6473952" y="1645920"/>
            <a:ext cx="4937760" cy="365760"/>
          </a:xfrm>
          <a:prstGeom prst="rect">
            <a:avLst/>
          </a:prstGeom>
          <a:noFill/>
          <a:ln/>
        </p:spPr>
        <p:txBody>
          <a:bodyPr wrap="square" lIns="0" tIns="0" rIns="0" bIns="0" rtlCol="0" anchor="t"/>
          <a:lstStyle/>
          <a:p>
            <a:pPr indent="0" marL="0">
              <a:buNone/>
            </a:pPr>
            <a:r>
              <a:rPr lang="en-US" sz="1700" b="1" dirty="0">
                <a:solidFill>
                  <a:srgbClr val="F2B45C"/>
                </a:solidFill>
                <a:latin typeface="Calibri" pitchFamily="34" charset="0"/>
                <a:ea typeface="Calibri" pitchFamily="34" charset="-122"/>
                <a:cs typeface="Calibri" pitchFamily="34" charset="-120"/>
              </a:rPr>
              <a:t>Adaptation efficiency (our additions)</a:t>
            </a:r>
            <a:endParaRPr lang="en-US" sz="1700" dirty="0"/>
          </a:p>
        </p:txBody>
      </p:sp>
      <p:sp>
        <p:nvSpPr>
          <p:cNvPr id="15" name="Text 13"/>
          <p:cNvSpPr txBox="1"/>
          <p:nvPr/>
        </p:nvSpPr>
        <p:spPr>
          <a:xfrm>
            <a:off x="6473952" y="2148840"/>
            <a:ext cx="4937760" cy="320040"/>
          </a:xfrm>
          <a:prstGeom prst="rect">
            <a:avLst/>
          </a:prstGeom>
          <a:noFill/>
          <a:ln/>
        </p:spPr>
        <p:txBody>
          <a:bodyPr wrap="square" lIns="0" tIns="0" rIns="0" bIns="0" rtlCol="0" anchor="t"/>
          <a:lstStyle/>
          <a:p>
            <a:pPr indent="0" marL="0">
              <a:buNone/>
            </a:pPr>
            <a:r>
              <a:rPr lang="en-US" sz="1450" b="1" dirty="0">
                <a:solidFill>
                  <a:srgbClr val="FFFFFF"/>
                </a:solidFill>
                <a:latin typeface="Calibri" pitchFamily="34" charset="0"/>
                <a:ea typeface="Calibri" pitchFamily="34" charset="-122"/>
                <a:cs typeface="Calibri" pitchFamily="34" charset="-120"/>
              </a:rPr>
              <a:t>Gap-Closure Ratio</a:t>
            </a:r>
            <a:endParaRPr lang="en-US" sz="1450" dirty="0"/>
          </a:p>
        </p:txBody>
      </p:sp>
      <p:sp>
        <p:nvSpPr>
          <p:cNvPr id="16" name="Text 14"/>
          <p:cNvSpPr txBox="1"/>
          <p:nvPr/>
        </p:nvSpPr>
        <p:spPr>
          <a:xfrm>
            <a:off x="6473952" y="2487168"/>
            <a:ext cx="5029200" cy="365760"/>
          </a:xfrm>
          <a:prstGeom prst="rect">
            <a:avLst/>
          </a:prstGeom>
          <a:noFill/>
          <a:ln/>
        </p:spPr>
        <p:txBody>
          <a:bodyPr wrap="square" lIns="0" tIns="0" rIns="0" bIns="0" rtlCol="0" anchor="t"/>
          <a:lstStyle/>
          <a:p>
            <a:pPr indent="0" marL="0">
              <a:buNone/>
            </a:pPr>
            <a:r>
              <a:rPr lang="en-US" sz="1300" dirty="0">
                <a:solidFill>
                  <a:srgbClr val="FFFFFF"/>
                </a:solidFill>
                <a:latin typeface="Cambria Math" pitchFamily="34" charset="0"/>
                <a:ea typeface="Cambria Math" pitchFamily="34" charset="-122"/>
                <a:cs typeface="Cambria Math" pitchFamily="34" charset="-120"/>
              </a:rPr>
              <a:t>GCR = (E_source-only − E_method) / (E_source-only − E_oracle)</a:t>
            </a:r>
            <a:endParaRPr lang="en-US" sz="1300" dirty="0"/>
          </a:p>
        </p:txBody>
      </p:sp>
      <p:sp>
        <p:nvSpPr>
          <p:cNvPr id="17" name="Text 15"/>
          <p:cNvSpPr txBox="1"/>
          <p:nvPr/>
        </p:nvSpPr>
        <p:spPr>
          <a:xfrm>
            <a:off x="6473952" y="2852928"/>
            <a:ext cx="4937760" cy="685800"/>
          </a:xfrm>
          <a:prstGeom prst="rect">
            <a:avLst/>
          </a:prstGeom>
          <a:noFill/>
          <a:ln/>
        </p:spPr>
        <p:txBody>
          <a:bodyPr wrap="square" lIns="0" tIns="0" rIns="0" bIns="0" rtlCol="0" anchor="t"/>
          <a:lstStyle/>
          <a:p>
            <a:pPr indent="0" marL="0">
              <a:buNone/>
            </a:pPr>
            <a:r>
              <a:rPr lang="en-US" sz="1200" dirty="0">
                <a:solidFill>
                  <a:srgbClr val="E6F0EE"/>
                </a:solidFill>
                <a:latin typeface="Calibri" pitchFamily="34" charset="0"/>
                <a:ea typeface="Calibri" pitchFamily="34" charset="-122"/>
                <a:cs typeface="Calibri" pitchFamily="34" charset="-120"/>
              </a:rPr>
              <a:t>Share of the gap to a fully supervised fine-tuned model that is closed without labels. 1 = oracle level; &lt; 0 = negative transfer.</a:t>
            </a:r>
            <a:endParaRPr lang="en-US" sz="1200" dirty="0"/>
          </a:p>
        </p:txBody>
      </p:sp>
      <p:sp>
        <p:nvSpPr>
          <p:cNvPr id="18" name="Text 16"/>
          <p:cNvSpPr txBox="1"/>
          <p:nvPr/>
        </p:nvSpPr>
        <p:spPr>
          <a:xfrm>
            <a:off x="6473952" y="3703320"/>
            <a:ext cx="4937760" cy="301752"/>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Feature discrepancy</a:t>
            </a:r>
            <a:endParaRPr lang="en-US" sz="1400" dirty="0"/>
          </a:p>
        </p:txBody>
      </p:sp>
      <p:sp>
        <p:nvSpPr>
          <p:cNvPr id="19" name="Text 17"/>
          <p:cNvSpPr txBox="1"/>
          <p:nvPr/>
        </p:nvSpPr>
        <p:spPr>
          <a:xfrm>
            <a:off x="6473952" y="4005072"/>
            <a:ext cx="4937760" cy="411480"/>
          </a:xfrm>
          <a:prstGeom prst="rect">
            <a:avLst/>
          </a:prstGeom>
          <a:noFill/>
          <a:ln/>
        </p:spPr>
        <p:txBody>
          <a:bodyPr wrap="square" lIns="0" tIns="0" rIns="0" bIns="0" rtlCol="0" anchor="t"/>
          <a:lstStyle/>
          <a:p>
            <a:pPr indent="0" marL="0">
              <a:buNone/>
            </a:pPr>
            <a:r>
              <a:rPr lang="en-US" sz="1200" dirty="0">
                <a:solidFill>
                  <a:srgbClr val="E6F0EE"/>
                </a:solidFill>
                <a:latin typeface="Calibri" pitchFamily="34" charset="0"/>
                <a:ea typeface="Calibri" pitchFamily="34" charset="-122"/>
                <a:cs typeface="Calibri" pitchFamily="34" charset="-120"/>
              </a:rPr>
              <a:t>MMD² between source and target latents: did alignment happen?</a:t>
            </a:r>
            <a:endParaRPr lang="en-US" sz="1200" dirty="0"/>
          </a:p>
        </p:txBody>
      </p:sp>
      <p:sp>
        <p:nvSpPr>
          <p:cNvPr id="20" name="Text 18"/>
          <p:cNvSpPr txBox="1"/>
          <p:nvPr/>
        </p:nvSpPr>
        <p:spPr>
          <a:xfrm>
            <a:off x="6473952" y="4526280"/>
            <a:ext cx="4937760" cy="301752"/>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Forgetting %</a:t>
            </a:r>
            <a:endParaRPr lang="en-US" sz="1400" dirty="0"/>
          </a:p>
        </p:txBody>
      </p:sp>
      <p:sp>
        <p:nvSpPr>
          <p:cNvPr id="21" name="Text 19"/>
          <p:cNvSpPr txBox="1"/>
          <p:nvPr/>
        </p:nvSpPr>
        <p:spPr>
          <a:xfrm>
            <a:off x="6473952" y="4828032"/>
            <a:ext cx="4937760" cy="411480"/>
          </a:xfrm>
          <a:prstGeom prst="rect">
            <a:avLst/>
          </a:prstGeom>
          <a:noFill/>
          <a:ln/>
        </p:spPr>
        <p:txBody>
          <a:bodyPr wrap="square" lIns="0" tIns="0" rIns="0" bIns="0" rtlCol="0" anchor="t"/>
          <a:lstStyle/>
          <a:p>
            <a:pPr indent="0" marL="0">
              <a:buNone/>
            </a:pPr>
            <a:r>
              <a:rPr lang="en-US" sz="1200" dirty="0">
                <a:solidFill>
                  <a:srgbClr val="E6F0EE"/>
                </a:solidFill>
                <a:latin typeface="Calibri" pitchFamily="34" charset="0"/>
                <a:ea typeface="Calibri" pitchFamily="34" charset="-122"/>
                <a:cs typeface="Calibri" pitchFamily="34" charset="-120"/>
              </a:rPr>
              <a:t>change in Domain 1 test MSE after adapting to Domain 2</a:t>
            </a:r>
            <a:endParaRPr lang="en-US" sz="1200" dirty="0"/>
          </a:p>
        </p:txBody>
      </p:sp>
      <p:sp>
        <p:nvSpPr>
          <p:cNvPr id="22" name="Text 20"/>
          <p:cNvSpPr txBox="1"/>
          <p:nvPr/>
        </p:nvSpPr>
        <p:spPr>
          <a:xfrm>
            <a:off x="6473952" y="5349240"/>
            <a:ext cx="4937760" cy="301752"/>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Stability</a:t>
            </a:r>
            <a:endParaRPr lang="en-US" sz="1400" dirty="0"/>
          </a:p>
        </p:txBody>
      </p:sp>
      <p:sp>
        <p:nvSpPr>
          <p:cNvPr id="23" name="Text 21"/>
          <p:cNvSpPr txBox="1"/>
          <p:nvPr/>
        </p:nvSpPr>
        <p:spPr>
          <a:xfrm>
            <a:off x="6473952" y="5650992"/>
            <a:ext cx="4937760" cy="411480"/>
          </a:xfrm>
          <a:prstGeom prst="rect">
            <a:avLst/>
          </a:prstGeom>
          <a:noFill/>
          <a:ln/>
        </p:spPr>
        <p:txBody>
          <a:bodyPr wrap="square" lIns="0" tIns="0" rIns="0" bIns="0" rtlCol="0" anchor="t"/>
          <a:lstStyle/>
          <a:p>
            <a:pPr indent="0" marL="0">
              <a:buNone/>
            </a:pPr>
            <a:r>
              <a:rPr lang="en-US" sz="1200" dirty="0">
                <a:solidFill>
                  <a:srgbClr val="E6F0EE"/>
                </a:solidFill>
                <a:latin typeface="Calibri" pitchFamily="34" charset="0"/>
                <a:ea typeface="Calibri" pitchFamily="34" charset="-122"/>
                <a:cs typeface="Calibri" pitchFamily="34" charset="-120"/>
              </a:rPr>
              <a:t>mean ± std over 3 random seeds</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07 · EXPERIMENTS</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Experimental protocol</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sp>
        <p:nvSpPr>
          <p:cNvPr id="5" name="Shape 3"/>
          <p:cNvSpPr/>
          <p:nvPr/>
        </p:nvSpPr>
        <p:spPr>
          <a:xfrm>
            <a:off x="548640" y="1463040"/>
            <a:ext cx="5394960" cy="4754880"/>
          </a:xfrm>
          <a:prstGeom prst="roundRect">
            <a:avLst>
              <a:gd name="adj" fmla="val 1538"/>
            </a:avLst>
          </a:prstGeom>
          <a:solidFill>
            <a:srgbClr val="F1F6F5"/>
          </a:solidFill>
          <a:ln w="12700">
            <a:solidFill>
              <a:srgbClr val="F1F6F5"/>
            </a:solidFill>
            <a:prstDash val="solid"/>
          </a:ln>
        </p:spPr>
      </p:sp>
      <p:sp>
        <p:nvSpPr>
          <p:cNvPr id="6" name="Text 4"/>
          <p:cNvSpPr txBox="1"/>
          <p:nvPr/>
        </p:nvSpPr>
        <p:spPr>
          <a:xfrm>
            <a:off x="777240" y="1645920"/>
            <a:ext cx="4937760" cy="365760"/>
          </a:xfrm>
          <a:prstGeom prst="rect">
            <a:avLst/>
          </a:prstGeom>
          <a:noFill/>
          <a:ln/>
        </p:spPr>
        <p:txBody>
          <a:bodyPr wrap="square" lIns="0" tIns="0" rIns="0" bIns="0" rtlCol="0" anchor="t"/>
          <a:lstStyle/>
          <a:p>
            <a:pPr indent="0" marL="0">
              <a:buNone/>
            </a:pPr>
            <a:r>
              <a:rPr lang="en-US" sz="1600" b="1" dirty="0">
                <a:solidFill>
                  <a:srgbClr val="2F7F73"/>
                </a:solidFill>
                <a:latin typeface="Calibri" pitchFamily="34" charset="0"/>
                <a:ea typeface="Calibri" pitchFamily="34" charset="-122"/>
                <a:cs typeface="Calibri" pitchFamily="34" charset="-120"/>
              </a:rPr>
              <a:t>Methods compared (same source checkpoint)</a:t>
            </a:r>
            <a:endParaRPr lang="en-US" sz="1600" dirty="0"/>
          </a:p>
        </p:txBody>
      </p:sp>
      <p:sp>
        <p:nvSpPr>
          <p:cNvPr id="7" name="Text 5"/>
          <p:cNvSpPr txBox="1"/>
          <p:nvPr/>
        </p:nvSpPr>
        <p:spPr>
          <a:xfrm>
            <a:off x="777240" y="2148840"/>
            <a:ext cx="2240280" cy="548640"/>
          </a:xfrm>
          <a:prstGeom prst="rect">
            <a:avLst/>
          </a:prstGeom>
          <a:noFill/>
          <a:ln/>
        </p:spPr>
        <p:txBody>
          <a:bodyPr wrap="square" lIns="0" tIns="0" rIns="0" bIns="0" rtlCol="0" anchor="t"/>
          <a:lstStyle/>
          <a:p>
            <a:pPr indent="0" marL="0">
              <a:buNone/>
            </a:pPr>
            <a:r>
              <a:rPr lang="en-US" sz="1300" b="1" dirty="0">
                <a:solidFill>
                  <a:srgbClr val="1B2B31"/>
                </a:solidFill>
                <a:latin typeface="Calibri" pitchFamily="34" charset="0"/>
                <a:ea typeface="Calibri" pitchFamily="34" charset="-122"/>
                <a:cs typeface="Calibri" pitchFamily="34" charset="-120"/>
              </a:rPr>
              <a:t>Seasonal naive</a:t>
            </a:r>
            <a:endParaRPr lang="en-US" sz="1300" dirty="0"/>
          </a:p>
        </p:txBody>
      </p:sp>
      <p:sp>
        <p:nvSpPr>
          <p:cNvPr id="8" name="Text 6"/>
          <p:cNvSpPr txBox="1"/>
          <p:nvPr/>
        </p:nvSpPr>
        <p:spPr>
          <a:xfrm>
            <a:off x="3017520" y="2148840"/>
            <a:ext cx="2834640" cy="548640"/>
          </a:xfrm>
          <a:prstGeom prst="rect">
            <a:avLst/>
          </a:prstGeom>
          <a:noFill/>
          <a:ln/>
        </p:spPr>
        <p:txBody>
          <a:bodyPr wrap="square" lIns="0" tIns="0" rIns="0" bIns="0" rtlCol="0" anchor="t"/>
          <a:lstStyle/>
          <a:p>
            <a:pPr indent="0" marL="0">
              <a:buNone/>
            </a:pPr>
            <a:r>
              <a:rPr lang="en-US" sz="1200" dirty="0">
                <a:solidFill>
                  <a:srgbClr val="4F5F65"/>
                </a:solidFill>
                <a:latin typeface="Calibri" pitchFamily="34" charset="0"/>
                <a:ea typeface="Calibri" pitchFamily="34" charset="-122"/>
                <a:cs typeface="Calibri" pitchFamily="34" charset="-120"/>
              </a:rPr>
              <a:t>repeat last season (no learning)</a:t>
            </a:r>
            <a:endParaRPr lang="en-US" sz="1200" dirty="0"/>
          </a:p>
        </p:txBody>
      </p:sp>
      <p:sp>
        <p:nvSpPr>
          <p:cNvPr id="9" name="Text 7"/>
          <p:cNvSpPr txBox="1"/>
          <p:nvPr/>
        </p:nvSpPr>
        <p:spPr>
          <a:xfrm>
            <a:off x="777240" y="2788920"/>
            <a:ext cx="2240280" cy="548640"/>
          </a:xfrm>
          <a:prstGeom prst="rect">
            <a:avLst/>
          </a:prstGeom>
          <a:noFill/>
          <a:ln/>
        </p:spPr>
        <p:txBody>
          <a:bodyPr wrap="square" lIns="0" tIns="0" rIns="0" bIns="0" rtlCol="0" anchor="t"/>
          <a:lstStyle/>
          <a:p>
            <a:pPr indent="0" marL="0">
              <a:buNone/>
            </a:pPr>
            <a:r>
              <a:rPr lang="en-US" sz="1300" b="1" dirty="0">
                <a:solidFill>
                  <a:srgbClr val="1B2B31"/>
                </a:solidFill>
                <a:latin typeface="Calibri" pitchFamily="34" charset="0"/>
                <a:ea typeface="Calibri" pitchFamily="34" charset="-122"/>
                <a:cs typeface="Calibri" pitchFamily="34" charset="-120"/>
              </a:rPr>
              <a:t>Source-only</a:t>
            </a:r>
            <a:endParaRPr lang="en-US" sz="1300" dirty="0"/>
          </a:p>
        </p:txBody>
      </p:sp>
      <p:sp>
        <p:nvSpPr>
          <p:cNvPr id="10" name="Text 8"/>
          <p:cNvSpPr txBox="1"/>
          <p:nvPr/>
        </p:nvSpPr>
        <p:spPr>
          <a:xfrm>
            <a:off x="3017520" y="2788920"/>
            <a:ext cx="2834640" cy="548640"/>
          </a:xfrm>
          <a:prstGeom prst="rect">
            <a:avLst/>
          </a:prstGeom>
          <a:noFill/>
          <a:ln/>
        </p:spPr>
        <p:txBody>
          <a:bodyPr wrap="square" lIns="0" tIns="0" rIns="0" bIns="0" rtlCol="0" anchor="t"/>
          <a:lstStyle/>
          <a:p>
            <a:pPr indent="0" marL="0">
              <a:buNone/>
            </a:pPr>
            <a:r>
              <a:rPr lang="en-US" sz="1200" dirty="0">
                <a:solidFill>
                  <a:srgbClr val="4F5F65"/>
                </a:solidFill>
                <a:latin typeface="Calibri" pitchFamily="34" charset="0"/>
                <a:ea typeface="Calibri" pitchFamily="34" charset="-122"/>
                <a:cs typeface="Calibri" pitchFamily="34" charset="-120"/>
              </a:rPr>
              <a:t>Domain 1 model applied as-is (lower bound)</a:t>
            </a:r>
            <a:endParaRPr lang="en-US" sz="1200" dirty="0"/>
          </a:p>
        </p:txBody>
      </p:sp>
      <p:sp>
        <p:nvSpPr>
          <p:cNvPr id="11" name="Text 9"/>
          <p:cNvSpPr txBox="1"/>
          <p:nvPr/>
        </p:nvSpPr>
        <p:spPr>
          <a:xfrm>
            <a:off x="777240" y="3429000"/>
            <a:ext cx="2240280" cy="548640"/>
          </a:xfrm>
          <a:prstGeom prst="rect">
            <a:avLst/>
          </a:prstGeom>
          <a:noFill/>
          <a:ln/>
        </p:spPr>
        <p:txBody>
          <a:bodyPr wrap="square" lIns="0" tIns="0" rIns="0" bIns="0" rtlCol="0" anchor="t"/>
          <a:lstStyle/>
          <a:p>
            <a:pPr indent="0" marL="0">
              <a:buNone/>
            </a:pPr>
            <a:r>
              <a:rPr lang="en-US" sz="1300" b="1" dirty="0">
                <a:solidFill>
                  <a:srgbClr val="1B2B31"/>
                </a:solidFill>
                <a:latin typeface="Calibri" pitchFamily="34" charset="0"/>
                <a:ea typeface="Calibri" pitchFamily="34" charset="-122"/>
                <a:cs typeface="Calibri" pitchFamily="34" charset="-120"/>
              </a:rPr>
              <a:t>DANN / Deep CORAL / MMD</a:t>
            </a:r>
            <a:endParaRPr lang="en-US" sz="1300" dirty="0"/>
          </a:p>
        </p:txBody>
      </p:sp>
      <p:sp>
        <p:nvSpPr>
          <p:cNvPr id="12" name="Text 10"/>
          <p:cNvSpPr txBox="1"/>
          <p:nvPr/>
        </p:nvSpPr>
        <p:spPr>
          <a:xfrm>
            <a:off x="3017520" y="3429000"/>
            <a:ext cx="2834640" cy="548640"/>
          </a:xfrm>
          <a:prstGeom prst="rect">
            <a:avLst/>
          </a:prstGeom>
          <a:noFill/>
          <a:ln/>
        </p:spPr>
        <p:txBody>
          <a:bodyPr wrap="square" lIns="0" tIns="0" rIns="0" bIns="0" rtlCol="0" anchor="t"/>
          <a:lstStyle/>
          <a:p>
            <a:pPr indent="0" marL="0">
              <a:buNone/>
            </a:pPr>
            <a:r>
              <a:rPr lang="en-US" sz="1200" dirty="0">
                <a:solidFill>
                  <a:srgbClr val="4F5F65"/>
                </a:solidFill>
                <a:latin typeface="Calibri" pitchFamily="34" charset="0"/>
                <a:ea typeface="Calibri" pitchFamily="34" charset="-122"/>
                <a:cs typeface="Calibri" pitchFamily="34" charset="-120"/>
              </a:rPr>
              <a:t>classic single-principle UDA baselines</a:t>
            </a:r>
            <a:endParaRPr lang="en-US" sz="1200" dirty="0"/>
          </a:p>
        </p:txBody>
      </p:sp>
      <p:sp>
        <p:nvSpPr>
          <p:cNvPr id="13" name="Text 11"/>
          <p:cNvSpPr txBox="1"/>
          <p:nvPr/>
        </p:nvSpPr>
        <p:spPr>
          <a:xfrm>
            <a:off x="777240" y="4069080"/>
            <a:ext cx="2240280" cy="548640"/>
          </a:xfrm>
          <a:prstGeom prst="rect">
            <a:avLst/>
          </a:prstGeom>
          <a:noFill/>
          <a:ln/>
        </p:spPr>
        <p:txBody>
          <a:bodyPr wrap="square" lIns="0" tIns="0" rIns="0" bIns="0" rtlCol="0" anchor="t"/>
          <a:lstStyle/>
          <a:p>
            <a:pPr indent="0" marL="0">
              <a:buNone/>
            </a:pPr>
            <a:r>
              <a:rPr lang="en-US" sz="1300" b="1" dirty="0">
                <a:solidFill>
                  <a:srgbClr val="2F7F73"/>
                </a:solidFill>
                <a:latin typeface="Calibri" pitchFamily="34" charset="0"/>
                <a:ea typeface="Calibri" pitchFamily="34" charset="-122"/>
                <a:cs typeface="Calibri" pitchFamily="34" charset="-120"/>
              </a:rPr>
              <a:t>CARE-DA (ours)</a:t>
            </a:r>
            <a:endParaRPr lang="en-US" sz="1300" dirty="0"/>
          </a:p>
        </p:txBody>
      </p:sp>
      <p:sp>
        <p:nvSpPr>
          <p:cNvPr id="14" name="Text 12"/>
          <p:cNvSpPr txBox="1"/>
          <p:nvPr/>
        </p:nvSpPr>
        <p:spPr>
          <a:xfrm>
            <a:off x="3017520" y="4069080"/>
            <a:ext cx="2834640" cy="548640"/>
          </a:xfrm>
          <a:prstGeom prst="rect">
            <a:avLst/>
          </a:prstGeom>
          <a:noFill/>
          <a:ln/>
        </p:spPr>
        <p:txBody>
          <a:bodyPr wrap="square" lIns="0" tIns="0" rIns="0" bIns="0" rtlCol="0" anchor="t"/>
          <a:lstStyle/>
          <a:p>
            <a:pPr indent="0" marL="0">
              <a:buNone/>
            </a:pPr>
            <a:r>
              <a:rPr lang="en-US" sz="1200" dirty="0">
                <a:solidFill>
                  <a:srgbClr val="4F5F65"/>
                </a:solidFill>
                <a:latin typeface="Calibri" pitchFamily="34" charset="0"/>
                <a:ea typeface="Calibri" pitchFamily="34" charset="-122"/>
                <a:cs typeface="Calibri" pitchFamily="34" charset="-120"/>
              </a:rPr>
              <a:t>full objective + three ablations (−align, −SSL, −anchor)</a:t>
            </a:r>
            <a:endParaRPr lang="en-US" sz="1200" dirty="0"/>
          </a:p>
        </p:txBody>
      </p:sp>
      <p:sp>
        <p:nvSpPr>
          <p:cNvPr id="15" name="Text 13"/>
          <p:cNvSpPr txBox="1"/>
          <p:nvPr/>
        </p:nvSpPr>
        <p:spPr>
          <a:xfrm>
            <a:off x="777240" y="4709160"/>
            <a:ext cx="2240280" cy="548640"/>
          </a:xfrm>
          <a:prstGeom prst="rect">
            <a:avLst/>
          </a:prstGeom>
          <a:noFill/>
          <a:ln/>
        </p:spPr>
        <p:txBody>
          <a:bodyPr wrap="square" lIns="0" tIns="0" rIns="0" bIns="0" rtlCol="0" anchor="t"/>
          <a:lstStyle/>
          <a:p>
            <a:pPr indent="0" marL="0">
              <a:buNone/>
            </a:pPr>
            <a:r>
              <a:rPr lang="en-US" sz="1300" b="1" dirty="0">
                <a:solidFill>
                  <a:srgbClr val="1B2B31"/>
                </a:solidFill>
                <a:latin typeface="Calibri" pitchFamily="34" charset="0"/>
                <a:ea typeface="Calibri" pitchFamily="34" charset="-122"/>
                <a:cs typeface="Calibri" pitchFamily="34" charset="-120"/>
              </a:rPr>
              <a:t>Target-only*</a:t>
            </a:r>
            <a:endParaRPr lang="en-US" sz="1300" dirty="0"/>
          </a:p>
        </p:txBody>
      </p:sp>
      <p:sp>
        <p:nvSpPr>
          <p:cNvPr id="16" name="Text 14"/>
          <p:cNvSpPr txBox="1"/>
          <p:nvPr/>
        </p:nvSpPr>
        <p:spPr>
          <a:xfrm>
            <a:off x="3017520" y="4709160"/>
            <a:ext cx="2834640" cy="548640"/>
          </a:xfrm>
          <a:prstGeom prst="rect">
            <a:avLst/>
          </a:prstGeom>
          <a:noFill/>
          <a:ln/>
        </p:spPr>
        <p:txBody>
          <a:bodyPr wrap="square" lIns="0" tIns="0" rIns="0" bIns="0" rtlCol="0" anchor="t"/>
          <a:lstStyle/>
          <a:p>
            <a:pPr indent="0" marL="0">
              <a:buNone/>
            </a:pPr>
            <a:r>
              <a:rPr lang="en-US" sz="1200" dirty="0">
                <a:solidFill>
                  <a:srgbClr val="4F5F65"/>
                </a:solidFill>
                <a:latin typeface="Calibri" pitchFamily="34" charset="0"/>
                <a:ea typeface="Calibri" pitchFamily="34" charset="-122"/>
                <a:cs typeface="Calibri" pitchFamily="34" charset="-120"/>
              </a:rPr>
              <a:t>trained from scratch on labeled Domain 2</a:t>
            </a:r>
            <a:endParaRPr lang="en-US" sz="1200" dirty="0"/>
          </a:p>
        </p:txBody>
      </p:sp>
      <p:sp>
        <p:nvSpPr>
          <p:cNvPr id="17" name="Text 15"/>
          <p:cNvSpPr txBox="1"/>
          <p:nvPr/>
        </p:nvSpPr>
        <p:spPr>
          <a:xfrm>
            <a:off x="777240" y="5349240"/>
            <a:ext cx="2240280" cy="548640"/>
          </a:xfrm>
          <a:prstGeom prst="rect">
            <a:avLst/>
          </a:prstGeom>
          <a:noFill/>
          <a:ln/>
        </p:spPr>
        <p:txBody>
          <a:bodyPr wrap="square" lIns="0" tIns="0" rIns="0" bIns="0" rtlCol="0" anchor="t"/>
          <a:lstStyle/>
          <a:p>
            <a:pPr indent="0" marL="0">
              <a:buNone/>
            </a:pPr>
            <a:r>
              <a:rPr lang="en-US" sz="1300" b="1" dirty="0">
                <a:solidFill>
                  <a:srgbClr val="1B2B31"/>
                </a:solidFill>
                <a:latin typeface="Calibri" pitchFamily="34" charset="0"/>
                <a:ea typeface="Calibri" pitchFamily="34" charset="-122"/>
                <a:cs typeface="Calibri" pitchFamily="34" charset="-120"/>
              </a:rPr>
              <a:t>Fine-tune oracle*</a:t>
            </a:r>
            <a:endParaRPr lang="en-US" sz="1300" dirty="0"/>
          </a:p>
        </p:txBody>
      </p:sp>
      <p:sp>
        <p:nvSpPr>
          <p:cNvPr id="18" name="Text 16"/>
          <p:cNvSpPr txBox="1"/>
          <p:nvPr/>
        </p:nvSpPr>
        <p:spPr>
          <a:xfrm>
            <a:off x="3017520" y="5349240"/>
            <a:ext cx="2834640" cy="548640"/>
          </a:xfrm>
          <a:prstGeom prst="rect">
            <a:avLst/>
          </a:prstGeom>
          <a:noFill/>
          <a:ln/>
        </p:spPr>
        <p:txBody>
          <a:bodyPr wrap="square" lIns="0" tIns="0" rIns="0" bIns="0" rtlCol="0" anchor="t"/>
          <a:lstStyle/>
          <a:p>
            <a:pPr indent="0" marL="0">
              <a:buNone/>
            </a:pPr>
            <a:r>
              <a:rPr lang="en-US" sz="1200" dirty="0">
                <a:solidFill>
                  <a:srgbClr val="4F5F65"/>
                </a:solidFill>
                <a:latin typeface="Calibri" pitchFamily="34" charset="0"/>
                <a:ea typeface="Calibri" pitchFamily="34" charset="-122"/>
                <a:cs typeface="Calibri" pitchFamily="34" charset="-120"/>
              </a:rPr>
              <a:t>source model fine-tuned with Domain 2 labels (upper bound)</a:t>
            </a:r>
            <a:endParaRPr lang="en-US" sz="1200" dirty="0"/>
          </a:p>
        </p:txBody>
      </p:sp>
      <p:sp>
        <p:nvSpPr>
          <p:cNvPr id="19" name="Text 17"/>
          <p:cNvSpPr txBox="1"/>
          <p:nvPr/>
        </p:nvSpPr>
        <p:spPr>
          <a:xfrm>
            <a:off x="777240" y="5852160"/>
            <a:ext cx="4937760" cy="274320"/>
          </a:xfrm>
          <a:prstGeom prst="rect">
            <a:avLst/>
          </a:prstGeom>
          <a:noFill/>
          <a:ln/>
        </p:spPr>
        <p:txBody>
          <a:bodyPr wrap="square" lIns="0" tIns="0" rIns="0" bIns="0" rtlCol="0" anchor="t"/>
          <a:lstStyle/>
          <a:p>
            <a:pPr indent="0" marL="0">
              <a:buNone/>
            </a:pPr>
            <a:r>
              <a:rPr lang="en-US" sz="1050" i="1" dirty="0">
                <a:solidFill>
                  <a:srgbClr val="7C8B90"/>
                </a:solidFill>
                <a:latin typeface="Calibri" pitchFamily="34" charset="0"/>
                <a:ea typeface="Calibri" pitchFamily="34" charset="-122"/>
                <a:cs typeface="Calibri" pitchFamily="34" charset="-120"/>
              </a:rPr>
              <a:t>* uses target labels: reference only, not UDA</a:t>
            </a:r>
            <a:endParaRPr lang="en-US" sz="1050" dirty="0"/>
          </a:p>
        </p:txBody>
      </p:sp>
      <p:sp>
        <p:nvSpPr>
          <p:cNvPr id="20" name="Shape 18"/>
          <p:cNvSpPr/>
          <p:nvPr/>
        </p:nvSpPr>
        <p:spPr>
          <a:xfrm>
            <a:off x="6245352" y="1463040"/>
            <a:ext cx="5394960" cy="1051560"/>
          </a:xfrm>
          <a:prstGeom prst="roundRect">
            <a:avLst>
              <a:gd name="adj" fmla="val 6957"/>
            </a:avLst>
          </a:prstGeom>
          <a:solidFill>
            <a:srgbClr val="F1F6F5"/>
          </a:solidFill>
          <a:ln w="12700">
            <a:solidFill>
              <a:srgbClr val="F1F6F5"/>
            </a:solidFill>
            <a:prstDash val="solid"/>
          </a:ln>
        </p:spPr>
      </p:sp>
      <p:sp>
        <p:nvSpPr>
          <p:cNvPr id="21" name="Text 19"/>
          <p:cNvSpPr txBox="1"/>
          <p:nvPr/>
        </p:nvSpPr>
        <p:spPr>
          <a:xfrm>
            <a:off x="6473952" y="1572768"/>
            <a:ext cx="4937760" cy="320040"/>
          </a:xfrm>
          <a:prstGeom prst="rect">
            <a:avLst/>
          </a:prstGeom>
          <a:noFill/>
          <a:ln/>
        </p:spPr>
        <p:txBody>
          <a:bodyPr wrap="square" lIns="0" tIns="0" rIns="0" bIns="0" rtlCol="0" anchor="t"/>
          <a:lstStyle/>
          <a:p>
            <a:pPr indent="0" marL="0">
              <a:buNone/>
            </a:pPr>
            <a:r>
              <a:rPr lang="en-US" sz="1400" b="1" dirty="0">
                <a:solidFill>
                  <a:srgbClr val="1B2B31"/>
                </a:solidFill>
                <a:latin typeface="Calibri" pitchFamily="34" charset="0"/>
                <a:ea typeface="Calibri" pitchFamily="34" charset="-122"/>
                <a:cs typeface="Calibri" pitchFamily="34" charset="-120"/>
              </a:rPr>
              <a:t>Source training</a:t>
            </a:r>
            <a:endParaRPr lang="en-US" sz="1400" dirty="0"/>
          </a:p>
        </p:txBody>
      </p:sp>
      <p:sp>
        <p:nvSpPr>
          <p:cNvPr id="22" name="Text 20"/>
          <p:cNvSpPr txBox="1"/>
          <p:nvPr/>
        </p:nvSpPr>
        <p:spPr>
          <a:xfrm>
            <a:off x="6473952" y="1901952"/>
            <a:ext cx="4937760" cy="548640"/>
          </a:xfrm>
          <a:prstGeom prst="rect">
            <a:avLst/>
          </a:prstGeom>
          <a:noFill/>
          <a:ln/>
        </p:spPr>
        <p:txBody>
          <a:bodyPr wrap="square" lIns="0" tIns="0" rIns="0" bIns="0" rtlCol="0" anchor="t"/>
          <a:lstStyle/>
          <a:p>
            <a:pPr indent="0" marL="0">
              <a:buNone/>
            </a:pPr>
            <a:r>
              <a:rPr lang="en-US" sz="1200" dirty="0">
                <a:solidFill>
                  <a:srgbClr val="4F5F65"/>
                </a:solidFill>
                <a:latin typeface="Calibri" pitchFamily="34" charset="0"/>
                <a:ea typeface="Calibri" pitchFamily="34" charset="-122"/>
                <a:cs typeface="Calibri" pitchFamily="34" charset="-120"/>
              </a:rPr>
              <a:t>20 epochs, AdamW, lr 1e-3, cosine schedule, best source-validation checkpoint</a:t>
            </a:r>
            <a:endParaRPr lang="en-US" sz="1200" dirty="0"/>
          </a:p>
        </p:txBody>
      </p:sp>
      <p:sp>
        <p:nvSpPr>
          <p:cNvPr id="23" name="Shape 21"/>
          <p:cNvSpPr/>
          <p:nvPr/>
        </p:nvSpPr>
        <p:spPr>
          <a:xfrm>
            <a:off x="6245352" y="2679192"/>
            <a:ext cx="5394960" cy="1051560"/>
          </a:xfrm>
          <a:prstGeom prst="roundRect">
            <a:avLst>
              <a:gd name="adj" fmla="val 6957"/>
            </a:avLst>
          </a:prstGeom>
          <a:solidFill>
            <a:srgbClr val="F1F6F5"/>
          </a:solidFill>
          <a:ln w="12700">
            <a:solidFill>
              <a:srgbClr val="F1F6F5"/>
            </a:solidFill>
            <a:prstDash val="solid"/>
          </a:ln>
        </p:spPr>
      </p:sp>
      <p:sp>
        <p:nvSpPr>
          <p:cNvPr id="24" name="Text 22"/>
          <p:cNvSpPr txBox="1"/>
          <p:nvPr/>
        </p:nvSpPr>
        <p:spPr>
          <a:xfrm>
            <a:off x="6473952" y="2788920"/>
            <a:ext cx="4937760" cy="320040"/>
          </a:xfrm>
          <a:prstGeom prst="rect">
            <a:avLst/>
          </a:prstGeom>
          <a:noFill/>
          <a:ln/>
        </p:spPr>
        <p:txBody>
          <a:bodyPr wrap="square" lIns="0" tIns="0" rIns="0" bIns="0" rtlCol="0" anchor="t"/>
          <a:lstStyle/>
          <a:p>
            <a:pPr indent="0" marL="0">
              <a:buNone/>
            </a:pPr>
            <a:r>
              <a:rPr lang="en-US" sz="1400" b="1" dirty="0">
                <a:solidFill>
                  <a:srgbClr val="1B2B31"/>
                </a:solidFill>
                <a:latin typeface="Calibri" pitchFamily="34" charset="0"/>
                <a:ea typeface="Calibri" pitchFamily="34" charset="-122"/>
                <a:cs typeface="Calibri" pitchFamily="34" charset="-120"/>
              </a:rPr>
              <a:t>Adaptation</a:t>
            </a:r>
            <a:endParaRPr lang="en-US" sz="1400" dirty="0"/>
          </a:p>
        </p:txBody>
      </p:sp>
      <p:sp>
        <p:nvSpPr>
          <p:cNvPr id="25" name="Text 23"/>
          <p:cNvSpPr txBox="1"/>
          <p:nvPr/>
        </p:nvSpPr>
        <p:spPr>
          <a:xfrm>
            <a:off x="6473952" y="3118104"/>
            <a:ext cx="4937760" cy="548640"/>
          </a:xfrm>
          <a:prstGeom prst="rect">
            <a:avLst/>
          </a:prstGeom>
          <a:noFill/>
          <a:ln/>
        </p:spPr>
        <p:txBody>
          <a:bodyPr wrap="square" lIns="0" tIns="0" rIns="0" bIns="0" rtlCol="0" anchor="t"/>
          <a:lstStyle/>
          <a:p>
            <a:pPr indent="0" marL="0">
              <a:buNone/>
            </a:pPr>
            <a:r>
              <a:rPr lang="en-US" sz="1200" dirty="0">
                <a:solidFill>
                  <a:srgbClr val="4F5F65"/>
                </a:solidFill>
                <a:latin typeface="Calibri" pitchFamily="34" charset="0"/>
                <a:ea typeface="Calibri" pitchFamily="34" charset="-122"/>
                <a:cs typeface="Calibri" pitchFamily="34" charset="-120"/>
              </a:rPr>
              <a:t>10 epochs, lr 3e-4, batch 256 + 256, final checkpoint (no target labels for selection)</a:t>
            </a:r>
            <a:endParaRPr lang="en-US" sz="1200" dirty="0"/>
          </a:p>
        </p:txBody>
      </p:sp>
      <p:sp>
        <p:nvSpPr>
          <p:cNvPr id="26" name="Shape 24"/>
          <p:cNvSpPr/>
          <p:nvPr/>
        </p:nvSpPr>
        <p:spPr>
          <a:xfrm>
            <a:off x="6245352" y="3895344"/>
            <a:ext cx="5394960" cy="1051560"/>
          </a:xfrm>
          <a:prstGeom prst="roundRect">
            <a:avLst>
              <a:gd name="adj" fmla="val 6957"/>
            </a:avLst>
          </a:prstGeom>
          <a:solidFill>
            <a:srgbClr val="F1F6F5"/>
          </a:solidFill>
          <a:ln w="12700">
            <a:solidFill>
              <a:srgbClr val="F1F6F5"/>
            </a:solidFill>
            <a:prstDash val="solid"/>
          </a:ln>
        </p:spPr>
      </p:sp>
      <p:sp>
        <p:nvSpPr>
          <p:cNvPr id="27" name="Text 25"/>
          <p:cNvSpPr txBox="1"/>
          <p:nvPr/>
        </p:nvSpPr>
        <p:spPr>
          <a:xfrm>
            <a:off x="6473952" y="4005072"/>
            <a:ext cx="4937760" cy="320040"/>
          </a:xfrm>
          <a:prstGeom prst="rect">
            <a:avLst/>
          </a:prstGeom>
          <a:noFill/>
          <a:ln/>
        </p:spPr>
        <p:txBody>
          <a:bodyPr wrap="square" lIns="0" tIns="0" rIns="0" bIns="0" rtlCol="0" anchor="t"/>
          <a:lstStyle/>
          <a:p>
            <a:pPr indent="0" marL="0">
              <a:buNone/>
            </a:pPr>
            <a:r>
              <a:rPr lang="en-US" sz="1400" b="1" dirty="0">
                <a:solidFill>
                  <a:srgbClr val="1B2B31"/>
                </a:solidFill>
                <a:latin typeface="Calibri" pitchFamily="34" charset="0"/>
                <a:ea typeface="Calibri" pitchFamily="34" charset="-122"/>
                <a:cs typeface="Calibri" pitchFamily="34" charset="-120"/>
              </a:rPr>
              <a:t>Self-supervision</a:t>
            </a:r>
            <a:endParaRPr lang="en-US" sz="1400" dirty="0"/>
          </a:p>
        </p:txBody>
      </p:sp>
      <p:sp>
        <p:nvSpPr>
          <p:cNvPr id="28" name="Text 26"/>
          <p:cNvSpPr txBox="1"/>
          <p:nvPr/>
        </p:nvSpPr>
        <p:spPr>
          <a:xfrm>
            <a:off x="6473952" y="4334256"/>
            <a:ext cx="4937760" cy="548640"/>
          </a:xfrm>
          <a:prstGeom prst="rect">
            <a:avLst/>
          </a:prstGeom>
          <a:noFill/>
          <a:ln/>
        </p:spPr>
        <p:txBody>
          <a:bodyPr wrap="square" lIns="0" tIns="0" rIns="0" bIns="0" rtlCol="0" anchor="t"/>
          <a:lstStyle/>
          <a:p>
            <a:pPr indent="0" marL="0">
              <a:buNone/>
            </a:pPr>
            <a:r>
              <a:rPr lang="en-US" sz="1200" dirty="0">
                <a:solidFill>
                  <a:srgbClr val="4F5F65"/>
                </a:solidFill>
                <a:latin typeface="Calibri" pitchFamily="34" charset="0"/>
                <a:ea typeface="Calibri" pitchFamily="34" charset="-122"/>
                <a:cs typeface="Calibri" pitchFamily="34" charset="-120"/>
              </a:rPr>
              <a:t>mask ratio 0.3; also used during source training so the head is ready</a:t>
            </a:r>
            <a:endParaRPr lang="en-US" sz="1200" dirty="0"/>
          </a:p>
        </p:txBody>
      </p:sp>
      <p:sp>
        <p:nvSpPr>
          <p:cNvPr id="29" name="Shape 27"/>
          <p:cNvSpPr/>
          <p:nvPr/>
        </p:nvSpPr>
        <p:spPr>
          <a:xfrm>
            <a:off x="6245352" y="5111496"/>
            <a:ext cx="5394960" cy="1051560"/>
          </a:xfrm>
          <a:prstGeom prst="roundRect">
            <a:avLst>
              <a:gd name="adj" fmla="val 6957"/>
            </a:avLst>
          </a:prstGeom>
          <a:solidFill>
            <a:srgbClr val="F1F6F5"/>
          </a:solidFill>
          <a:ln w="12700">
            <a:solidFill>
              <a:srgbClr val="F1F6F5"/>
            </a:solidFill>
            <a:prstDash val="solid"/>
          </a:ln>
        </p:spPr>
      </p:sp>
      <p:sp>
        <p:nvSpPr>
          <p:cNvPr id="30" name="Text 28"/>
          <p:cNvSpPr txBox="1"/>
          <p:nvPr/>
        </p:nvSpPr>
        <p:spPr>
          <a:xfrm>
            <a:off x="6473952" y="5221224"/>
            <a:ext cx="4937760" cy="320040"/>
          </a:xfrm>
          <a:prstGeom prst="rect">
            <a:avLst/>
          </a:prstGeom>
          <a:noFill/>
          <a:ln/>
        </p:spPr>
        <p:txBody>
          <a:bodyPr wrap="square" lIns="0" tIns="0" rIns="0" bIns="0" rtlCol="0" anchor="t"/>
          <a:lstStyle/>
          <a:p>
            <a:pPr indent="0" marL="0">
              <a:buNone/>
            </a:pPr>
            <a:r>
              <a:rPr lang="en-US" sz="1400" b="1" dirty="0">
                <a:solidFill>
                  <a:srgbClr val="1B2B31"/>
                </a:solidFill>
                <a:latin typeface="Calibri" pitchFamily="34" charset="0"/>
                <a:ea typeface="Calibri" pitchFamily="34" charset="-122"/>
                <a:cs typeface="Calibri" pitchFamily="34" charset="-120"/>
              </a:rPr>
              <a:t>Seeds / hardware</a:t>
            </a:r>
            <a:endParaRPr lang="en-US" sz="1400" dirty="0"/>
          </a:p>
        </p:txBody>
      </p:sp>
      <p:sp>
        <p:nvSpPr>
          <p:cNvPr id="31" name="Text 29"/>
          <p:cNvSpPr txBox="1"/>
          <p:nvPr/>
        </p:nvSpPr>
        <p:spPr>
          <a:xfrm>
            <a:off x="6473952" y="5550408"/>
            <a:ext cx="4937760" cy="548640"/>
          </a:xfrm>
          <a:prstGeom prst="rect">
            <a:avLst/>
          </a:prstGeom>
          <a:noFill/>
          <a:ln/>
        </p:spPr>
        <p:txBody>
          <a:bodyPr wrap="square" lIns="0" tIns="0" rIns="0" bIns="0" rtlCol="0" anchor="t"/>
          <a:lstStyle/>
          <a:p>
            <a:pPr indent="0" marL="0">
              <a:buNone/>
            </a:pPr>
            <a:r>
              <a:rPr lang="en-US" sz="1200" dirty="0">
                <a:solidFill>
                  <a:srgbClr val="4F5F65"/>
                </a:solidFill>
                <a:latin typeface="Calibri" pitchFamily="34" charset="0"/>
                <a:ea typeface="Calibri" pitchFamily="34" charset="-122"/>
                <a:cs typeface="Calibri" pitchFamily="34" charset="-120"/>
              </a:rPr>
              <a:t>3 seeds (0, 1, 2); PyTorch on a laptop CPU</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07 · EXPERIMENTS SO FAR</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Results on the held-out Domain 2 test period</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514600"/>
                <a:gridCol w="1600200"/>
                <a:gridCol w="1600200"/>
                <a:gridCol w="1600200"/>
                <a:gridCol w="1261872"/>
                <a:gridCol w="1261872"/>
                <a:gridCol w="1252728"/>
              </a:tblGrid>
              <a:tr h="402336">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Climate MSE</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Energy MSE</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Finance MSE</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Climate Δ vs src-only</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Energy Δ vs src-only</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Finance Δ vs src-only</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r>
              <a:tr h="402336">
                <a:tc>
                  <a:txBody>
                    <a:bodyPr/>
                    <a:lstStyle/>
                    <a:p>
                      <a:pPr indent="0" marL="0">
                        <a:buNone/>
                      </a:pPr>
                      <a:r>
                        <a:rPr lang="en-US" sz="1200" dirty="0">
                          <a:solidFill>
                            <a:srgbClr val="1B2B31"/>
                          </a:solidFill>
                          <a:latin typeface="Calibri" pitchFamily="34" charset="0"/>
                          <a:ea typeface="Calibri" pitchFamily="34" charset="-122"/>
                          <a:cs typeface="Calibri" pitchFamily="34" charset="-120"/>
                        </a:rPr>
                        <a:t>Seasonal naive</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0.351</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0.225</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1.024</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B5473A"/>
                          </a:solidFill>
                          <a:latin typeface="Calibri" pitchFamily="34" charset="0"/>
                          <a:ea typeface="Calibri" pitchFamily="34" charset="-122"/>
                          <a:cs typeface="Calibri" pitchFamily="34" charset="-120"/>
                        </a:rPr>
                        <a:t>+38.5%</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B5473A"/>
                          </a:solidFill>
                          <a:latin typeface="Calibri" pitchFamily="34" charset="0"/>
                          <a:ea typeface="Calibri" pitchFamily="34" charset="-122"/>
                          <a:cs typeface="Calibri" pitchFamily="34" charset="-120"/>
                        </a:rPr>
                        <a:t>+30.0%</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B5473A"/>
                          </a:solidFill>
                          <a:latin typeface="Calibri" pitchFamily="34" charset="0"/>
                          <a:ea typeface="Calibri" pitchFamily="34" charset="-122"/>
                          <a:cs typeface="Calibri" pitchFamily="34" charset="-120"/>
                        </a:rPr>
                        <a:t>+82.5%</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r>
              <a:tr h="402336">
                <a:tc>
                  <a:txBody>
                    <a:bodyPr/>
                    <a:lstStyle/>
                    <a:p>
                      <a:pPr indent="0" marL="0">
                        <a:buNone/>
                      </a:pPr>
                      <a:r>
                        <a:rPr lang="en-US" sz="1200" dirty="0">
                          <a:solidFill>
                            <a:srgbClr val="1B2B31"/>
                          </a:solidFill>
                          <a:latin typeface="Calibri" pitchFamily="34" charset="0"/>
                          <a:ea typeface="Calibri" pitchFamily="34" charset="-122"/>
                          <a:cs typeface="Calibri" pitchFamily="34" charset="-120"/>
                        </a:rPr>
                        <a:t>Source-only</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0.254 ± 0.004</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0.173 ± 0.004</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0.561 ± 0.001</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1B2B31"/>
                          </a:solidFill>
                          <a:latin typeface="Calibri" pitchFamily="34" charset="0"/>
                          <a:ea typeface="Calibri" pitchFamily="34" charset="-122"/>
                          <a:cs typeface="Calibri" pitchFamily="34" charset="-120"/>
                        </a:rPr>
                        <a:t>DANN</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0.268 ± 0.017</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0.217 ± 0.020</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0.572 ± 0.003</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B5473A"/>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B5473A"/>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B5473A"/>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r>
              <a:tr h="402336">
                <a:tc>
                  <a:txBody>
                    <a:bodyPr/>
                    <a:lstStyle/>
                    <a:p>
                      <a:pPr indent="0" marL="0">
                        <a:buNone/>
                      </a:pPr>
                      <a:r>
                        <a:rPr lang="en-US" sz="1200" dirty="0">
                          <a:solidFill>
                            <a:srgbClr val="1B2B31"/>
                          </a:solidFill>
                          <a:latin typeface="Calibri" pitchFamily="34" charset="0"/>
                          <a:ea typeface="Calibri" pitchFamily="34" charset="-122"/>
                          <a:cs typeface="Calibri" pitchFamily="34" charset="-120"/>
                        </a:rPr>
                        <a:t>Deep CORAL</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0.272 ± 0.007</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0.192 ± 0.006</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0.573 ± 0.002</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B5473A"/>
                          </a:solidFill>
                          <a:latin typeface="Calibri" pitchFamily="34" charset="0"/>
                          <a:ea typeface="Calibri" pitchFamily="34" charset="-122"/>
                          <a:cs typeface="Calibri" pitchFamily="34" charset="-120"/>
                        </a:rPr>
                        <a:t>+7.1%</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B5473A"/>
                          </a:solidFill>
                          <a:latin typeface="Calibri" pitchFamily="34" charset="0"/>
                          <a:ea typeface="Calibri" pitchFamily="34" charset="-122"/>
                          <a:cs typeface="Calibri" pitchFamily="34" charset="-120"/>
                        </a:rPr>
                        <a:t>+11.4%</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B5473A"/>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1B2B31"/>
                          </a:solidFill>
                          <a:latin typeface="Calibri" pitchFamily="34" charset="0"/>
                          <a:ea typeface="Calibri" pitchFamily="34" charset="-122"/>
                          <a:cs typeface="Calibri" pitchFamily="34" charset="-120"/>
                        </a:rPr>
                        <a:t>MMD</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b="1" dirty="0">
                          <a:solidFill>
                            <a:srgbClr val="2F7F73"/>
                          </a:solidFill>
                          <a:latin typeface="Calibri" pitchFamily="34" charset="0"/>
                          <a:ea typeface="Calibri" pitchFamily="34" charset="-122"/>
                          <a:cs typeface="Calibri" pitchFamily="34" charset="-120"/>
                        </a:rPr>
                        <a:t>0.234 ± 0.003</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0.165 ± 0.004</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0.558 ± 0.002</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r>
              <a:tr h="402336">
                <a:tc>
                  <a:txBody>
                    <a:bodyPr/>
                    <a:lstStyle/>
                    <a:p>
                      <a:pPr indent="0" marL="0">
                        <a:buNone/>
                      </a:pPr>
                      <a:r>
                        <a:rPr lang="en-US" sz="1200" b="1" dirty="0">
                          <a:solidFill>
                            <a:srgbClr val="2F7F73"/>
                          </a:solidFill>
                          <a:latin typeface="Calibri" pitchFamily="34" charset="0"/>
                          <a:ea typeface="Calibri" pitchFamily="34" charset="-122"/>
                          <a:cs typeface="Calibri" pitchFamily="34" charset="-120"/>
                        </a:rPr>
                        <a:t>CARE-DA (ours, as designed)</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E6F0EE"/>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0.245 ± 0.002</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E6F0EE"/>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0.167 ± 0.004</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E6F0EE"/>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0.562 ± 0.002</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E6F0EE"/>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E6F0EE"/>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-3.3%</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E6F0EE"/>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E6F0EE"/>
                    </a:solidFill>
                  </a:tcPr>
                </a:tc>
              </a:tr>
              <a:tr h="402336">
                <a:tc>
                  <a:txBody>
                    <a:bodyPr/>
                    <a:lstStyle/>
                    <a:p>
                      <a:pPr indent="0" marL="0">
                        <a:buNone/>
                      </a:pPr>
                      <a:r>
                        <a:rPr lang="en-US" sz="1200" b="1" dirty="0">
                          <a:solidFill>
                            <a:srgbClr val="2F7F73"/>
                          </a:solidFill>
                          <a:latin typeface="Calibri" pitchFamily="34" charset="0"/>
                          <a:ea typeface="Calibri" pitchFamily="34" charset="-122"/>
                          <a:cs typeface="Calibri" pitchFamily="34" charset="-120"/>
                        </a:rPr>
                        <a:t>CARE-DA − SSL (ablation)</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E6F0EE"/>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0.234 ± 0.003</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E6F0EE"/>
                    </a:solidFill>
                  </a:tcPr>
                </a:tc>
                <a:tc>
                  <a:txBody>
                    <a:bodyPr/>
                    <a:lstStyle/>
                    <a:p>
                      <a:pPr algn="ctr" indent="0" marL="0">
                        <a:buNone/>
                      </a:pPr>
                      <a:r>
                        <a:rPr lang="en-US" sz="1200" b="1" dirty="0">
                          <a:solidFill>
                            <a:srgbClr val="2F7F73"/>
                          </a:solidFill>
                          <a:latin typeface="Calibri" pitchFamily="34" charset="0"/>
                          <a:ea typeface="Calibri" pitchFamily="34" charset="-122"/>
                          <a:cs typeface="Calibri" pitchFamily="34" charset="-120"/>
                        </a:rPr>
                        <a:t>0.162 ± 0.004</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E6F0EE"/>
                    </a:solidFill>
                  </a:tcPr>
                </a:tc>
                <a:tc>
                  <a:txBody>
                    <a:bodyPr/>
                    <a:lstStyle/>
                    <a:p>
                      <a:pPr algn="ctr" indent="0" marL="0">
                        <a:buNone/>
                      </a:pPr>
                      <a:r>
                        <a:rPr lang="en-US" sz="1200" b="1" dirty="0">
                          <a:solidFill>
                            <a:srgbClr val="2F7F73"/>
                          </a:solidFill>
                          <a:latin typeface="Calibri" pitchFamily="34" charset="0"/>
                          <a:ea typeface="Calibri" pitchFamily="34" charset="-122"/>
                          <a:cs typeface="Calibri" pitchFamily="34" charset="-120"/>
                        </a:rPr>
                        <a:t>0.558 ± 0.002</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E6F0EE"/>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E6F0EE"/>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-6.4%</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E6F0EE"/>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E6F0EE"/>
                    </a:solidFill>
                  </a:tcPr>
                </a:tc>
              </a:tr>
              <a:tr h="402336">
                <a:tc>
                  <a:txBody>
                    <a:bodyPr/>
                    <a:lstStyle/>
                    <a:p>
                      <a:pPr indent="0" marL="0">
                        <a:buNone/>
                      </a:pPr>
                      <a:r>
                        <a:rPr lang="en-US" sz="1200" dirty="0">
                          <a:solidFill>
                            <a:srgbClr val="1B2B31"/>
                          </a:solidFill>
                          <a:latin typeface="Calibri" pitchFamily="34" charset="0"/>
                          <a:ea typeface="Calibri" pitchFamily="34" charset="-122"/>
                          <a:cs typeface="Calibri" pitchFamily="34" charset="-120"/>
                        </a:rPr>
                        <a:t>Target-only*</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0.240 ± 0.003</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0.177 ± 0.005</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0.551 ± 0.001</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B5473A"/>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1B2B31"/>
                          </a:solidFill>
                          <a:latin typeface="Calibri" pitchFamily="34" charset="0"/>
                          <a:ea typeface="Calibri" pitchFamily="34" charset="-122"/>
                          <a:cs typeface="Calibri" pitchFamily="34" charset="-120"/>
                        </a:rPr>
                        <a:t>Fine-tune oracle*</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0.232 ± 0.004</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0.168 ± 0.001</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0.548 ± 0.000</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00" dirty="0">
                          <a:solidFill>
                            <a:srgbClr val="1B2B31"/>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45720" marR="45720" marT="45720" marB="45720"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r>
            </a:tbl>
          </a:graphicData>
        </a:graphic>
      </p:graphicFrame>
      <p:sp>
        <p:nvSpPr>
          <p:cNvPr id="6" name="Text 3"/>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1100" i="1" dirty="0">
                <a:solidFill>
                  <a:srgbClr val="4F5F65"/>
                </a:solidFill>
                <a:latin typeface="Calibri" pitchFamily="34" charset="0"/>
                <a:ea typeface="Calibri" pitchFamily="34" charset="-122"/>
                <a:cs typeface="Calibri" pitchFamily="34" charset="-120"/>
              </a:rPr>
              <a:t>Mean ± std over 3 seeds; z-scored MSE, lower is better. Bold teal = best label-free method per benchmark; red Δ = worse than source-only (negative transfer). * uses Domain 2 labels (reference only).</a:t>
            </a:r>
            <a:endParaRPr lang="en-US" sz="11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07 · EXPERIMENTS SO FAR</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Improvement over the un-adapted source model</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graphicFrame>
        <p:nvGraphicFramePr>
          <p:cNvPr id="5" name="Chart 0" descr=""/>
          <p:cNvGraphicFramePr/>
          <p:nvPr/>
        </p:nvGraphicFramePr>
        <p:xfrm>
          <a:off x="548640" y="1325880"/>
          <a:ext cx="7680960" cy="4663440"/>
        </p:xfrm>
        <a:graphic xmlns:a="http://schemas.openxmlformats.org/drawingml/2006/main">
          <a:graphicData uri="http://schemas.openxmlformats.org/drawingml/2006/chart">
            <c:chart xmlns:c="http://schemas.openxmlformats.org/drawingml/2006/chart" r:id="rId2"/>
          </a:graphicData>
        </a:graphic>
      </p:graphicFrame>
      <p:sp>
        <p:nvSpPr>
          <p:cNvPr id="6" name="Text 3"/>
          <p:cNvSpPr txBox="1"/>
          <p:nvPr/>
        </p:nvSpPr>
        <p:spPr>
          <a:xfrm>
            <a:off x="731520" y="5989320"/>
            <a:ext cx="6400800" cy="274320"/>
          </a:xfrm>
          <a:prstGeom prst="rect">
            <a:avLst/>
          </a:prstGeom>
          <a:noFill/>
          <a:ln/>
        </p:spPr>
        <p:txBody>
          <a:bodyPr wrap="square" lIns="0" tIns="0" rIns="0" bIns="0" rtlCol="0" anchor="t"/>
          <a:lstStyle/>
          <a:p>
            <a:pPr indent="0" marL="0">
              <a:buNone/>
            </a:pPr>
            <a:r>
              <a:rPr lang="en-US" sz="1000" i="1" dirty="0">
                <a:solidFill>
                  <a:srgbClr val="7C8B90"/>
                </a:solidFill>
                <a:latin typeface="Calibri" pitchFamily="34" charset="0"/>
                <a:ea typeface="Calibri" pitchFamily="34" charset="-122"/>
                <a:cs typeface="Calibri" pitchFamily="34" charset="-120"/>
              </a:rPr>
              <a:t>Bars clipped at −12%: DANN on energy is −26%.</a:t>
            </a:r>
            <a:endParaRPr lang="en-US" sz="1000" dirty="0"/>
          </a:p>
        </p:txBody>
      </p:sp>
      <p:sp>
        <p:nvSpPr>
          <p:cNvPr id="7" name="Shape 4"/>
          <p:cNvSpPr/>
          <p:nvPr/>
        </p:nvSpPr>
        <p:spPr>
          <a:xfrm>
            <a:off x="8458200" y="1371600"/>
            <a:ext cx="3182112" cy="4892040"/>
          </a:xfrm>
          <a:prstGeom prst="roundRect">
            <a:avLst>
              <a:gd name="adj" fmla="val 2299"/>
            </a:avLst>
          </a:prstGeom>
          <a:solidFill>
            <a:srgbClr val="16232A"/>
          </a:solidFill>
          <a:ln w="12700">
            <a:solidFill>
              <a:srgbClr val="16232A"/>
            </a:solidFill>
            <a:prstDash val="solid"/>
          </a:ln>
        </p:spPr>
      </p:sp>
      <p:sp>
        <p:nvSpPr>
          <p:cNvPr id="8" name="Text 5"/>
          <p:cNvSpPr txBox="1"/>
          <p:nvPr/>
        </p:nvSpPr>
        <p:spPr>
          <a:xfrm>
            <a:off x="8686800" y="1536192"/>
            <a:ext cx="2834640" cy="320040"/>
          </a:xfrm>
          <a:prstGeom prst="rect">
            <a:avLst/>
          </a:prstGeom>
          <a:noFill/>
          <a:ln/>
        </p:spPr>
        <p:txBody>
          <a:bodyPr wrap="square" lIns="0" tIns="0" rIns="0" bIns="0" rtlCol="0" anchor="t"/>
          <a:lstStyle/>
          <a:p>
            <a:pPr indent="0" marL="0">
              <a:buNone/>
            </a:pPr>
            <a:r>
              <a:rPr lang="en-US" sz="1400" b="1" dirty="0">
                <a:solidFill>
                  <a:srgbClr val="6FB3A6"/>
                </a:solidFill>
                <a:latin typeface="Calibri" pitchFamily="34" charset="0"/>
                <a:ea typeface="Calibri" pitchFamily="34" charset="-122"/>
                <a:cs typeface="Calibri" pitchFamily="34" charset="-120"/>
              </a:rPr>
              <a:t>Best label-free result (Δ target MSE)</a:t>
            </a:r>
            <a:endParaRPr lang="en-US" sz="1400" dirty="0"/>
          </a:p>
        </p:txBody>
      </p:sp>
      <p:sp>
        <p:nvSpPr>
          <p:cNvPr id="9" name="Text 6"/>
          <p:cNvSpPr txBox="1"/>
          <p:nvPr/>
        </p:nvSpPr>
        <p:spPr>
          <a:xfrm>
            <a:off x="8686800" y="1965960"/>
            <a:ext cx="2743200" cy="658368"/>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-7.9%</a:t>
            </a:r>
            <a:endParaRPr lang="en-US" sz="3600" dirty="0"/>
          </a:p>
        </p:txBody>
      </p:sp>
      <p:sp>
        <p:nvSpPr>
          <p:cNvPr id="10" name="Text 7"/>
          <p:cNvSpPr txBox="1"/>
          <p:nvPr/>
        </p:nvSpPr>
        <p:spPr>
          <a:xfrm>
            <a:off x="8686800" y="2624328"/>
            <a:ext cx="2880360" cy="320040"/>
          </a:xfrm>
          <a:prstGeom prst="rect">
            <a:avLst/>
          </a:prstGeom>
          <a:noFill/>
          <a:ln/>
        </p:spPr>
        <p:txBody>
          <a:bodyPr wrap="square" lIns="0" tIns="0" rIns="0" bIns="0" rtlCol="0" anchor="t"/>
          <a:lstStyle/>
          <a:p>
            <a:pPr indent="0" marL="0">
              <a:buNone/>
            </a:pPr>
            <a:r>
              <a:rPr lang="en-US" sz="1150" dirty="0">
                <a:solidFill>
                  <a:srgbClr val="E6F0EE"/>
                </a:solidFill>
                <a:latin typeface="Calibri" pitchFamily="34" charset="0"/>
                <a:ea typeface="Calibri" pitchFamily="34" charset="-122"/>
                <a:cs typeface="Calibri" pitchFamily="34" charset="-120"/>
              </a:rPr>
              <a:t>Climate · MMD  (oracle* -8.5%)</a:t>
            </a:r>
            <a:endParaRPr lang="en-US" sz="1150" dirty="0"/>
          </a:p>
        </p:txBody>
      </p:sp>
      <p:sp>
        <p:nvSpPr>
          <p:cNvPr id="11" name="Text 8"/>
          <p:cNvSpPr txBox="1"/>
          <p:nvPr/>
        </p:nvSpPr>
        <p:spPr>
          <a:xfrm>
            <a:off x="8686800" y="3383280"/>
            <a:ext cx="2743200" cy="658368"/>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-6.4%</a:t>
            </a:r>
            <a:endParaRPr lang="en-US" sz="3600" dirty="0"/>
          </a:p>
        </p:txBody>
      </p:sp>
      <p:sp>
        <p:nvSpPr>
          <p:cNvPr id="12" name="Text 9"/>
          <p:cNvSpPr txBox="1"/>
          <p:nvPr/>
        </p:nvSpPr>
        <p:spPr>
          <a:xfrm>
            <a:off x="8686800" y="4041648"/>
            <a:ext cx="2880360" cy="320040"/>
          </a:xfrm>
          <a:prstGeom prst="rect">
            <a:avLst/>
          </a:prstGeom>
          <a:noFill/>
          <a:ln/>
        </p:spPr>
        <p:txBody>
          <a:bodyPr wrap="square" lIns="0" tIns="0" rIns="0" bIns="0" rtlCol="0" anchor="t"/>
          <a:lstStyle/>
          <a:p>
            <a:pPr indent="0" marL="0">
              <a:buNone/>
            </a:pPr>
            <a:r>
              <a:rPr lang="en-US" sz="1150" dirty="0">
                <a:solidFill>
                  <a:srgbClr val="E6F0EE"/>
                </a:solidFill>
                <a:latin typeface="Calibri" pitchFamily="34" charset="0"/>
                <a:ea typeface="Calibri" pitchFamily="34" charset="-122"/>
                <a:cs typeface="Calibri" pitchFamily="34" charset="-120"/>
              </a:rPr>
              <a:t>Energy · CARE −SSL  (oracle* -3.0%)</a:t>
            </a:r>
            <a:endParaRPr lang="en-US" sz="1150" dirty="0"/>
          </a:p>
        </p:txBody>
      </p:sp>
      <p:sp>
        <p:nvSpPr>
          <p:cNvPr id="13" name="Text 10"/>
          <p:cNvSpPr txBox="1"/>
          <p:nvPr/>
        </p:nvSpPr>
        <p:spPr>
          <a:xfrm>
            <a:off x="8686800" y="4800600"/>
            <a:ext cx="2743200" cy="658368"/>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-0.6%</a:t>
            </a:r>
            <a:endParaRPr lang="en-US" sz="3600" dirty="0"/>
          </a:p>
        </p:txBody>
      </p:sp>
      <p:sp>
        <p:nvSpPr>
          <p:cNvPr id="14" name="Text 11"/>
          <p:cNvSpPr txBox="1"/>
          <p:nvPr/>
        </p:nvSpPr>
        <p:spPr>
          <a:xfrm>
            <a:off x="8686800" y="5458968"/>
            <a:ext cx="2880360" cy="320040"/>
          </a:xfrm>
          <a:prstGeom prst="rect">
            <a:avLst/>
          </a:prstGeom>
          <a:noFill/>
          <a:ln/>
        </p:spPr>
        <p:txBody>
          <a:bodyPr wrap="square" lIns="0" tIns="0" rIns="0" bIns="0" rtlCol="0" anchor="t"/>
          <a:lstStyle/>
          <a:p>
            <a:pPr indent="0" marL="0">
              <a:buNone/>
            </a:pPr>
            <a:r>
              <a:rPr lang="en-US" sz="1150" dirty="0">
                <a:solidFill>
                  <a:srgbClr val="E6F0EE"/>
                </a:solidFill>
                <a:latin typeface="Calibri" pitchFamily="34" charset="0"/>
                <a:ea typeface="Calibri" pitchFamily="34" charset="-122"/>
                <a:cs typeface="Calibri" pitchFamily="34" charset="-120"/>
              </a:rPr>
              <a:t>Finance · CARE −SSL  (oracle* -2.4%)</a:t>
            </a:r>
            <a:endParaRPr lang="en-US" sz="11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07 · ADAPTATION BEHAVIOUR</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Logged adaptation dynamics (climate, seed 0)</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pic>
        <p:nvPicPr>
          <p:cNvPr id="5" name="Image 0" descr="C:\Users\miral\OneDrive\Documents\IE643_project\results\figures\climate_adaptation_curves.png">    </p:cNvPr>
          <p:cNvPicPr>
            <a:picLocks noChangeAspect="1"/>
          </p:cNvPicPr>
          <p:nvPr/>
        </p:nvPicPr>
        <p:blipFill>
          <a:blip r:embed="rId2"/>
          <a:stretch>
            <a:fillRect/>
          </a:stretch>
        </p:blipFill>
        <p:spPr>
          <a:xfrm>
            <a:off x="548640" y="1369387"/>
            <a:ext cx="11091672" cy="3067666"/>
          </a:xfrm>
          <a:prstGeom prst="rect">
            <a:avLst/>
          </a:prstGeom>
        </p:spPr>
      </p:pic>
      <p:sp>
        <p:nvSpPr>
          <p:cNvPr id="6" name="Shape 3"/>
          <p:cNvSpPr/>
          <p:nvPr/>
        </p:nvSpPr>
        <p:spPr>
          <a:xfrm>
            <a:off x="548640" y="4663440"/>
            <a:ext cx="3566160" cy="1572768"/>
          </a:xfrm>
          <a:prstGeom prst="roundRect">
            <a:avLst>
              <a:gd name="adj" fmla="val 4651"/>
            </a:avLst>
          </a:prstGeom>
          <a:solidFill>
            <a:srgbClr val="F1F6F5"/>
          </a:solidFill>
          <a:ln w="12700">
            <a:solidFill>
              <a:srgbClr val="F1F6F5"/>
            </a:solidFill>
            <a:prstDash val="solid"/>
          </a:ln>
        </p:spPr>
      </p:sp>
      <p:sp>
        <p:nvSpPr>
          <p:cNvPr id="7" name="Text 4"/>
          <p:cNvSpPr txBox="1"/>
          <p:nvPr/>
        </p:nvSpPr>
        <p:spPr>
          <a:xfrm>
            <a:off x="731520" y="4773168"/>
            <a:ext cx="3200400" cy="320040"/>
          </a:xfrm>
          <a:prstGeom prst="rect">
            <a:avLst/>
          </a:prstGeom>
          <a:noFill/>
          <a:ln/>
        </p:spPr>
        <p:txBody>
          <a:bodyPr wrap="square" lIns="0" tIns="0" rIns="0" bIns="0" rtlCol="0" anchor="t"/>
          <a:lstStyle/>
          <a:p>
            <a:pPr indent="0" marL="0">
              <a:buNone/>
            </a:pPr>
            <a:r>
              <a:rPr lang="en-US" sz="1400" b="1" dirty="0">
                <a:solidFill>
                  <a:srgbClr val="2F7F73"/>
                </a:solidFill>
                <a:latin typeface="Calibri" pitchFamily="34" charset="0"/>
                <a:ea typeface="Calibri" pitchFamily="34" charset="-122"/>
                <a:cs typeface="Calibri" pitchFamily="34" charset="-120"/>
              </a:rPr>
              <a:t>Alignment happens</a:t>
            </a:r>
            <a:endParaRPr lang="en-US" sz="1400" dirty="0"/>
          </a:p>
        </p:txBody>
      </p:sp>
      <p:sp>
        <p:nvSpPr>
          <p:cNvPr id="8" name="Text 5"/>
          <p:cNvSpPr txBox="1"/>
          <p:nvPr/>
        </p:nvSpPr>
        <p:spPr>
          <a:xfrm>
            <a:off x="731520" y="5120640"/>
            <a:ext cx="3200400" cy="1051560"/>
          </a:xfrm>
          <a:prstGeom prst="rect">
            <a:avLst/>
          </a:prstGeom>
          <a:noFill/>
          <a:ln/>
        </p:spPr>
        <p:txBody>
          <a:bodyPr wrap="square" lIns="0" tIns="0" rIns="0" bIns="0" rtlCol="0" anchor="t"/>
          <a:lstStyle/>
          <a:p>
            <a:pPr indent="0" marL="0">
              <a:buNone/>
            </a:pPr>
            <a:r>
              <a:rPr lang="en-US" sz="1200" dirty="0">
                <a:solidFill>
                  <a:srgbClr val="4F5F65"/>
                </a:solidFill>
                <a:latin typeface="Calibri" pitchFamily="34" charset="0"/>
                <a:ea typeface="Calibri" pitchFamily="34" charset="-122"/>
                <a:cs typeface="Calibri" pitchFamily="34" charset="-120"/>
              </a:rPr>
              <a:t>CARE-DA cuts latent MMD² between domains from 0.078 to 0.016 (climate, mean of 3 seeds).</a:t>
            </a:r>
            <a:endParaRPr lang="en-US" sz="1200" dirty="0"/>
          </a:p>
        </p:txBody>
      </p:sp>
      <p:sp>
        <p:nvSpPr>
          <p:cNvPr id="9" name="Shape 6"/>
          <p:cNvSpPr/>
          <p:nvPr/>
        </p:nvSpPr>
        <p:spPr>
          <a:xfrm>
            <a:off x="4297680" y="4663440"/>
            <a:ext cx="3566160" cy="1572768"/>
          </a:xfrm>
          <a:prstGeom prst="roundRect">
            <a:avLst>
              <a:gd name="adj" fmla="val 4651"/>
            </a:avLst>
          </a:prstGeom>
          <a:solidFill>
            <a:srgbClr val="F1F6F5"/>
          </a:solidFill>
          <a:ln w="12700">
            <a:solidFill>
              <a:srgbClr val="F1F6F5"/>
            </a:solidFill>
            <a:prstDash val="solid"/>
          </a:ln>
        </p:spPr>
      </p:sp>
      <p:sp>
        <p:nvSpPr>
          <p:cNvPr id="10" name="Text 7"/>
          <p:cNvSpPr txBox="1"/>
          <p:nvPr/>
        </p:nvSpPr>
        <p:spPr>
          <a:xfrm>
            <a:off x="4480560" y="4773168"/>
            <a:ext cx="3200400" cy="320040"/>
          </a:xfrm>
          <a:prstGeom prst="rect">
            <a:avLst/>
          </a:prstGeom>
          <a:noFill/>
          <a:ln/>
        </p:spPr>
        <p:txBody>
          <a:bodyPr wrap="square" lIns="0" tIns="0" rIns="0" bIns="0" rtlCol="0" anchor="t"/>
          <a:lstStyle/>
          <a:p>
            <a:pPr indent="0" marL="0">
              <a:buNone/>
            </a:pPr>
            <a:r>
              <a:rPr lang="en-US" sz="1400" b="1" dirty="0">
                <a:solidFill>
                  <a:srgbClr val="A5650F"/>
                </a:solidFill>
                <a:latin typeface="Calibri" pitchFamily="34" charset="0"/>
                <a:ea typeface="Calibri" pitchFamily="34" charset="-122"/>
                <a:cs typeface="Calibri" pitchFamily="34" charset="-120"/>
              </a:rPr>
              <a:t>Lower gap ≠ lower error</a:t>
            </a:r>
            <a:endParaRPr lang="en-US" sz="1400" dirty="0"/>
          </a:p>
        </p:txBody>
      </p:sp>
      <p:sp>
        <p:nvSpPr>
          <p:cNvPr id="11" name="Text 8"/>
          <p:cNvSpPr txBox="1"/>
          <p:nvPr/>
        </p:nvSpPr>
        <p:spPr>
          <a:xfrm>
            <a:off x="4480560" y="5120640"/>
            <a:ext cx="3200400" cy="1051560"/>
          </a:xfrm>
          <a:prstGeom prst="rect">
            <a:avLst/>
          </a:prstGeom>
          <a:noFill/>
          <a:ln/>
        </p:spPr>
        <p:txBody>
          <a:bodyPr wrap="square" lIns="0" tIns="0" rIns="0" bIns="0" rtlCol="0" anchor="t"/>
          <a:lstStyle/>
          <a:p>
            <a:pPr indent="0" marL="0">
              <a:buNone/>
            </a:pPr>
            <a:r>
              <a:rPr lang="en-US" sz="1200" dirty="0">
                <a:solidFill>
                  <a:srgbClr val="4F5F65"/>
                </a:solidFill>
                <a:latin typeface="Calibri" pitchFamily="34" charset="0"/>
                <a:ea typeface="Calibri" pitchFamily="34" charset="-122"/>
                <a:cs typeface="Calibri" pitchFamily="34" charset="-120"/>
              </a:rPr>
              <a:t>CARE-DA reaches the smallest discrepancy, yet MMD-only forecasts better; DANN is unstable (MMD² 1.9) and its target error drifts upward.</a:t>
            </a:r>
            <a:endParaRPr lang="en-US" sz="1200" dirty="0"/>
          </a:p>
        </p:txBody>
      </p:sp>
      <p:sp>
        <p:nvSpPr>
          <p:cNvPr id="12" name="Shape 9"/>
          <p:cNvSpPr/>
          <p:nvPr/>
        </p:nvSpPr>
        <p:spPr>
          <a:xfrm>
            <a:off x="8046720" y="4663440"/>
            <a:ext cx="3566160" cy="1572768"/>
          </a:xfrm>
          <a:prstGeom prst="roundRect">
            <a:avLst>
              <a:gd name="adj" fmla="val 4651"/>
            </a:avLst>
          </a:prstGeom>
          <a:solidFill>
            <a:srgbClr val="F1F6F5"/>
          </a:solidFill>
          <a:ln w="12700">
            <a:solidFill>
              <a:srgbClr val="F1F6F5"/>
            </a:solidFill>
            <a:prstDash val="solid"/>
          </a:ln>
        </p:spPr>
      </p:sp>
      <p:sp>
        <p:nvSpPr>
          <p:cNvPr id="13" name="Text 10"/>
          <p:cNvSpPr txBox="1"/>
          <p:nvPr/>
        </p:nvSpPr>
        <p:spPr>
          <a:xfrm>
            <a:off x="8229600" y="4773168"/>
            <a:ext cx="3200400" cy="320040"/>
          </a:xfrm>
          <a:prstGeom prst="rect">
            <a:avLst/>
          </a:prstGeom>
          <a:noFill/>
          <a:ln/>
        </p:spPr>
        <p:txBody>
          <a:bodyPr wrap="square" lIns="0" tIns="0" rIns="0" bIns="0" rtlCol="0" anchor="t"/>
          <a:lstStyle/>
          <a:p>
            <a:pPr indent="0" marL="0">
              <a:buNone/>
            </a:pPr>
            <a:r>
              <a:rPr lang="en-US" sz="1400" b="1" dirty="0">
                <a:solidFill>
                  <a:srgbClr val="2F7F73"/>
                </a:solidFill>
                <a:latin typeface="Calibri" pitchFamily="34" charset="0"/>
                <a:ea typeface="Calibri" pitchFamily="34" charset="-122"/>
                <a:cs typeface="Calibri" pitchFamily="34" charset="-120"/>
              </a:rPr>
              <a:t>No forgetting</a:t>
            </a:r>
            <a:endParaRPr lang="en-US" sz="1400" dirty="0"/>
          </a:p>
        </p:txBody>
      </p:sp>
      <p:sp>
        <p:nvSpPr>
          <p:cNvPr id="14" name="Text 11"/>
          <p:cNvSpPr txBox="1"/>
          <p:nvPr/>
        </p:nvSpPr>
        <p:spPr>
          <a:xfrm>
            <a:off x="8229600" y="5120640"/>
            <a:ext cx="3200400" cy="1051560"/>
          </a:xfrm>
          <a:prstGeom prst="rect">
            <a:avLst/>
          </a:prstGeom>
          <a:noFill/>
          <a:ln/>
        </p:spPr>
        <p:txBody>
          <a:bodyPr wrap="square" lIns="0" tIns="0" rIns="0" bIns="0" rtlCol="0" anchor="t"/>
          <a:lstStyle/>
          <a:p>
            <a:pPr indent="0" marL="0">
              <a:buNone/>
            </a:pPr>
            <a:r>
              <a:rPr lang="en-US" sz="1200" dirty="0">
                <a:solidFill>
                  <a:srgbClr val="4F5F65"/>
                </a:solidFill>
                <a:latin typeface="Calibri" pitchFamily="34" charset="0"/>
                <a:ea typeface="Calibri" pitchFamily="34" charset="-122"/>
                <a:cs typeface="Calibri" pitchFamily="34" charset="-120"/>
              </a:rPr>
              <a:t>Label-free variants keep Domain 1 error flat (CARE-DA -1.3%), while supervised fine-tuning degrades Domain 1 by +14%.</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07 · QUALITATIVE RESULTS</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What adaptation does to features and forecasts</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pic>
        <p:nvPicPr>
          <p:cNvPr id="5" name="Image 0" descr="C:\Users\miral\OneDrive\Documents\IE643_project\results\figures\energy_latent_pca.png">    </p:cNvPr>
          <p:cNvPicPr>
            <a:picLocks noChangeAspect="1"/>
          </p:cNvPicPr>
          <p:nvPr/>
        </p:nvPicPr>
        <p:blipFill>
          <a:blip r:embed="rId2"/>
          <a:stretch>
            <a:fillRect/>
          </a:stretch>
        </p:blipFill>
        <p:spPr>
          <a:xfrm>
            <a:off x="548640" y="1404707"/>
            <a:ext cx="5669280" cy="2448386"/>
          </a:xfrm>
          <a:prstGeom prst="rect">
            <a:avLst/>
          </a:prstGeom>
        </p:spPr>
      </p:pic>
      <p:pic>
        <p:nvPicPr>
          <p:cNvPr id="6" name="Image 1" descr="C:\Users\miral\OneDrive\Documents\IE643_project\results\figures\climate_forecast_example.png">    </p:cNvPr>
          <p:cNvPicPr>
            <a:picLocks noChangeAspect="1"/>
          </p:cNvPicPr>
          <p:nvPr/>
        </p:nvPicPr>
        <p:blipFill>
          <a:blip r:embed="rId3"/>
          <a:stretch>
            <a:fillRect/>
          </a:stretch>
        </p:blipFill>
        <p:spPr>
          <a:xfrm>
            <a:off x="6355080" y="1330311"/>
            <a:ext cx="5303520" cy="2597178"/>
          </a:xfrm>
          <a:prstGeom prst="rect">
            <a:avLst/>
          </a:prstGeom>
        </p:spPr>
      </p:pic>
      <p:pic>
        <p:nvPicPr>
          <p:cNvPr id="7" name="Image 2" descr="C:\Users\miral\OneDrive\Documents\IE643_project\results\figures\energy_forecast_example.png">    </p:cNvPr>
          <p:cNvPicPr>
            <a:picLocks noChangeAspect="1"/>
          </p:cNvPicPr>
          <p:nvPr/>
        </p:nvPicPr>
        <p:blipFill>
          <a:blip r:embed="rId4"/>
          <a:stretch>
            <a:fillRect/>
          </a:stretch>
        </p:blipFill>
        <p:spPr>
          <a:xfrm>
            <a:off x="6638768" y="3977640"/>
            <a:ext cx="4736144" cy="2286000"/>
          </a:xfrm>
          <a:prstGeom prst="rect">
            <a:avLst/>
          </a:prstGeom>
        </p:spPr>
      </p:pic>
      <p:sp>
        <p:nvSpPr>
          <p:cNvPr id="8" name="Shape 3"/>
          <p:cNvSpPr/>
          <p:nvPr/>
        </p:nvSpPr>
        <p:spPr>
          <a:xfrm>
            <a:off x="548640" y="4114800"/>
            <a:ext cx="5577840" cy="2103120"/>
          </a:xfrm>
          <a:prstGeom prst="roundRect">
            <a:avLst>
              <a:gd name="adj" fmla="val 3478"/>
            </a:avLst>
          </a:prstGeom>
          <a:solidFill>
            <a:srgbClr val="F1F6F5"/>
          </a:solidFill>
          <a:ln w="12700">
            <a:solidFill>
              <a:srgbClr val="F1F6F5"/>
            </a:solidFill>
            <a:prstDash val="solid"/>
          </a:ln>
        </p:spPr>
      </p:sp>
      <p:sp>
        <p:nvSpPr>
          <p:cNvPr id="9" name="Text 4"/>
          <p:cNvSpPr txBox="1"/>
          <p:nvPr/>
        </p:nvSpPr>
        <p:spPr>
          <a:xfrm>
            <a:off x="777240" y="4251960"/>
            <a:ext cx="5120640" cy="320040"/>
          </a:xfrm>
          <a:prstGeom prst="rect">
            <a:avLst/>
          </a:prstGeom>
          <a:noFill/>
          <a:ln/>
        </p:spPr>
        <p:txBody>
          <a:bodyPr wrap="square" lIns="0" tIns="0" rIns="0" bIns="0" rtlCol="0" anchor="t"/>
          <a:lstStyle/>
          <a:p>
            <a:pPr indent="0" marL="0">
              <a:buNone/>
            </a:pPr>
            <a:r>
              <a:rPr lang="en-US" sz="1400" b="1" dirty="0">
                <a:solidFill>
                  <a:srgbClr val="2F7F73"/>
                </a:solidFill>
                <a:latin typeface="Calibri" pitchFamily="34" charset="0"/>
                <a:ea typeface="Calibri" pitchFamily="34" charset="-122"/>
                <a:cs typeface="Calibri" pitchFamily="34" charset="-120"/>
              </a:rPr>
              <a:t>Reading the plots</a:t>
            </a:r>
            <a:endParaRPr lang="en-US" sz="1400" dirty="0"/>
          </a:p>
        </p:txBody>
      </p:sp>
      <p:sp>
        <p:nvSpPr>
          <p:cNvPr id="10" name="Text 5"/>
          <p:cNvSpPr txBox="1"/>
          <p:nvPr/>
        </p:nvSpPr>
        <p:spPr>
          <a:xfrm>
            <a:off x="777240" y="4617720"/>
            <a:ext cx="521208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F5F65"/>
                </a:solidFill>
                <a:latin typeface="Calibri" pitchFamily="34" charset="0"/>
                <a:ea typeface="Calibri" pitchFamily="34" charset="-122"/>
                <a:cs typeface="Calibri" pitchFamily="34" charset="-120"/>
              </a:rPr>
              <a:t>Left: PCA of encoder features on ETT (blue = Domain 1, orange = Domain 2). After CARE-DA the two clouds mix more evenly; latent MMD² falls from 0.18 to 0.04.</a:t>
            </a:r>
            <a:endParaRPr lang="en-US" sz="1200" dirty="0"/>
          </a:p>
          <a:p>
            <a:pPr marL="342900" indent="-342900">
              <a:spcAft>
                <a:spcPts val="600"/>
              </a:spcAft>
              <a:buSzPct val="100000"/>
              <a:buChar char="•"/>
            </a:pPr>
            <a:r>
              <a:rPr lang="en-US" sz="1200" dirty="0">
                <a:solidFill>
                  <a:srgbClr val="4F5F65"/>
                </a:solidFill>
                <a:latin typeface="Calibri" pitchFamily="34" charset="0"/>
                <a:ea typeface="Calibri" pitchFamily="34" charset="-122"/>
                <a:cs typeface="Calibri" pitchFamily="34" charset="-120"/>
              </a:rPr>
              <a:t>Right: Domain 2 test windows. Grey = input, black = actual, orange dashed = source-only, blue = CARE-DA, green dotted = supervised oracle.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07 · INSIGHTS SO FAR</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Ablations, sensitivity and what we learned</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2331720"/>
                <a:gridCol w="1051560"/>
                <a:gridCol w="1051560"/>
                <a:gridCol w="1051560"/>
              </a:tblGrid>
              <a:tr h="384048">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Variant (Δ MSE vs src-only)</a:t>
                      </a:r>
                      <a:endParaRPr lang="en-US" sz="1250" dirty="0">
                        <a:latin typeface="Calibri" charset="0"/>
                        <a:ea typeface="Calibri" charset="0"/>
                        <a:cs typeface="Calibri" charset="0"/>
                      </a:endParaRPr>
                    </a:p>
                  </a:txBody>
                  <a:tcPr marL="54864" marR="54864" marT="54864" marB="54864"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Climate</a:t>
                      </a:r>
                      <a:endParaRPr lang="en-US" sz="1250" dirty="0">
                        <a:latin typeface="Calibri" charset="0"/>
                        <a:ea typeface="Calibri" charset="0"/>
                        <a:cs typeface="Calibri" charset="0"/>
                      </a:endParaRPr>
                    </a:p>
                  </a:txBody>
                  <a:tcPr marL="54864" marR="54864" marT="54864" marB="54864"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Energy</a:t>
                      </a:r>
                      <a:endParaRPr lang="en-US" sz="1250" dirty="0">
                        <a:latin typeface="Calibri" charset="0"/>
                        <a:ea typeface="Calibri" charset="0"/>
                        <a:cs typeface="Calibri" charset="0"/>
                      </a:endParaRPr>
                    </a:p>
                  </a:txBody>
                  <a:tcPr marL="54864" marR="54864" marT="54864" marB="54864"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Finance</a:t>
                      </a:r>
                      <a:endParaRPr lang="en-US" sz="1250" dirty="0">
                        <a:latin typeface="Calibri" charset="0"/>
                        <a:ea typeface="Calibri" charset="0"/>
                        <a:cs typeface="Calibri" charset="0"/>
                      </a:endParaRPr>
                    </a:p>
                  </a:txBody>
                  <a:tcPr marL="54864" marR="54864" marT="54864" marB="54864"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16232A"/>
                    </a:solidFill>
                  </a:tcPr>
                </a:tc>
              </a:tr>
              <a:tr h="384048">
                <a:tc>
                  <a:txBody>
                    <a:bodyPr/>
                    <a:lstStyle/>
                    <a:p>
                      <a:pPr indent="0" marL="0">
                        <a:buNone/>
                      </a:pPr>
                      <a:r>
                        <a:rPr lang="en-US" sz="1250" b="1" dirty="0">
                          <a:solidFill>
                            <a:srgbClr val="2F7F73"/>
                          </a:solidFill>
                          <a:latin typeface="Calibri" pitchFamily="34" charset="0"/>
                          <a:ea typeface="Calibri" pitchFamily="34" charset="-122"/>
                          <a:cs typeface="Calibri" pitchFamily="34" charset="-120"/>
                        </a:rPr>
                        <a:t>Full CARE-DA</a:t>
                      </a:r>
                      <a:endParaRPr lang="en-US" sz="1250" dirty="0">
                        <a:latin typeface="Calibri" charset="0"/>
                        <a:ea typeface="Calibri" charset="0"/>
                        <a:cs typeface="Calibri" charset="0"/>
                      </a:endParaRPr>
                    </a:p>
                  </a:txBody>
                  <a:tcPr marL="54864" marR="54864" marT="54864" marB="54864"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B31"/>
                          </a:solidFill>
                          <a:latin typeface="Calibri" pitchFamily="34" charset="0"/>
                          <a:ea typeface="Calibri" pitchFamily="34" charset="-122"/>
                          <a:cs typeface="Calibri" pitchFamily="34" charset="-120"/>
                        </a:rPr>
                        <a:t>-3.6%</a:t>
                      </a:r>
                      <a:endParaRPr lang="en-US" sz="1250" dirty="0">
                        <a:latin typeface="Calibri" charset="0"/>
                        <a:ea typeface="Calibri" charset="0"/>
                        <a:cs typeface="Calibri" charset="0"/>
                      </a:endParaRPr>
                    </a:p>
                  </a:txBody>
                  <a:tcPr marL="54864" marR="54864" marT="54864" marB="54864"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B31"/>
                          </a:solidFill>
                          <a:latin typeface="Calibri" pitchFamily="34" charset="0"/>
                          <a:ea typeface="Calibri" pitchFamily="34" charset="-122"/>
                          <a:cs typeface="Calibri" pitchFamily="34" charset="-120"/>
                        </a:rPr>
                        <a:t>-3.3%</a:t>
                      </a:r>
                      <a:endParaRPr lang="en-US" sz="1250" dirty="0">
                        <a:latin typeface="Calibri" charset="0"/>
                        <a:ea typeface="Calibri" charset="0"/>
                        <a:cs typeface="Calibri" charset="0"/>
                      </a:endParaRPr>
                    </a:p>
                  </a:txBody>
                  <a:tcPr marL="54864" marR="54864" marT="54864" marB="54864"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B31"/>
                          </a:solidFill>
                          <a:latin typeface="Calibri" pitchFamily="34" charset="0"/>
                          <a:ea typeface="Calibri" pitchFamily="34" charset="-122"/>
                          <a:cs typeface="Calibri" pitchFamily="34" charset="-120"/>
                        </a:rPr>
                        <a:t>+0.1%</a:t>
                      </a:r>
                      <a:endParaRPr lang="en-US" sz="1250" dirty="0">
                        <a:latin typeface="Calibri" charset="0"/>
                        <a:ea typeface="Calibri" charset="0"/>
                        <a:cs typeface="Calibri" charset="0"/>
                      </a:endParaRPr>
                    </a:p>
                  </a:txBody>
                  <a:tcPr marL="54864" marR="54864" marT="54864" marB="54864"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B2B31"/>
                          </a:solidFill>
                          <a:latin typeface="Calibri" pitchFamily="34" charset="0"/>
                          <a:ea typeface="Calibri" pitchFamily="34" charset="-122"/>
                          <a:cs typeface="Calibri" pitchFamily="34" charset="-120"/>
                        </a:rPr>
                        <a:t>− alignment</a:t>
                      </a:r>
                      <a:endParaRPr lang="en-US" sz="1250" dirty="0">
                        <a:latin typeface="Calibri" charset="0"/>
                        <a:ea typeface="Calibri" charset="0"/>
                        <a:cs typeface="Calibri" charset="0"/>
                      </a:endParaRPr>
                    </a:p>
                  </a:txBody>
                  <a:tcPr marL="54864" marR="54864" marT="54864" marB="54864"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50" dirty="0">
                          <a:solidFill>
                            <a:srgbClr val="B5473A"/>
                          </a:solidFill>
                          <a:latin typeface="Calibri" pitchFamily="34" charset="0"/>
                          <a:ea typeface="Calibri" pitchFamily="34" charset="-122"/>
                          <a:cs typeface="Calibri" pitchFamily="34" charset="-120"/>
                        </a:rPr>
                        <a:t>+5.8%</a:t>
                      </a:r>
                      <a:endParaRPr lang="en-US" sz="1250" dirty="0">
                        <a:latin typeface="Calibri" charset="0"/>
                        <a:ea typeface="Calibri" charset="0"/>
                        <a:cs typeface="Calibri" charset="0"/>
                      </a:endParaRPr>
                    </a:p>
                  </a:txBody>
                  <a:tcPr marL="54864" marR="54864" marT="54864" marB="54864"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50" dirty="0">
                          <a:solidFill>
                            <a:srgbClr val="B5473A"/>
                          </a:solidFill>
                          <a:latin typeface="Calibri" pitchFamily="34" charset="0"/>
                          <a:ea typeface="Calibri" pitchFamily="34" charset="-122"/>
                          <a:cs typeface="Calibri" pitchFamily="34" charset="-120"/>
                        </a:rPr>
                        <a:t>+4.5%</a:t>
                      </a:r>
                      <a:endParaRPr lang="en-US" sz="1250" dirty="0">
                        <a:latin typeface="Calibri" charset="0"/>
                        <a:ea typeface="Calibri" charset="0"/>
                        <a:cs typeface="Calibri" charset="0"/>
                      </a:endParaRPr>
                    </a:p>
                  </a:txBody>
                  <a:tcPr marL="54864" marR="54864" marT="54864" marB="54864"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50" dirty="0">
                          <a:solidFill>
                            <a:srgbClr val="B5473A"/>
                          </a:solidFill>
                          <a:latin typeface="Calibri" pitchFamily="34" charset="0"/>
                          <a:ea typeface="Calibri" pitchFamily="34" charset="-122"/>
                          <a:cs typeface="Calibri" pitchFamily="34" charset="-120"/>
                        </a:rPr>
                        <a:t>+0.6%</a:t>
                      </a:r>
                      <a:endParaRPr lang="en-US" sz="1250" dirty="0">
                        <a:latin typeface="Calibri" charset="0"/>
                        <a:ea typeface="Calibri" charset="0"/>
                        <a:cs typeface="Calibri" charset="0"/>
                      </a:endParaRPr>
                    </a:p>
                  </a:txBody>
                  <a:tcPr marL="54864" marR="54864" marT="54864" marB="54864"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r>
              <a:tr h="384048">
                <a:tc>
                  <a:txBody>
                    <a:bodyPr/>
                    <a:lstStyle/>
                    <a:p>
                      <a:pPr indent="0" marL="0">
                        <a:buNone/>
                      </a:pPr>
                      <a:r>
                        <a:rPr lang="en-US" sz="1250" dirty="0">
                          <a:solidFill>
                            <a:srgbClr val="1B2B31"/>
                          </a:solidFill>
                          <a:latin typeface="Calibri" pitchFamily="34" charset="0"/>
                          <a:ea typeface="Calibri" pitchFamily="34" charset="-122"/>
                          <a:cs typeface="Calibri" pitchFamily="34" charset="-120"/>
                        </a:rPr>
                        <a:t>− self-supervision</a:t>
                      </a:r>
                      <a:endParaRPr lang="en-US" sz="1250" dirty="0">
                        <a:latin typeface="Calibri" charset="0"/>
                        <a:ea typeface="Calibri" charset="0"/>
                        <a:cs typeface="Calibri" charset="0"/>
                      </a:endParaRPr>
                    </a:p>
                  </a:txBody>
                  <a:tcPr marL="54864" marR="54864" marT="54864" marB="54864"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B31"/>
                          </a:solidFill>
                          <a:latin typeface="Calibri" pitchFamily="34" charset="0"/>
                          <a:ea typeface="Calibri" pitchFamily="34" charset="-122"/>
                          <a:cs typeface="Calibri" pitchFamily="34" charset="-120"/>
                        </a:rPr>
                        <a:t>-7.8%</a:t>
                      </a:r>
                      <a:endParaRPr lang="en-US" sz="1250" dirty="0">
                        <a:latin typeface="Calibri" charset="0"/>
                        <a:ea typeface="Calibri" charset="0"/>
                        <a:cs typeface="Calibri" charset="0"/>
                      </a:endParaRPr>
                    </a:p>
                  </a:txBody>
                  <a:tcPr marL="54864" marR="54864" marT="54864" marB="54864"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B31"/>
                          </a:solidFill>
                          <a:latin typeface="Calibri" pitchFamily="34" charset="0"/>
                          <a:ea typeface="Calibri" pitchFamily="34" charset="-122"/>
                          <a:cs typeface="Calibri" pitchFamily="34" charset="-120"/>
                        </a:rPr>
                        <a:t>-6.4%</a:t>
                      </a:r>
                      <a:endParaRPr lang="en-US" sz="1250" dirty="0">
                        <a:latin typeface="Calibri" charset="0"/>
                        <a:ea typeface="Calibri" charset="0"/>
                        <a:cs typeface="Calibri" charset="0"/>
                      </a:endParaRPr>
                    </a:p>
                  </a:txBody>
                  <a:tcPr marL="54864" marR="54864" marT="54864" marB="54864"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B31"/>
                          </a:solidFill>
                          <a:latin typeface="Calibri" pitchFamily="34" charset="0"/>
                          <a:ea typeface="Calibri" pitchFamily="34" charset="-122"/>
                          <a:cs typeface="Calibri" pitchFamily="34" charset="-120"/>
                        </a:rPr>
                        <a:t>-0.6%</a:t>
                      </a:r>
                      <a:endParaRPr lang="en-US" sz="1250" dirty="0">
                        <a:latin typeface="Calibri" charset="0"/>
                        <a:ea typeface="Calibri" charset="0"/>
                        <a:cs typeface="Calibri" charset="0"/>
                      </a:endParaRPr>
                    </a:p>
                  </a:txBody>
                  <a:tcPr marL="54864" marR="54864" marT="54864" marB="54864"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B2B31"/>
                          </a:solidFill>
                          <a:latin typeface="Calibri" pitchFamily="34" charset="0"/>
                          <a:ea typeface="Calibri" pitchFamily="34" charset="-122"/>
                          <a:cs typeface="Calibri" pitchFamily="34" charset="-120"/>
                        </a:rPr>
                        <a:t>− anchor</a:t>
                      </a:r>
                      <a:endParaRPr lang="en-US" sz="1250" dirty="0">
                        <a:latin typeface="Calibri" charset="0"/>
                        <a:ea typeface="Calibri" charset="0"/>
                        <a:cs typeface="Calibri" charset="0"/>
                      </a:endParaRPr>
                    </a:p>
                  </a:txBody>
                  <a:tcPr marL="54864" marR="54864" marT="54864" marB="54864"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50" dirty="0">
                          <a:solidFill>
                            <a:srgbClr val="1B2B31"/>
                          </a:solidFill>
                          <a:latin typeface="Calibri" pitchFamily="34" charset="0"/>
                          <a:ea typeface="Calibri" pitchFamily="34" charset="-122"/>
                          <a:cs typeface="Calibri" pitchFamily="34" charset="-120"/>
                        </a:rPr>
                        <a:t>-3.8%</a:t>
                      </a:r>
                      <a:endParaRPr lang="en-US" sz="1250" dirty="0">
                        <a:latin typeface="Calibri" charset="0"/>
                        <a:ea typeface="Calibri" charset="0"/>
                        <a:cs typeface="Calibri" charset="0"/>
                      </a:endParaRPr>
                    </a:p>
                  </a:txBody>
                  <a:tcPr marL="54864" marR="54864" marT="54864" marB="54864"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50" dirty="0">
                          <a:solidFill>
                            <a:srgbClr val="1B2B31"/>
                          </a:solidFill>
                          <a:latin typeface="Calibri" pitchFamily="34" charset="0"/>
                          <a:ea typeface="Calibri" pitchFamily="34" charset="-122"/>
                          <a:cs typeface="Calibri" pitchFamily="34" charset="-120"/>
                        </a:rPr>
                        <a:t>-0.1%</a:t>
                      </a:r>
                      <a:endParaRPr lang="en-US" sz="1250" dirty="0">
                        <a:latin typeface="Calibri" charset="0"/>
                        <a:ea typeface="Calibri" charset="0"/>
                        <a:cs typeface="Calibri" charset="0"/>
                      </a:endParaRPr>
                    </a:p>
                  </a:txBody>
                  <a:tcPr marL="54864" marR="54864" marT="54864" marB="54864"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c>
                  <a:txBody>
                    <a:bodyPr/>
                    <a:lstStyle/>
                    <a:p>
                      <a:pPr algn="ctr" indent="0" marL="0">
                        <a:buNone/>
                      </a:pPr>
                      <a:r>
                        <a:rPr lang="en-US" sz="1250" dirty="0">
                          <a:solidFill>
                            <a:srgbClr val="B5473A"/>
                          </a:solidFill>
                          <a:latin typeface="Calibri" pitchFamily="34" charset="0"/>
                          <a:ea typeface="Calibri" pitchFamily="34" charset="-122"/>
                          <a:cs typeface="Calibri" pitchFamily="34" charset="-120"/>
                        </a:rPr>
                        <a:t>+0.5%</a:t>
                      </a:r>
                      <a:endParaRPr lang="en-US" sz="1250" dirty="0">
                        <a:latin typeface="Calibri" charset="0"/>
                        <a:ea typeface="Calibri" charset="0"/>
                        <a:cs typeface="Calibri" charset="0"/>
                      </a:endParaRPr>
                    </a:p>
                  </a:txBody>
                  <a:tcPr marL="54864" marR="54864" marT="54864" marB="54864" anchor="ctr">
                    <a:lnL w="9525" cap="flat" cmpd="sng" algn="ctr">
                      <a:solidFill>
                        <a:srgbClr val="CFDAD8"/>
                      </a:solidFill>
                      <a:prstDash val="solid"/>
                      <a:round/>
                      <a:headEnd type="none" w="med" len="med"/>
                      <a:tailEnd type="none" w="med" len="med"/>
                    </a:lnL>
                    <a:lnR w="9525" cap="flat" cmpd="sng" algn="ctr">
                      <a:solidFill>
                        <a:srgbClr val="CFDAD8"/>
                      </a:solidFill>
                      <a:prstDash val="solid"/>
                      <a:round/>
                      <a:headEnd type="none" w="med" len="med"/>
                      <a:tailEnd type="none" w="med" len="med"/>
                    </a:lnR>
                    <a:lnT w="9525" cap="flat" cmpd="sng" algn="ctr">
                      <a:solidFill>
                        <a:srgbClr val="CFDAD8"/>
                      </a:solidFill>
                      <a:prstDash val="solid"/>
                      <a:round/>
                      <a:headEnd type="none" w="med" len="med"/>
                      <a:tailEnd type="none" w="med" len="med"/>
                    </a:lnT>
                    <a:lnB w="9525" cap="flat" cmpd="sng" algn="ctr">
                      <a:solidFill>
                        <a:srgbClr val="CFDAD8"/>
                      </a:solidFill>
                      <a:prstDash val="solid"/>
                      <a:round/>
                      <a:headEnd type="none" w="med" len="med"/>
                      <a:tailEnd type="none" w="med" len="med"/>
                    </a:lnB>
                    <a:solidFill>
                      <a:srgbClr val="F1F6F5"/>
                    </a:solidFill>
                  </a:tcPr>
                </a:tc>
              </a:tr>
            </a:tbl>
          </a:graphicData>
        </a:graphic>
      </p:graphicFrame>
      <p:pic>
        <p:nvPicPr>
          <p:cNvPr id="6" name="Image 0" descr="C:\Users\miral\OneDrive\Documents\IE643_project\results\figures\sensitivity.png">    </p:cNvPr>
          <p:cNvPicPr>
            <a:picLocks noChangeAspect="1"/>
          </p:cNvPicPr>
          <p:nvPr/>
        </p:nvPicPr>
        <p:blipFill>
          <a:blip r:embed="rId2"/>
          <a:stretch>
            <a:fillRect/>
          </a:stretch>
        </p:blipFill>
        <p:spPr>
          <a:xfrm>
            <a:off x="548640" y="3886568"/>
            <a:ext cx="5486400" cy="1919505"/>
          </a:xfrm>
          <a:prstGeom prst="rect">
            <a:avLst/>
          </a:prstGeom>
        </p:spPr>
      </p:pic>
      <p:sp>
        <p:nvSpPr>
          <p:cNvPr id="7" name="Shape 3"/>
          <p:cNvSpPr/>
          <p:nvPr/>
        </p:nvSpPr>
        <p:spPr>
          <a:xfrm>
            <a:off x="6355080" y="1371600"/>
            <a:ext cx="5285232" cy="1481328"/>
          </a:xfrm>
          <a:prstGeom prst="roundRect">
            <a:avLst>
              <a:gd name="adj" fmla="val 4938"/>
            </a:avLst>
          </a:prstGeom>
          <a:solidFill>
            <a:srgbClr val="F1F6F5"/>
          </a:solidFill>
          <a:ln w="12700">
            <a:solidFill>
              <a:srgbClr val="F1F6F5"/>
            </a:solidFill>
            <a:prstDash val="solid"/>
          </a:ln>
        </p:spPr>
      </p:sp>
      <p:sp>
        <p:nvSpPr>
          <p:cNvPr id="8" name="Shape 4"/>
          <p:cNvSpPr/>
          <p:nvPr/>
        </p:nvSpPr>
        <p:spPr>
          <a:xfrm>
            <a:off x="6537960" y="1554480"/>
            <a:ext cx="475488" cy="475488"/>
          </a:xfrm>
          <a:prstGeom prst="ellipse">
            <a:avLst/>
          </a:prstGeom>
          <a:solidFill>
            <a:srgbClr val="2F7F73"/>
          </a:solidFill>
          <a:ln w="12700">
            <a:solidFill>
              <a:srgbClr val="2F7F73"/>
            </a:solidFill>
            <a:prstDash val="solid"/>
          </a:ln>
        </p:spPr>
      </p:sp>
      <p:pic>
        <p:nvPicPr>
          <p:cNvPr id="9" name="Image 1" descr="preencoded.png">    </p:cNvPr>
          <p:cNvPicPr>
            <a:picLocks noChangeAspect="1"/>
          </p:cNvPicPr>
          <p:nvPr/>
        </p:nvPicPr>
        <p:blipFill>
          <a:blip r:embed="rId3"/>
          <a:stretch>
            <a:fillRect/>
          </a:stretch>
        </p:blipFill>
        <p:spPr>
          <a:xfrm>
            <a:off x="6661587" y="1678107"/>
            <a:ext cx="228234" cy="228234"/>
          </a:xfrm>
          <a:prstGeom prst="rect">
            <a:avLst/>
          </a:prstGeom>
        </p:spPr>
      </p:pic>
      <p:sp>
        <p:nvSpPr>
          <p:cNvPr id="10" name="Text 5"/>
          <p:cNvSpPr txBox="1"/>
          <p:nvPr/>
        </p:nvSpPr>
        <p:spPr>
          <a:xfrm>
            <a:off x="7178040" y="1517904"/>
            <a:ext cx="4343400" cy="320040"/>
          </a:xfrm>
          <a:prstGeom prst="rect">
            <a:avLst/>
          </a:prstGeom>
          <a:noFill/>
          <a:ln/>
        </p:spPr>
        <p:txBody>
          <a:bodyPr wrap="square" lIns="0" tIns="0" rIns="0" bIns="0" rtlCol="0" anchor="t"/>
          <a:lstStyle/>
          <a:p>
            <a:pPr indent="0" marL="0">
              <a:buNone/>
            </a:pPr>
            <a:r>
              <a:rPr lang="en-US" sz="1400" b="1" dirty="0">
                <a:solidFill>
                  <a:srgbClr val="1B2B31"/>
                </a:solidFill>
                <a:latin typeface="Calibri" pitchFamily="34" charset="0"/>
                <a:ea typeface="Calibri" pitchFamily="34" charset="-122"/>
                <a:cs typeface="Calibri" pitchFamily="34" charset="-120"/>
              </a:rPr>
              <a:t>Alignment is the working core</a:t>
            </a:r>
            <a:endParaRPr lang="en-US" sz="1400" dirty="0"/>
          </a:p>
        </p:txBody>
      </p:sp>
      <p:sp>
        <p:nvSpPr>
          <p:cNvPr id="11" name="Text 6"/>
          <p:cNvSpPr txBox="1"/>
          <p:nvPr/>
        </p:nvSpPr>
        <p:spPr>
          <a:xfrm>
            <a:off x="7178040" y="1847088"/>
            <a:ext cx="4343400" cy="960120"/>
          </a:xfrm>
          <a:prstGeom prst="rect">
            <a:avLst/>
          </a:prstGeom>
          <a:noFill/>
          <a:ln/>
        </p:spPr>
        <p:txBody>
          <a:bodyPr wrap="square" lIns="0" tIns="0" rIns="0" bIns="0" rtlCol="0" anchor="t"/>
          <a:lstStyle/>
          <a:p>
            <a:pPr indent="0" marL="0">
              <a:buNone/>
            </a:pPr>
            <a:r>
              <a:rPr lang="en-US" sz="1150" dirty="0">
                <a:solidFill>
                  <a:srgbClr val="4F5F65"/>
                </a:solidFill>
                <a:latin typeface="Calibri" pitchFamily="34" charset="0"/>
                <a:ea typeface="Calibri" pitchFamily="34" charset="-122"/>
                <a:cs typeface="Calibri" pitchFamily="34" charset="-120"/>
              </a:rPr>
              <a:t>Removing the MMD + CORAL terms turns every gain into negative transfer. Matching feature distributions is what adapts the model.</a:t>
            </a:r>
            <a:endParaRPr lang="en-US" sz="1150" dirty="0"/>
          </a:p>
        </p:txBody>
      </p:sp>
      <p:sp>
        <p:nvSpPr>
          <p:cNvPr id="12" name="Shape 7"/>
          <p:cNvSpPr/>
          <p:nvPr/>
        </p:nvSpPr>
        <p:spPr>
          <a:xfrm>
            <a:off x="6355080" y="3017520"/>
            <a:ext cx="5285232" cy="1481328"/>
          </a:xfrm>
          <a:prstGeom prst="roundRect">
            <a:avLst>
              <a:gd name="adj" fmla="val 4938"/>
            </a:avLst>
          </a:prstGeom>
          <a:solidFill>
            <a:srgbClr val="F1F6F5"/>
          </a:solidFill>
          <a:ln w="12700">
            <a:solidFill>
              <a:srgbClr val="F1F6F5"/>
            </a:solidFill>
            <a:prstDash val="solid"/>
          </a:ln>
        </p:spPr>
      </p:sp>
      <p:sp>
        <p:nvSpPr>
          <p:cNvPr id="13" name="Shape 8"/>
          <p:cNvSpPr/>
          <p:nvPr/>
        </p:nvSpPr>
        <p:spPr>
          <a:xfrm>
            <a:off x="6537960" y="3200400"/>
            <a:ext cx="475488" cy="475488"/>
          </a:xfrm>
          <a:prstGeom prst="ellipse">
            <a:avLst/>
          </a:prstGeom>
          <a:solidFill>
            <a:srgbClr val="D98A1E"/>
          </a:solidFill>
          <a:ln w="12700">
            <a:solidFill>
              <a:srgbClr val="D98A1E"/>
            </a:solidFill>
            <a:prstDash val="solid"/>
          </a:ln>
        </p:spPr>
      </p:sp>
      <p:pic>
        <p:nvPicPr>
          <p:cNvPr id="14" name="Image 2" descr="preencoded.png">    </p:cNvPr>
          <p:cNvPicPr>
            <a:picLocks noChangeAspect="1"/>
          </p:cNvPicPr>
          <p:nvPr/>
        </p:nvPicPr>
        <p:blipFill>
          <a:blip r:embed="rId4"/>
          <a:stretch>
            <a:fillRect/>
          </a:stretch>
        </p:blipFill>
        <p:spPr>
          <a:xfrm>
            <a:off x="6661587" y="3324027"/>
            <a:ext cx="228234" cy="228234"/>
          </a:xfrm>
          <a:prstGeom prst="rect">
            <a:avLst/>
          </a:prstGeom>
        </p:spPr>
      </p:pic>
      <p:sp>
        <p:nvSpPr>
          <p:cNvPr id="15" name="Text 9"/>
          <p:cNvSpPr txBox="1"/>
          <p:nvPr/>
        </p:nvSpPr>
        <p:spPr>
          <a:xfrm>
            <a:off x="7178040" y="3163824"/>
            <a:ext cx="4343400" cy="320040"/>
          </a:xfrm>
          <a:prstGeom prst="rect">
            <a:avLst/>
          </a:prstGeom>
          <a:noFill/>
          <a:ln/>
        </p:spPr>
        <p:txBody>
          <a:bodyPr wrap="square" lIns="0" tIns="0" rIns="0" bIns="0" rtlCol="0" anchor="t"/>
          <a:lstStyle/>
          <a:p>
            <a:pPr indent="0" marL="0">
              <a:buNone/>
            </a:pPr>
            <a:r>
              <a:rPr lang="en-US" sz="1400" b="1" dirty="0">
                <a:solidFill>
                  <a:srgbClr val="1B2B31"/>
                </a:solidFill>
                <a:latin typeface="Calibri" pitchFamily="34" charset="0"/>
                <a:ea typeface="Calibri" pitchFamily="34" charset="-122"/>
                <a:cs typeface="Calibri" pitchFamily="34" charset="-120"/>
              </a:rPr>
              <a:t>Our SSL term hurt: an honest negative result</a:t>
            </a:r>
            <a:endParaRPr lang="en-US" sz="1400" dirty="0"/>
          </a:p>
        </p:txBody>
      </p:sp>
      <p:sp>
        <p:nvSpPr>
          <p:cNvPr id="16" name="Text 10"/>
          <p:cNvSpPr txBox="1"/>
          <p:nvPr/>
        </p:nvSpPr>
        <p:spPr>
          <a:xfrm>
            <a:off x="7178040" y="3493008"/>
            <a:ext cx="4343400" cy="960120"/>
          </a:xfrm>
          <a:prstGeom prst="rect">
            <a:avLst/>
          </a:prstGeom>
          <a:noFill/>
          <a:ln/>
        </p:spPr>
        <p:txBody>
          <a:bodyPr wrap="square" lIns="0" tIns="0" rIns="0" bIns="0" rtlCol="0" anchor="t"/>
          <a:lstStyle/>
          <a:p>
            <a:pPr indent="0" marL="0">
              <a:buNone/>
            </a:pPr>
            <a:r>
              <a:rPr lang="en-US" sz="1150" dirty="0">
                <a:solidFill>
                  <a:srgbClr val="4F5F65"/>
                </a:solidFill>
                <a:latin typeface="Calibri" pitchFamily="34" charset="0"/>
                <a:ea typeface="Calibri" pitchFamily="34" charset="-122"/>
                <a:cs typeface="Calibri" pitchFamily="34" charset="-120"/>
              </a:rPr>
              <a:t>Dropping masked reconstruction helped on all three benchmarks, and error rises steadily with λ_R. Reconstructing inputs competes with forecast-relevant features. Next: a forecasting-aligned pretext task.</a:t>
            </a:r>
            <a:endParaRPr lang="en-US" sz="1150" dirty="0"/>
          </a:p>
        </p:txBody>
      </p:sp>
      <p:sp>
        <p:nvSpPr>
          <p:cNvPr id="17" name="Shape 11"/>
          <p:cNvSpPr/>
          <p:nvPr/>
        </p:nvSpPr>
        <p:spPr>
          <a:xfrm>
            <a:off x="6355080" y="4663440"/>
            <a:ext cx="5285232" cy="1481328"/>
          </a:xfrm>
          <a:prstGeom prst="roundRect">
            <a:avLst>
              <a:gd name="adj" fmla="val 4938"/>
            </a:avLst>
          </a:prstGeom>
          <a:solidFill>
            <a:srgbClr val="F1F6F5"/>
          </a:solidFill>
          <a:ln w="12700">
            <a:solidFill>
              <a:srgbClr val="F1F6F5"/>
            </a:solidFill>
            <a:prstDash val="solid"/>
          </a:ln>
        </p:spPr>
      </p:sp>
      <p:sp>
        <p:nvSpPr>
          <p:cNvPr id="18" name="Shape 12"/>
          <p:cNvSpPr/>
          <p:nvPr/>
        </p:nvSpPr>
        <p:spPr>
          <a:xfrm>
            <a:off x="6537960" y="4846320"/>
            <a:ext cx="475488" cy="475488"/>
          </a:xfrm>
          <a:prstGeom prst="ellipse">
            <a:avLst/>
          </a:prstGeom>
          <a:solidFill>
            <a:srgbClr val="2F7F73"/>
          </a:solidFill>
          <a:ln w="12700">
            <a:solidFill>
              <a:srgbClr val="2F7F73"/>
            </a:solidFill>
            <a:prstDash val="solid"/>
          </a:ln>
        </p:spPr>
      </p:sp>
      <p:pic>
        <p:nvPicPr>
          <p:cNvPr id="19" name="Image 3" descr="preencoded.png">    </p:cNvPr>
          <p:cNvPicPr>
            <a:picLocks noChangeAspect="1"/>
          </p:cNvPicPr>
          <p:nvPr/>
        </p:nvPicPr>
        <p:blipFill>
          <a:blip r:embed="rId5"/>
          <a:stretch>
            <a:fillRect/>
          </a:stretch>
        </p:blipFill>
        <p:spPr>
          <a:xfrm>
            <a:off x="6661587" y="4969947"/>
            <a:ext cx="228234" cy="228234"/>
          </a:xfrm>
          <a:prstGeom prst="rect">
            <a:avLst/>
          </a:prstGeom>
        </p:spPr>
      </p:pic>
      <p:sp>
        <p:nvSpPr>
          <p:cNvPr id="20" name="Text 13"/>
          <p:cNvSpPr txBox="1"/>
          <p:nvPr/>
        </p:nvSpPr>
        <p:spPr>
          <a:xfrm>
            <a:off x="7178040" y="4809744"/>
            <a:ext cx="4343400" cy="320040"/>
          </a:xfrm>
          <a:prstGeom prst="rect">
            <a:avLst/>
          </a:prstGeom>
          <a:noFill/>
          <a:ln/>
        </p:spPr>
        <p:txBody>
          <a:bodyPr wrap="square" lIns="0" tIns="0" rIns="0" bIns="0" rtlCol="0" anchor="t"/>
          <a:lstStyle/>
          <a:p>
            <a:pPr indent="0" marL="0">
              <a:buNone/>
            </a:pPr>
            <a:r>
              <a:rPr lang="en-US" sz="1400" b="1" dirty="0">
                <a:solidFill>
                  <a:srgbClr val="1B2B31"/>
                </a:solidFill>
                <a:latin typeface="Calibri" pitchFamily="34" charset="0"/>
                <a:ea typeface="Calibri" pitchFamily="34" charset="-122"/>
                <a:cs typeface="Calibri" pitchFamily="34" charset="-120"/>
              </a:rPr>
              <a:t>Anchor helps where the shift is strong</a:t>
            </a:r>
            <a:endParaRPr lang="en-US" sz="1400" dirty="0"/>
          </a:p>
        </p:txBody>
      </p:sp>
      <p:sp>
        <p:nvSpPr>
          <p:cNvPr id="21" name="Text 14"/>
          <p:cNvSpPr txBox="1"/>
          <p:nvPr/>
        </p:nvSpPr>
        <p:spPr>
          <a:xfrm>
            <a:off x="7178040" y="5138928"/>
            <a:ext cx="4343400" cy="960120"/>
          </a:xfrm>
          <a:prstGeom prst="rect">
            <a:avLst/>
          </a:prstGeom>
          <a:noFill/>
          <a:ln/>
        </p:spPr>
        <p:txBody>
          <a:bodyPr wrap="square" lIns="0" tIns="0" rIns="0" bIns="0" rtlCol="0" anchor="t"/>
          <a:lstStyle/>
          <a:p>
            <a:pPr indent="0" marL="0">
              <a:buNone/>
            </a:pPr>
            <a:r>
              <a:rPr lang="en-US" sz="1150" dirty="0">
                <a:solidFill>
                  <a:srgbClr val="4F5F65"/>
                </a:solidFill>
                <a:latin typeface="Calibri" pitchFamily="34" charset="0"/>
                <a:ea typeface="Calibri" pitchFamily="34" charset="-122"/>
                <a:cs typeface="Calibri" pitchFamily="34" charset="-120"/>
              </a:rPr>
              <a:t>On energy the anchor turns −0.1% into −3.3%; DANN or CORAL alone cause negative transfer. Finance has little to gain (oracle only −2.4%).</a:t>
            </a:r>
            <a:endParaRPr lang="en-US" sz="11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08 · INTERFACE</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Interactive demo: upload a CSV, see the forecast and its score</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sp>
        <p:nvSpPr>
          <p:cNvPr id="5" name="Shape 3"/>
          <p:cNvSpPr/>
          <p:nvPr/>
        </p:nvSpPr>
        <p:spPr>
          <a:xfrm>
            <a:off x="548640" y="1417320"/>
            <a:ext cx="6858000" cy="4800600"/>
          </a:xfrm>
          <a:prstGeom prst="roundRect">
            <a:avLst>
              <a:gd name="adj" fmla="val 1143"/>
            </a:avLst>
          </a:prstGeom>
          <a:solidFill>
            <a:srgbClr val="F1F6F5"/>
          </a:solidFill>
          <a:ln w="12700">
            <a:solidFill>
              <a:srgbClr val="CFDAD8"/>
            </a:solidFill>
            <a:prstDash val="solid"/>
          </a:ln>
        </p:spPr>
      </p:sp>
      <p:pic>
        <p:nvPicPr>
          <p:cNvPr id="6" name="Image 0" descr="C:\Users\miral\OneDrive\Documents\IE643_project\presentation\assets\app_screenshot.png">    </p:cNvPr>
          <p:cNvPicPr>
            <a:picLocks noChangeAspect="1"/>
          </p:cNvPicPr>
          <p:nvPr/>
        </p:nvPicPr>
        <p:blipFill>
          <a:blip r:embed="rId2"/>
          <a:stretch>
            <a:fillRect/>
          </a:stretch>
        </p:blipFill>
        <p:spPr>
          <a:xfrm>
            <a:off x="679269" y="1508760"/>
            <a:ext cx="6596743" cy="4617720"/>
          </a:xfrm>
          <a:prstGeom prst="rect">
            <a:avLst/>
          </a:prstGeom>
        </p:spPr>
      </p:pic>
      <p:sp>
        <p:nvSpPr>
          <p:cNvPr id="7" name="Shape 4"/>
          <p:cNvSpPr/>
          <p:nvPr/>
        </p:nvSpPr>
        <p:spPr>
          <a:xfrm>
            <a:off x="7680960" y="1508760"/>
            <a:ext cx="457200" cy="457200"/>
          </a:xfrm>
          <a:prstGeom prst="ellipse">
            <a:avLst/>
          </a:prstGeom>
          <a:solidFill>
            <a:srgbClr val="2F7F73"/>
          </a:solidFill>
          <a:ln w="12700">
            <a:solidFill>
              <a:srgbClr val="2F7F73"/>
            </a:solidFill>
            <a:prstDash val="solid"/>
          </a:ln>
        </p:spPr>
      </p:sp>
      <p:pic>
        <p:nvPicPr>
          <p:cNvPr id="8" name="Image 1" descr="preencoded.png">    </p:cNvPr>
          <p:cNvPicPr>
            <a:picLocks noChangeAspect="1"/>
          </p:cNvPicPr>
          <p:nvPr/>
        </p:nvPicPr>
        <p:blipFill>
          <a:blip r:embed="rId3"/>
          <a:stretch>
            <a:fillRect/>
          </a:stretch>
        </p:blipFill>
        <p:spPr>
          <a:xfrm>
            <a:off x="7799832" y="1627632"/>
            <a:ext cx="219456" cy="219456"/>
          </a:xfrm>
          <a:prstGeom prst="rect">
            <a:avLst/>
          </a:prstGeom>
        </p:spPr>
      </p:pic>
      <p:sp>
        <p:nvSpPr>
          <p:cNvPr id="9" name="Text 5"/>
          <p:cNvSpPr txBox="1"/>
          <p:nvPr/>
        </p:nvSpPr>
        <p:spPr>
          <a:xfrm>
            <a:off x="8275320" y="1463040"/>
            <a:ext cx="3364992" cy="960120"/>
          </a:xfrm>
          <a:prstGeom prst="rect">
            <a:avLst/>
          </a:prstGeom>
          <a:noFill/>
          <a:ln/>
        </p:spPr>
        <p:txBody>
          <a:bodyPr wrap="square" lIns="0" tIns="0" rIns="0" bIns="0" rtlCol="0" anchor="t"/>
          <a:lstStyle/>
          <a:p>
            <a:pPr indent="0" marL="0">
              <a:buNone/>
            </a:pPr>
            <a:r>
              <a:rPr lang="en-US" sz="1200" dirty="0">
                <a:solidFill>
                  <a:srgbClr val="4F5F65"/>
                </a:solidFill>
                <a:latin typeface="Calibri" pitchFamily="34" charset="0"/>
                <a:ea typeface="Calibri" pitchFamily="34" charset="-122"/>
                <a:cs typeface="Calibri" pitchFamily="34" charset="-120"/>
              </a:rPr>
              <a:t>Pick benchmark and domain, then upload a multivariate CSV (or use the bundled samples). Raw OHLCV is converted to features automatically.</a:t>
            </a:r>
            <a:endParaRPr lang="en-US" sz="1200" dirty="0"/>
          </a:p>
        </p:txBody>
      </p:sp>
      <p:sp>
        <p:nvSpPr>
          <p:cNvPr id="10" name="Shape 6"/>
          <p:cNvSpPr/>
          <p:nvPr/>
        </p:nvSpPr>
        <p:spPr>
          <a:xfrm>
            <a:off x="7680960" y="2587752"/>
            <a:ext cx="457200" cy="457200"/>
          </a:xfrm>
          <a:prstGeom prst="ellipse">
            <a:avLst/>
          </a:prstGeom>
          <a:solidFill>
            <a:srgbClr val="D98A1E"/>
          </a:solidFill>
          <a:ln w="12700">
            <a:solidFill>
              <a:srgbClr val="D98A1E"/>
            </a:solidFill>
            <a:prstDash val="solid"/>
          </a:ln>
        </p:spPr>
      </p:sp>
      <p:pic>
        <p:nvPicPr>
          <p:cNvPr id="11" name="Image 2" descr="preencoded.png">    </p:cNvPr>
          <p:cNvPicPr>
            <a:picLocks noChangeAspect="1"/>
          </p:cNvPicPr>
          <p:nvPr/>
        </p:nvPicPr>
        <p:blipFill>
          <a:blip r:embed="rId4"/>
          <a:stretch>
            <a:fillRect/>
          </a:stretch>
        </p:blipFill>
        <p:spPr>
          <a:xfrm>
            <a:off x="7799832" y="2706624"/>
            <a:ext cx="219456" cy="219456"/>
          </a:xfrm>
          <a:prstGeom prst="rect">
            <a:avLst/>
          </a:prstGeom>
        </p:spPr>
      </p:pic>
      <p:sp>
        <p:nvSpPr>
          <p:cNvPr id="12" name="Text 7"/>
          <p:cNvSpPr txBox="1"/>
          <p:nvPr/>
        </p:nvSpPr>
        <p:spPr>
          <a:xfrm>
            <a:off x="8275320" y="2542032"/>
            <a:ext cx="3364992" cy="960120"/>
          </a:xfrm>
          <a:prstGeom prst="rect">
            <a:avLst/>
          </a:prstGeom>
          <a:noFill/>
          <a:ln/>
        </p:spPr>
        <p:txBody>
          <a:bodyPr wrap="square" lIns="0" tIns="0" rIns="0" bIns="0" rtlCol="0" anchor="t"/>
          <a:lstStyle/>
          <a:p>
            <a:pPr indent="0" marL="0">
              <a:buNone/>
            </a:pPr>
            <a:r>
              <a:rPr lang="en-US" sz="1200" dirty="0">
                <a:solidFill>
                  <a:srgbClr val="4F5F65"/>
                </a:solidFill>
                <a:latin typeface="Calibri" pitchFamily="34" charset="0"/>
                <a:ea typeface="Calibri" pitchFamily="34" charset="-122"/>
                <a:cs typeface="Calibri" pitchFamily="34" charset="-120"/>
              </a:rPr>
              <a:t>Per-variable plots of input window, actual future and forecast; Domain 2 overlays the un-adapted model.</a:t>
            </a:r>
            <a:endParaRPr lang="en-US" sz="1200" dirty="0"/>
          </a:p>
        </p:txBody>
      </p:sp>
      <p:sp>
        <p:nvSpPr>
          <p:cNvPr id="13" name="Shape 8"/>
          <p:cNvSpPr/>
          <p:nvPr/>
        </p:nvSpPr>
        <p:spPr>
          <a:xfrm>
            <a:off x="7680960" y="3666744"/>
            <a:ext cx="457200" cy="457200"/>
          </a:xfrm>
          <a:prstGeom prst="ellipse">
            <a:avLst/>
          </a:prstGeom>
          <a:solidFill>
            <a:srgbClr val="2F7F73"/>
          </a:solidFill>
          <a:ln w="12700">
            <a:solidFill>
              <a:srgbClr val="2F7F73"/>
            </a:solidFill>
            <a:prstDash val="solid"/>
          </a:ln>
        </p:spPr>
      </p:sp>
      <p:pic>
        <p:nvPicPr>
          <p:cNvPr id="14" name="Image 3" descr="preencoded.png">    </p:cNvPr>
          <p:cNvPicPr>
            <a:picLocks noChangeAspect="1"/>
          </p:cNvPicPr>
          <p:nvPr/>
        </p:nvPicPr>
        <p:blipFill>
          <a:blip r:embed="rId5"/>
          <a:stretch>
            <a:fillRect/>
          </a:stretch>
        </p:blipFill>
        <p:spPr>
          <a:xfrm>
            <a:off x="7799832" y="3785616"/>
            <a:ext cx="219456" cy="219456"/>
          </a:xfrm>
          <a:prstGeom prst="rect">
            <a:avLst/>
          </a:prstGeom>
        </p:spPr>
      </p:pic>
      <p:sp>
        <p:nvSpPr>
          <p:cNvPr id="15" name="Text 9"/>
          <p:cNvSpPr txBox="1"/>
          <p:nvPr/>
        </p:nvSpPr>
        <p:spPr>
          <a:xfrm>
            <a:off x="8275320" y="3621024"/>
            <a:ext cx="3364992" cy="960120"/>
          </a:xfrm>
          <a:prstGeom prst="rect">
            <a:avLst/>
          </a:prstGeom>
          <a:noFill/>
          <a:ln/>
        </p:spPr>
        <p:txBody>
          <a:bodyPr wrap="square" lIns="0" tIns="0" rIns="0" bIns="0" rtlCol="0" anchor="t"/>
          <a:lstStyle/>
          <a:p>
            <a:pPr indent="0" marL="0">
              <a:buNone/>
            </a:pPr>
            <a:r>
              <a:rPr lang="en-US" sz="1200" dirty="0">
                <a:solidFill>
                  <a:srgbClr val="4F5F65"/>
                </a:solidFill>
                <a:latin typeface="Calibri" pitchFamily="34" charset="0"/>
                <a:ea typeface="Calibri" pitchFamily="34" charset="-122"/>
                <a:cs typeface="Calibri" pitchFamily="34" charset="-120"/>
              </a:rPr>
              <a:t>Window-level MSE, MAE, MASE and key-variable RMSE, plus a whole-file rolling evaluation against baselines.</a:t>
            </a:r>
            <a:endParaRPr lang="en-US" sz="1200" dirty="0"/>
          </a:p>
        </p:txBody>
      </p:sp>
      <p:sp>
        <p:nvSpPr>
          <p:cNvPr id="16" name="Shape 10"/>
          <p:cNvSpPr/>
          <p:nvPr/>
        </p:nvSpPr>
        <p:spPr>
          <a:xfrm>
            <a:off x="7680960" y="4745736"/>
            <a:ext cx="457200" cy="457200"/>
          </a:xfrm>
          <a:prstGeom prst="ellipse">
            <a:avLst/>
          </a:prstGeom>
          <a:solidFill>
            <a:srgbClr val="D98A1E"/>
          </a:solidFill>
          <a:ln w="12700">
            <a:solidFill>
              <a:srgbClr val="D98A1E"/>
            </a:solidFill>
            <a:prstDash val="solid"/>
          </a:ln>
        </p:spPr>
      </p:sp>
      <p:pic>
        <p:nvPicPr>
          <p:cNvPr id="17" name="Image 4" descr="preencoded.png">    </p:cNvPr>
          <p:cNvPicPr>
            <a:picLocks noChangeAspect="1"/>
          </p:cNvPicPr>
          <p:nvPr/>
        </p:nvPicPr>
        <p:blipFill>
          <a:blip r:embed="rId6"/>
          <a:stretch>
            <a:fillRect/>
          </a:stretch>
        </p:blipFill>
        <p:spPr>
          <a:xfrm>
            <a:off x="7799832" y="4864608"/>
            <a:ext cx="219456" cy="219456"/>
          </a:xfrm>
          <a:prstGeom prst="rect">
            <a:avLst/>
          </a:prstGeom>
        </p:spPr>
      </p:pic>
      <p:sp>
        <p:nvSpPr>
          <p:cNvPr id="18" name="Text 11"/>
          <p:cNvSpPr txBox="1"/>
          <p:nvPr/>
        </p:nvSpPr>
        <p:spPr>
          <a:xfrm>
            <a:off x="8275320" y="4700016"/>
            <a:ext cx="3364992" cy="960120"/>
          </a:xfrm>
          <a:prstGeom prst="rect">
            <a:avLst/>
          </a:prstGeom>
          <a:noFill/>
          <a:ln/>
        </p:spPr>
        <p:txBody>
          <a:bodyPr wrap="square" lIns="0" tIns="0" rIns="0" bIns="0" rtlCol="0" anchor="t"/>
          <a:lstStyle/>
          <a:p>
            <a:pPr indent="0" marL="0">
              <a:buNone/>
            </a:pPr>
            <a:r>
              <a:rPr lang="en-US" sz="1200" dirty="0">
                <a:solidFill>
                  <a:srgbClr val="4F5F65"/>
                </a:solidFill>
                <a:latin typeface="Calibri" pitchFamily="34" charset="0"/>
                <a:ea typeface="Calibri" pitchFamily="34" charset="-122"/>
                <a:cs typeface="Calibri" pitchFamily="34" charset="-120"/>
              </a:rPr>
              <a:t>Benchmark tab with all tables and figures; forecasts downloadable as CSV.</a:t>
            </a:r>
            <a:endParaRPr lang="en-US" sz="1200" dirty="0"/>
          </a:p>
        </p:txBody>
      </p:sp>
      <p:sp>
        <p:nvSpPr>
          <p:cNvPr id="19" name="Shape 12"/>
          <p:cNvSpPr/>
          <p:nvPr/>
        </p:nvSpPr>
        <p:spPr>
          <a:xfrm>
            <a:off x="7680960" y="5806440"/>
            <a:ext cx="3959352" cy="411480"/>
          </a:xfrm>
          <a:prstGeom prst="roundRect">
            <a:avLst>
              <a:gd name="adj" fmla="val 17778"/>
            </a:avLst>
          </a:prstGeom>
          <a:solidFill>
            <a:srgbClr val="16232A"/>
          </a:solidFill>
          <a:ln w="12700">
            <a:solidFill>
              <a:srgbClr val="16232A"/>
            </a:solidFill>
            <a:prstDash val="solid"/>
          </a:ln>
        </p:spPr>
      </p:sp>
      <p:sp>
        <p:nvSpPr>
          <p:cNvPr id="20" name="Text 13"/>
          <p:cNvSpPr txBox="1"/>
          <p:nvPr/>
        </p:nvSpPr>
        <p:spPr>
          <a:xfrm>
            <a:off x="7680960" y="5806440"/>
            <a:ext cx="3959352" cy="411480"/>
          </a:xfrm>
          <a:prstGeom prst="rect">
            <a:avLst/>
          </a:prstGeom>
          <a:noFill/>
          <a:ln/>
        </p:spPr>
        <p:txBody>
          <a:bodyPr wrap="square" lIns="0" tIns="0" rIns="0" bIns="0" rtlCol="0" anchor="ctr"/>
          <a:lstStyle/>
          <a:p>
            <a:pPr algn="ctr" indent="0" marL="0">
              <a:buNone/>
            </a:pPr>
            <a:r>
              <a:rPr lang="en-US" sz="1300" dirty="0">
                <a:solidFill>
                  <a:srgbClr val="FFFFFF"/>
                </a:solidFill>
                <a:latin typeface="Consolas" pitchFamily="34" charset="0"/>
                <a:ea typeface="Consolas" pitchFamily="34" charset="-122"/>
                <a:cs typeface="Consolas" pitchFamily="34" charset="-120"/>
              </a:rPr>
              <a:t>streamlit run app/app.py</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08 · PLAN AHEAD</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Roadmap: sub-tasks, status and next steps</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sp>
        <p:nvSpPr>
          <p:cNvPr id="5" name="Shape 3"/>
          <p:cNvSpPr/>
          <p:nvPr/>
        </p:nvSpPr>
        <p:spPr>
          <a:xfrm>
            <a:off x="594360" y="1554480"/>
            <a:ext cx="384048" cy="384048"/>
          </a:xfrm>
          <a:prstGeom prst="ellipse">
            <a:avLst/>
          </a:prstGeom>
          <a:solidFill>
            <a:srgbClr val="2F7F73"/>
          </a:solidFill>
          <a:ln w="12700">
            <a:solidFill>
              <a:srgbClr val="2F7F73"/>
            </a:solidFill>
            <a:prstDash val="solid"/>
          </a:ln>
        </p:spPr>
      </p:sp>
      <p:pic>
        <p:nvPicPr>
          <p:cNvPr id="6" name="Image 0" descr="preencoded.png">    </p:cNvPr>
          <p:cNvPicPr>
            <a:picLocks noChangeAspect="1"/>
          </p:cNvPicPr>
          <p:nvPr/>
        </p:nvPicPr>
        <p:blipFill>
          <a:blip r:embed="rId2"/>
          <a:stretch>
            <a:fillRect/>
          </a:stretch>
        </p:blipFill>
        <p:spPr>
          <a:xfrm>
            <a:off x="685800" y="1645920"/>
            <a:ext cx="201168" cy="201168"/>
          </a:xfrm>
          <a:prstGeom prst="rect">
            <a:avLst/>
          </a:prstGeom>
        </p:spPr>
      </p:pic>
      <p:sp>
        <p:nvSpPr>
          <p:cNvPr id="7" name="Shape 4"/>
          <p:cNvSpPr/>
          <p:nvPr/>
        </p:nvSpPr>
        <p:spPr>
          <a:xfrm>
            <a:off x="1051560" y="1746504"/>
            <a:ext cx="3154680" cy="0"/>
          </a:xfrm>
          <a:prstGeom prst="line">
            <a:avLst/>
          </a:prstGeom>
          <a:noFill/>
          <a:ln w="25400">
            <a:solidFill>
              <a:srgbClr val="CFDAD8"/>
            </a:solidFill>
            <a:prstDash val="dash"/>
          </a:ln>
        </p:spPr>
      </p:sp>
      <p:sp>
        <p:nvSpPr>
          <p:cNvPr id="8" name="Text 5"/>
          <p:cNvSpPr txBox="1"/>
          <p:nvPr/>
        </p:nvSpPr>
        <p:spPr>
          <a:xfrm>
            <a:off x="1097280" y="1572768"/>
            <a:ext cx="3017520" cy="365760"/>
          </a:xfrm>
          <a:prstGeom prst="rect">
            <a:avLst/>
          </a:prstGeom>
          <a:noFill/>
          <a:ln/>
        </p:spPr>
        <p:txBody>
          <a:bodyPr wrap="square" lIns="0" tIns="0" rIns="0" bIns="0" rtlCol="0" anchor="t"/>
          <a:lstStyle/>
          <a:p>
            <a:pPr indent="0" marL="0">
              <a:buNone/>
            </a:pPr>
            <a:r>
              <a:rPr lang="en-US" sz="1600" b="1" dirty="0">
                <a:solidFill>
                  <a:srgbClr val="2F7F73"/>
                </a:solidFill>
                <a:latin typeface="Calibri" pitchFamily="34" charset="0"/>
                <a:ea typeface="Calibri" pitchFamily="34" charset="-122"/>
                <a:cs typeface="Calibri" pitchFamily="34" charset="-120"/>
              </a:rPr>
              <a:t>Done</a:t>
            </a:r>
            <a:endParaRPr lang="en-US" sz="1600" dirty="0"/>
          </a:p>
        </p:txBody>
      </p:sp>
      <p:sp>
        <p:nvSpPr>
          <p:cNvPr id="9" name="Shape 6"/>
          <p:cNvSpPr/>
          <p:nvPr/>
        </p:nvSpPr>
        <p:spPr>
          <a:xfrm>
            <a:off x="548640" y="2148840"/>
            <a:ext cx="3566160" cy="2788920"/>
          </a:xfrm>
          <a:prstGeom prst="roundRect">
            <a:avLst>
              <a:gd name="adj" fmla="val 2623"/>
            </a:avLst>
          </a:prstGeom>
          <a:solidFill>
            <a:srgbClr val="E6F0EE"/>
          </a:solidFill>
          <a:ln w="12700">
            <a:solidFill>
              <a:srgbClr val="E6F0EE"/>
            </a:solidFill>
            <a:prstDash val="solid"/>
          </a:ln>
        </p:spPr>
      </p:sp>
      <p:sp>
        <p:nvSpPr>
          <p:cNvPr id="10" name="Text 7"/>
          <p:cNvSpPr txBox="1"/>
          <p:nvPr/>
        </p:nvSpPr>
        <p:spPr>
          <a:xfrm>
            <a:off x="731520" y="2286000"/>
            <a:ext cx="3200400" cy="26060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B2B31"/>
                </a:solidFill>
                <a:latin typeface="Calibri" pitchFamily="34" charset="0"/>
                <a:ea typeface="Calibri" pitchFamily="34" charset="-122"/>
                <a:cs typeface="Calibri" pitchFamily="34" charset="-120"/>
              </a:rPr>
              <a:t>Problem study and literature review</a:t>
            </a:r>
            <a:endParaRPr lang="en-US" sz="1250" dirty="0"/>
          </a:p>
          <a:p>
            <a:pPr marL="342900" indent="-342900">
              <a:spcAft>
                <a:spcPts val="500"/>
              </a:spcAft>
              <a:buSzPct val="100000"/>
              <a:buChar char="•"/>
            </a:pPr>
            <a:r>
              <a:rPr lang="en-US" sz="1250" dirty="0">
                <a:solidFill>
                  <a:srgbClr val="1B2B31"/>
                </a:solidFill>
                <a:latin typeface="Calibri" pitchFamily="34" charset="0"/>
                <a:ea typeface="Calibri" pitchFamily="34" charset="-122"/>
                <a:cs typeface="Calibri" pitchFamily="34" charset="-120"/>
              </a:rPr>
              <a:t>3 domain-pair datasets: extraction and curation</a:t>
            </a:r>
            <a:endParaRPr lang="en-US" sz="1250" dirty="0"/>
          </a:p>
          <a:p>
            <a:pPr marL="342900" indent="-342900">
              <a:spcAft>
                <a:spcPts val="500"/>
              </a:spcAft>
              <a:buSzPct val="100000"/>
              <a:buChar char="•"/>
            </a:pPr>
            <a:r>
              <a:rPr lang="en-US" sz="1250" dirty="0">
                <a:solidFill>
                  <a:srgbClr val="1B2B31"/>
                </a:solidFill>
                <a:latin typeface="Calibri" pitchFamily="34" charset="0"/>
                <a:ea typeface="Calibri" pitchFamily="34" charset="-122"/>
                <a:cs typeface="Calibri" pitchFamily="34" charset="-120"/>
              </a:rPr>
              <a:t>LiteTCN source models (Domain 1)</a:t>
            </a:r>
            <a:endParaRPr lang="en-US" sz="1250" dirty="0"/>
          </a:p>
          <a:p>
            <a:pPr marL="342900" indent="-342900">
              <a:spcAft>
                <a:spcPts val="500"/>
              </a:spcAft>
              <a:buSzPct val="100000"/>
              <a:buChar char="•"/>
            </a:pPr>
            <a:r>
              <a:rPr lang="en-US" sz="1250" dirty="0">
                <a:solidFill>
                  <a:srgbClr val="1B2B31"/>
                </a:solidFill>
                <a:latin typeface="Calibri" pitchFamily="34" charset="0"/>
                <a:ea typeface="Calibri" pitchFamily="34" charset="-122"/>
                <a:cs typeface="Calibri" pitchFamily="34" charset="-120"/>
              </a:rPr>
              <a:t>CARE-DA loss, baselines and ablations (3 seeds)</a:t>
            </a:r>
            <a:endParaRPr lang="en-US" sz="1250" dirty="0"/>
          </a:p>
          <a:p>
            <a:pPr marL="342900" indent="-342900">
              <a:spcAft>
                <a:spcPts val="500"/>
              </a:spcAft>
              <a:buSzPct val="100000"/>
              <a:buChar char="•"/>
            </a:pPr>
            <a:r>
              <a:rPr lang="en-US" sz="1250" dirty="0">
                <a:solidFill>
                  <a:srgbClr val="1B2B31"/>
                </a:solidFill>
                <a:latin typeface="Calibri" pitchFamily="34" charset="0"/>
                <a:ea typeface="Calibri" pitchFamily="34" charset="-122"/>
                <a:cs typeface="Calibri" pitchFamily="34" charset="-120"/>
              </a:rPr>
              <a:t>Metrics, logs, plots; Streamlit interface v1</a:t>
            </a:r>
            <a:endParaRPr lang="en-US" sz="1250" dirty="0"/>
          </a:p>
        </p:txBody>
      </p:sp>
      <p:sp>
        <p:nvSpPr>
          <p:cNvPr id="11" name="Shape 8"/>
          <p:cNvSpPr/>
          <p:nvPr/>
        </p:nvSpPr>
        <p:spPr>
          <a:xfrm>
            <a:off x="4343400" y="1554480"/>
            <a:ext cx="384048" cy="384048"/>
          </a:xfrm>
          <a:prstGeom prst="ellipse">
            <a:avLst/>
          </a:prstGeom>
          <a:solidFill>
            <a:srgbClr val="D98A1E"/>
          </a:solidFill>
          <a:ln w="12700">
            <a:solidFill>
              <a:srgbClr val="D98A1E"/>
            </a:solidFill>
            <a:prstDash val="solid"/>
          </a:ln>
        </p:spPr>
      </p:sp>
      <p:pic>
        <p:nvPicPr>
          <p:cNvPr id="12" name="Image 1" descr="preencoded.png">    </p:cNvPr>
          <p:cNvPicPr>
            <a:picLocks noChangeAspect="1"/>
          </p:cNvPicPr>
          <p:nvPr/>
        </p:nvPicPr>
        <p:blipFill>
          <a:blip r:embed="rId3"/>
          <a:stretch>
            <a:fillRect/>
          </a:stretch>
        </p:blipFill>
        <p:spPr>
          <a:xfrm>
            <a:off x="4434840" y="1645920"/>
            <a:ext cx="201168" cy="201168"/>
          </a:xfrm>
          <a:prstGeom prst="rect">
            <a:avLst/>
          </a:prstGeom>
        </p:spPr>
      </p:pic>
      <p:sp>
        <p:nvSpPr>
          <p:cNvPr id="13" name="Shape 9"/>
          <p:cNvSpPr/>
          <p:nvPr/>
        </p:nvSpPr>
        <p:spPr>
          <a:xfrm>
            <a:off x="4800600" y="1746504"/>
            <a:ext cx="3154680" cy="0"/>
          </a:xfrm>
          <a:prstGeom prst="line">
            <a:avLst/>
          </a:prstGeom>
          <a:noFill/>
          <a:ln w="25400">
            <a:solidFill>
              <a:srgbClr val="CFDAD8"/>
            </a:solidFill>
            <a:prstDash val="dash"/>
          </a:ln>
        </p:spPr>
      </p:sp>
      <p:sp>
        <p:nvSpPr>
          <p:cNvPr id="14" name="Text 10"/>
          <p:cNvSpPr txBox="1"/>
          <p:nvPr/>
        </p:nvSpPr>
        <p:spPr>
          <a:xfrm>
            <a:off x="4846320" y="1572768"/>
            <a:ext cx="3017520" cy="365760"/>
          </a:xfrm>
          <a:prstGeom prst="rect">
            <a:avLst/>
          </a:prstGeom>
          <a:noFill/>
          <a:ln/>
        </p:spPr>
        <p:txBody>
          <a:bodyPr wrap="square" lIns="0" tIns="0" rIns="0" bIns="0" rtlCol="0" anchor="t"/>
          <a:lstStyle/>
          <a:p>
            <a:pPr indent="0" marL="0">
              <a:buNone/>
            </a:pPr>
            <a:r>
              <a:rPr lang="en-US" sz="1600" b="1" dirty="0">
                <a:solidFill>
                  <a:srgbClr val="A5650F"/>
                </a:solidFill>
                <a:latin typeface="Calibri" pitchFamily="34" charset="0"/>
                <a:ea typeface="Calibri" pitchFamily="34" charset="-122"/>
                <a:cs typeface="Calibri" pitchFamily="34" charset="-120"/>
              </a:rPr>
              <a:t>Next (until mid-term)</a:t>
            </a:r>
            <a:endParaRPr lang="en-US" sz="1600" dirty="0"/>
          </a:p>
        </p:txBody>
      </p:sp>
      <p:sp>
        <p:nvSpPr>
          <p:cNvPr id="15" name="Shape 11"/>
          <p:cNvSpPr/>
          <p:nvPr/>
        </p:nvSpPr>
        <p:spPr>
          <a:xfrm>
            <a:off x="4297680" y="2148840"/>
            <a:ext cx="3566160" cy="2788920"/>
          </a:xfrm>
          <a:prstGeom prst="roundRect">
            <a:avLst>
              <a:gd name="adj" fmla="val 2623"/>
            </a:avLst>
          </a:prstGeom>
          <a:solidFill>
            <a:srgbClr val="F1F6F5"/>
          </a:solidFill>
          <a:ln w="12700">
            <a:solidFill>
              <a:srgbClr val="F1F6F5"/>
            </a:solidFill>
            <a:prstDash val="solid"/>
          </a:ln>
        </p:spPr>
      </p:sp>
      <p:sp>
        <p:nvSpPr>
          <p:cNvPr id="16" name="Text 12"/>
          <p:cNvSpPr txBox="1"/>
          <p:nvPr/>
        </p:nvSpPr>
        <p:spPr>
          <a:xfrm>
            <a:off x="4480560" y="2286000"/>
            <a:ext cx="3200400" cy="26060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B2B31"/>
                </a:solidFill>
                <a:latin typeface="Calibri" pitchFamily="34" charset="0"/>
                <a:ea typeface="Calibri" pitchFamily="34" charset="-122"/>
                <a:cs typeface="Calibri" pitchFamily="34" charset="-120"/>
              </a:rPr>
              <a:t>Verify datasets with the TAs</a:t>
            </a:r>
            <a:endParaRPr lang="en-US" sz="1250" dirty="0"/>
          </a:p>
          <a:p>
            <a:pPr marL="342900" indent="-342900">
              <a:spcAft>
                <a:spcPts val="500"/>
              </a:spcAft>
              <a:buSzPct val="100000"/>
              <a:buChar char="•"/>
            </a:pPr>
            <a:r>
              <a:rPr lang="en-US" sz="1250" dirty="0">
                <a:solidFill>
                  <a:srgbClr val="1B2B31"/>
                </a:solidFill>
                <a:latin typeface="Calibri" pitchFamily="34" charset="0"/>
                <a:ea typeface="Calibri" pitchFamily="34" charset="-122"/>
                <a:cs typeface="Calibri" pitchFamily="34" charset="-120"/>
              </a:rPr>
              <a:t>CARE-DA v2: replace SSL with a forecasting-aligned pretext</a:t>
            </a:r>
            <a:endParaRPr lang="en-US" sz="1250" dirty="0"/>
          </a:p>
          <a:p>
            <a:pPr marL="342900" indent="-342900">
              <a:spcAft>
                <a:spcPts val="500"/>
              </a:spcAft>
              <a:buSzPct val="100000"/>
              <a:buChar char="•"/>
            </a:pPr>
            <a:r>
              <a:rPr lang="en-US" sz="1250" dirty="0">
                <a:solidFill>
                  <a:srgbClr val="1B2B31"/>
                </a:solidFill>
                <a:latin typeface="Calibri" pitchFamily="34" charset="0"/>
                <a:ea typeface="Calibri" pitchFamily="34" charset="-122"/>
                <a:cs typeface="Calibri" pitchFamily="34" charset="-120"/>
              </a:rPr>
              <a:t>Unsupervised model selection for λ (reverse validation)</a:t>
            </a:r>
            <a:endParaRPr lang="en-US" sz="1250" dirty="0"/>
          </a:p>
          <a:p>
            <a:pPr marL="342900" indent="-342900">
              <a:spcAft>
                <a:spcPts val="500"/>
              </a:spcAft>
              <a:buSzPct val="100000"/>
              <a:buChar char="•"/>
            </a:pPr>
            <a:r>
              <a:rPr lang="en-US" sz="1250" dirty="0">
                <a:solidFill>
                  <a:srgbClr val="1B2B31"/>
                </a:solidFill>
                <a:latin typeface="Calibri" pitchFamily="34" charset="0"/>
                <a:ea typeface="Calibri" pitchFamily="34" charset="-122"/>
                <a:cs typeface="Calibri" pitchFamily="34" charset="-120"/>
              </a:rPr>
              <a:t>Extra target domains; frequency-domain alignment</a:t>
            </a:r>
            <a:endParaRPr lang="en-US" sz="1250" dirty="0"/>
          </a:p>
        </p:txBody>
      </p:sp>
      <p:sp>
        <p:nvSpPr>
          <p:cNvPr id="17" name="Shape 13"/>
          <p:cNvSpPr/>
          <p:nvPr/>
        </p:nvSpPr>
        <p:spPr>
          <a:xfrm>
            <a:off x="8092440" y="1554480"/>
            <a:ext cx="384048" cy="384048"/>
          </a:xfrm>
          <a:prstGeom prst="ellipse">
            <a:avLst/>
          </a:prstGeom>
          <a:solidFill>
            <a:srgbClr val="4F5F65"/>
          </a:solidFill>
          <a:ln w="12700">
            <a:solidFill>
              <a:srgbClr val="4F5F65"/>
            </a:solidFill>
            <a:prstDash val="solid"/>
          </a:ln>
        </p:spPr>
      </p:sp>
      <p:pic>
        <p:nvPicPr>
          <p:cNvPr id="18" name="Image 2" descr="preencoded.png">    </p:cNvPr>
          <p:cNvPicPr>
            <a:picLocks noChangeAspect="1"/>
          </p:cNvPicPr>
          <p:nvPr/>
        </p:nvPicPr>
        <p:blipFill>
          <a:blip r:embed="rId4"/>
          <a:stretch>
            <a:fillRect/>
          </a:stretch>
        </p:blipFill>
        <p:spPr>
          <a:xfrm>
            <a:off x="8183880" y="1645920"/>
            <a:ext cx="201168" cy="201168"/>
          </a:xfrm>
          <a:prstGeom prst="rect">
            <a:avLst/>
          </a:prstGeom>
        </p:spPr>
      </p:pic>
      <p:sp>
        <p:nvSpPr>
          <p:cNvPr id="19" name="Text 14"/>
          <p:cNvSpPr txBox="1"/>
          <p:nvPr/>
        </p:nvSpPr>
        <p:spPr>
          <a:xfrm>
            <a:off x="8595360" y="1572768"/>
            <a:ext cx="3017520" cy="365760"/>
          </a:xfrm>
          <a:prstGeom prst="rect">
            <a:avLst/>
          </a:prstGeom>
          <a:noFill/>
          <a:ln/>
        </p:spPr>
        <p:txBody>
          <a:bodyPr wrap="square" lIns="0" tIns="0" rIns="0" bIns="0" rtlCol="0" anchor="t"/>
          <a:lstStyle/>
          <a:p>
            <a:pPr indent="0" marL="0">
              <a:buNone/>
            </a:pPr>
            <a:r>
              <a:rPr lang="en-US" sz="1600" b="1" dirty="0">
                <a:solidFill>
                  <a:srgbClr val="4F5F65"/>
                </a:solidFill>
                <a:latin typeface="Calibri" pitchFamily="34" charset="0"/>
                <a:ea typeface="Calibri" pitchFamily="34" charset="-122"/>
                <a:cs typeface="Calibri" pitchFamily="34" charset="-120"/>
              </a:rPr>
              <a:t>Final phase</a:t>
            </a:r>
            <a:endParaRPr lang="en-US" sz="1600" dirty="0"/>
          </a:p>
        </p:txBody>
      </p:sp>
      <p:sp>
        <p:nvSpPr>
          <p:cNvPr id="20" name="Shape 15"/>
          <p:cNvSpPr/>
          <p:nvPr/>
        </p:nvSpPr>
        <p:spPr>
          <a:xfrm>
            <a:off x="8046720" y="2148840"/>
            <a:ext cx="3566160" cy="2788920"/>
          </a:xfrm>
          <a:prstGeom prst="roundRect">
            <a:avLst>
              <a:gd name="adj" fmla="val 2623"/>
            </a:avLst>
          </a:prstGeom>
          <a:solidFill>
            <a:srgbClr val="F1F6F5"/>
          </a:solidFill>
          <a:ln w="12700">
            <a:solidFill>
              <a:srgbClr val="F1F6F5"/>
            </a:solidFill>
            <a:prstDash val="solid"/>
          </a:ln>
        </p:spPr>
      </p:sp>
      <p:sp>
        <p:nvSpPr>
          <p:cNvPr id="21" name="Text 16"/>
          <p:cNvSpPr txBox="1"/>
          <p:nvPr/>
        </p:nvSpPr>
        <p:spPr>
          <a:xfrm>
            <a:off x="8229600" y="2286000"/>
            <a:ext cx="3200400" cy="26060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B2B31"/>
                </a:solidFill>
                <a:latin typeface="Calibri" pitchFamily="34" charset="0"/>
                <a:ea typeface="Calibri" pitchFamily="34" charset="-122"/>
                <a:cs typeface="Calibri" pitchFamily="34" charset="-120"/>
              </a:rPr>
              <a:t>Few-shot (1-5% labels) extension</a:t>
            </a:r>
            <a:endParaRPr lang="en-US" sz="1250" dirty="0"/>
          </a:p>
          <a:p>
            <a:pPr marL="342900" indent="-342900">
              <a:spcAft>
                <a:spcPts val="500"/>
              </a:spcAft>
              <a:buSzPct val="100000"/>
              <a:buChar char="•"/>
            </a:pPr>
            <a:r>
              <a:rPr lang="en-US" sz="1250" dirty="0">
                <a:solidFill>
                  <a:srgbClr val="1B2B31"/>
                </a:solidFill>
                <a:latin typeface="Calibri" pitchFamily="34" charset="0"/>
                <a:ea typeface="Calibri" pitchFamily="34" charset="-122"/>
                <a:cs typeface="Calibri" pitchFamily="34" charset="-120"/>
              </a:rPr>
              <a:t>Interface polish: multi-domain batch upload</a:t>
            </a:r>
            <a:endParaRPr lang="en-US" sz="1250" dirty="0"/>
          </a:p>
          <a:p>
            <a:pPr marL="342900" indent="-342900">
              <a:spcAft>
                <a:spcPts val="500"/>
              </a:spcAft>
              <a:buSzPct val="100000"/>
              <a:buChar char="•"/>
            </a:pPr>
            <a:r>
              <a:rPr lang="en-US" sz="1250" dirty="0">
                <a:solidFill>
                  <a:srgbClr val="1B2B31"/>
                </a:solidFill>
                <a:latin typeface="Calibri" pitchFamily="34" charset="0"/>
                <a:ea typeface="Calibri" pitchFamily="34" charset="-122"/>
                <a:cs typeface="Calibri" pitchFamily="34" charset="-120"/>
              </a:rPr>
              <a:t>Stage-wise final report and documentation</a:t>
            </a:r>
            <a:endParaRPr lang="en-US" sz="1250" dirty="0"/>
          </a:p>
          <a:p>
            <a:pPr marL="342900" indent="-342900">
              <a:spcAft>
                <a:spcPts val="500"/>
              </a:spcAft>
              <a:buSzPct val="100000"/>
              <a:buChar char="•"/>
            </a:pPr>
            <a:r>
              <a:rPr lang="en-US" sz="1250" dirty="0">
                <a:solidFill>
                  <a:srgbClr val="1B2B31"/>
                </a:solidFill>
                <a:latin typeface="Calibri" pitchFamily="34" charset="0"/>
                <a:ea typeface="Calibri" pitchFamily="34" charset="-122"/>
                <a:cs typeface="Calibri" pitchFamily="34" charset="-120"/>
              </a:rPr>
              <a:t>Final presentation and demo</a:t>
            </a:r>
            <a:endParaRPr lang="en-US" sz="1250" dirty="0"/>
          </a:p>
        </p:txBody>
      </p:sp>
      <p:sp>
        <p:nvSpPr>
          <p:cNvPr id="22" name="Text 17"/>
          <p:cNvSpPr txBox="1"/>
          <p:nvPr/>
        </p:nvSpPr>
        <p:spPr>
          <a:xfrm>
            <a:off x="548640" y="5120640"/>
            <a:ext cx="5486400" cy="320040"/>
          </a:xfrm>
          <a:prstGeom prst="rect">
            <a:avLst/>
          </a:prstGeom>
          <a:noFill/>
          <a:ln/>
        </p:spPr>
        <p:txBody>
          <a:bodyPr wrap="square" lIns="0" tIns="0" rIns="0" bIns="0" rtlCol="0" anchor="t"/>
          <a:lstStyle/>
          <a:p>
            <a:pPr indent="0" marL="0">
              <a:buNone/>
            </a:pPr>
            <a:r>
              <a:rPr lang="en-US" sz="1300" b="1" dirty="0">
                <a:solidFill>
                  <a:srgbClr val="2F7F73"/>
                </a:solidFill>
                <a:latin typeface="Calibri" pitchFamily="34" charset="0"/>
                <a:ea typeface="Calibri" pitchFamily="34" charset="-122"/>
                <a:cs typeface="Calibri" pitchFamily="34" charset="-120"/>
              </a:rPr>
              <a:t>Course deliverables status</a:t>
            </a:r>
            <a:endParaRPr lang="en-US" sz="1300" dirty="0"/>
          </a:p>
        </p:txBody>
      </p:sp>
      <p:sp>
        <p:nvSpPr>
          <p:cNvPr id="23" name="Shape 18"/>
          <p:cNvSpPr/>
          <p:nvPr/>
        </p:nvSpPr>
        <p:spPr>
          <a:xfrm>
            <a:off x="548640" y="5486400"/>
            <a:ext cx="1755648" cy="658368"/>
          </a:xfrm>
          <a:prstGeom prst="roundRect">
            <a:avLst>
              <a:gd name="adj" fmla="val 11111"/>
            </a:avLst>
          </a:prstGeom>
          <a:solidFill>
            <a:srgbClr val="2F7F73"/>
          </a:solidFill>
          <a:ln w="12700">
            <a:solidFill>
              <a:srgbClr val="2F7F73"/>
            </a:solidFill>
            <a:prstDash val="solid"/>
          </a:ln>
        </p:spPr>
      </p:sp>
      <p:sp>
        <p:nvSpPr>
          <p:cNvPr id="24" name="Text 19"/>
          <p:cNvSpPr txBox="1"/>
          <p:nvPr/>
        </p:nvSpPr>
        <p:spPr>
          <a:xfrm>
            <a:off x="640080" y="5513832"/>
            <a:ext cx="1600200" cy="60350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 v1 ready</a:t>
            </a:r>
            <a:endParaRPr lang="en-US" sz="1400" dirty="0"/>
          </a:p>
          <a:p>
            <a:pPr indent="0" marL="0">
              <a:buNone/>
            </a:pPr>
            <a:r>
              <a:rPr lang="en-US" sz="1100" dirty="0">
                <a:solidFill>
                  <a:srgbClr val="FFFFFF"/>
                </a:solidFill>
                <a:latin typeface="Calibri" pitchFamily="34" charset="0"/>
                <a:ea typeface="Calibri" pitchFamily="34" charset="-122"/>
                <a:cs typeface="Calibri" pitchFamily="34" charset="-120"/>
              </a:rPr>
              <a:t>Domain 1 + adapted models</a:t>
            </a:r>
            <a:endParaRPr lang="en-US" sz="1400" dirty="0"/>
          </a:p>
        </p:txBody>
      </p:sp>
      <p:sp>
        <p:nvSpPr>
          <p:cNvPr id="25" name="Shape 20"/>
          <p:cNvSpPr/>
          <p:nvPr/>
        </p:nvSpPr>
        <p:spPr>
          <a:xfrm>
            <a:off x="2414016" y="5486400"/>
            <a:ext cx="1755648" cy="658368"/>
          </a:xfrm>
          <a:prstGeom prst="roundRect">
            <a:avLst>
              <a:gd name="adj" fmla="val 11111"/>
            </a:avLst>
          </a:prstGeom>
          <a:solidFill>
            <a:srgbClr val="2F7F73"/>
          </a:solidFill>
          <a:ln w="12700">
            <a:solidFill>
              <a:srgbClr val="2F7F73"/>
            </a:solidFill>
            <a:prstDash val="solid"/>
          </a:ln>
        </p:spPr>
      </p:sp>
      <p:sp>
        <p:nvSpPr>
          <p:cNvPr id="26" name="Text 21"/>
          <p:cNvSpPr txBox="1"/>
          <p:nvPr/>
        </p:nvSpPr>
        <p:spPr>
          <a:xfrm>
            <a:off x="2505456" y="5513832"/>
            <a:ext cx="1600200" cy="60350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 v1 ready</a:t>
            </a:r>
            <a:endParaRPr lang="en-US" sz="1400" dirty="0"/>
          </a:p>
          <a:p>
            <a:pPr indent="0" marL="0">
              <a:buNone/>
            </a:pPr>
            <a:r>
              <a:rPr lang="en-US" sz="1100" dirty="0">
                <a:solidFill>
                  <a:srgbClr val="FFFFFF"/>
                </a:solidFill>
                <a:latin typeface="Calibri" pitchFamily="34" charset="0"/>
                <a:ea typeface="Calibri" pitchFamily="34" charset="-122"/>
                <a:cs typeface="Calibri" pitchFamily="34" charset="-120"/>
              </a:rPr>
              <a:t>Interface: Domain 1</a:t>
            </a:r>
            <a:endParaRPr lang="en-US" sz="1400" dirty="0"/>
          </a:p>
        </p:txBody>
      </p:sp>
      <p:sp>
        <p:nvSpPr>
          <p:cNvPr id="27" name="Shape 22"/>
          <p:cNvSpPr/>
          <p:nvPr/>
        </p:nvSpPr>
        <p:spPr>
          <a:xfrm>
            <a:off x="4279392" y="5486400"/>
            <a:ext cx="1755648" cy="658368"/>
          </a:xfrm>
          <a:prstGeom prst="roundRect">
            <a:avLst>
              <a:gd name="adj" fmla="val 11111"/>
            </a:avLst>
          </a:prstGeom>
          <a:solidFill>
            <a:srgbClr val="2F7F73"/>
          </a:solidFill>
          <a:ln w="12700">
            <a:solidFill>
              <a:srgbClr val="2F7F73"/>
            </a:solidFill>
            <a:prstDash val="solid"/>
          </a:ln>
        </p:spPr>
      </p:sp>
      <p:sp>
        <p:nvSpPr>
          <p:cNvPr id="28" name="Text 23"/>
          <p:cNvSpPr txBox="1"/>
          <p:nvPr/>
        </p:nvSpPr>
        <p:spPr>
          <a:xfrm>
            <a:off x="4370832" y="5513832"/>
            <a:ext cx="1600200" cy="60350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 v1 ready</a:t>
            </a:r>
            <a:endParaRPr lang="en-US" sz="1400" dirty="0"/>
          </a:p>
          <a:p>
            <a:pPr indent="0" marL="0">
              <a:buNone/>
            </a:pPr>
            <a:r>
              <a:rPr lang="en-US" sz="1100" dirty="0">
                <a:solidFill>
                  <a:srgbClr val="FFFFFF"/>
                </a:solidFill>
                <a:latin typeface="Calibri" pitchFamily="34" charset="0"/>
                <a:ea typeface="Calibri" pitchFamily="34" charset="-122"/>
                <a:cs typeface="Calibri" pitchFamily="34" charset="-120"/>
              </a:rPr>
              <a:t>Interface: Domain 2</a:t>
            </a:r>
            <a:endParaRPr lang="en-US" sz="1400" dirty="0"/>
          </a:p>
        </p:txBody>
      </p:sp>
      <p:sp>
        <p:nvSpPr>
          <p:cNvPr id="29" name="Shape 24"/>
          <p:cNvSpPr/>
          <p:nvPr/>
        </p:nvSpPr>
        <p:spPr>
          <a:xfrm>
            <a:off x="6144768" y="5486400"/>
            <a:ext cx="1755648" cy="658368"/>
          </a:xfrm>
          <a:prstGeom prst="roundRect">
            <a:avLst>
              <a:gd name="adj" fmla="val 11111"/>
            </a:avLst>
          </a:prstGeom>
          <a:solidFill>
            <a:srgbClr val="2F7F73"/>
          </a:solidFill>
          <a:ln w="12700">
            <a:solidFill>
              <a:srgbClr val="2F7F73"/>
            </a:solidFill>
            <a:prstDash val="solid"/>
          </a:ln>
        </p:spPr>
      </p:sp>
      <p:sp>
        <p:nvSpPr>
          <p:cNvPr id="30" name="Text 25"/>
          <p:cNvSpPr txBox="1"/>
          <p:nvPr/>
        </p:nvSpPr>
        <p:spPr>
          <a:xfrm>
            <a:off x="6236208" y="5513832"/>
            <a:ext cx="1600200" cy="60350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 v1 ready</a:t>
            </a:r>
            <a:endParaRPr lang="en-US" sz="1400" dirty="0"/>
          </a:p>
          <a:p>
            <a:pPr indent="0" marL="0">
              <a:buNone/>
            </a:pPr>
            <a:r>
              <a:rPr lang="en-US" sz="1100" dirty="0">
                <a:solidFill>
                  <a:srgbClr val="FFFFFF"/>
                </a:solidFill>
                <a:latin typeface="Calibri" pitchFamily="34" charset="0"/>
                <a:ea typeface="Calibri" pitchFamily="34" charset="-122"/>
                <a:cs typeface="Calibri" pitchFamily="34" charset="-120"/>
              </a:rPr>
              <a:t>Performance metrics</a:t>
            </a:r>
            <a:endParaRPr lang="en-US" sz="1400" dirty="0"/>
          </a:p>
        </p:txBody>
      </p:sp>
      <p:sp>
        <p:nvSpPr>
          <p:cNvPr id="31" name="Shape 26"/>
          <p:cNvSpPr/>
          <p:nvPr/>
        </p:nvSpPr>
        <p:spPr>
          <a:xfrm>
            <a:off x="8010144" y="5486400"/>
            <a:ext cx="1755648" cy="658368"/>
          </a:xfrm>
          <a:prstGeom prst="roundRect">
            <a:avLst>
              <a:gd name="adj" fmla="val 11111"/>
            </a:avLst>
          </a:prstGeom>
          <a:solidFill>
            <a:srgbClr val="D98A1E"/>
          </a:solidFill>
          <a:ln w="12700">
            <a:solidFill>
              <a:srgbClr val="D98A1E"/>
            </a:solidFill>
            <a:prstDash val="solid"/>
          </a:ln>
        </p:spPr>
      </p:sp>
      <p:sp>
        <p:nvSpPr>
          <p:cNvPr id="32" name="Text 27"/>
          <p:cNvSpPr txBox="1"/>
          <p:nvPr/>
        </p:nvSpPr>
        <p:spPr>
          <a:xfrm>
            <a:off x="8101584" y="5513832"/>
            <a:ext cx="1600200" cy="603504"/>
          </a:xfrm>
          <a:prstGeom prst="rect">
            <a:avLst/>
          </a:prstGeom>
          <a:noFill/>
          <a:ln/>
        </p:spPr>
        <p:txBody>
          <a:bodyPr wrap="square" lIns="0" tIns="0" rIns="0" bIns="0" rtlCol="0" anchor="ctr"/>
          <a:lstStyle/>
          <a:p>
            <a:pPr indent="0" marL="0">
              <a:buNone/>
            </a:pPr>
            <a:r>
              <a:rPr lang="en-US" sz="1050" b="1" dirty="0">
                <a:solidFill>
                  <a:srgbClr val="16232A"/>
                </a:solidFill>
                <a:latin typeface="Calibri" pitchFamily="34" charset="0"/>
                <a:ea typeface="Calibri" pitchFamily="34" charset="-122"/>
                <a:cs typeface="Calibri" pitchFamily="34" charset="-120"/>
              </a:rPr>
              <a:t>◐ draft</a:t>
            </a:r>
            <a:endParaRPr lang="en-US" sz="1400" dirty="0"/>
          </a:p>
          <a:p>
            <a:pPr indent="0" marL="0">
              <a:buNone/>
            </a:pPr>
            <a:r>
              <a:rPr lang="en-US" sz="1100" dirty="0">
                <a:solidFill>
                  <a:srgbClr val="16232A"/>
                </a:solidFill>
                <a:latin typeface="Calibri" pitchFamily="34" charset="0"/>
                <a:ea typeface="Calibri" pitchFamily="34" charset="-122"/>
                <a:cs typeface="Calibri" pitchFamily="34" charset="-120"/>
              </a:rPr>
              <a:t>Stage-wise report</a:t>
            </a:r>
            <a:endParaRPr lang="en-US" sz="1400" dirty="0"/>
          </a:p>
        </p:txBody>
      </p:sp>
      <p:sp>
        <p:nvSpPr>
          <p:cNvPr id="33" name="Shape 28"/>
          <p:cNvSpPr/>
          <p:nvPr/>
        </p:nvSpPr>
        <p:spPr>
          <a:xfrm>
            <a:off x="9875520" y="5486400"/>
            <a:ext cx="1755648" cy="658368"/>
          </a:xfrm>
          <a:prstGeom prst="roundRect">
            <a:avLst>
              <a:gd name="adj" fmla="val 11111"/>
            </a:avLst>
          </a:prstGeom>
          <a:solidFill>
            <a:srgbClr val="B9C4C2"/>
          </a:solidFill>
          <a:ln w="12700">
            <a:solidFill>
              <a:srgbClr val="B9C4C2"/>
            </a:solidFill>
            <a:prstDash val="solid"/>
          </a:ln>
        </p:spPr>
      </p:sp>
      <p:sp>
        <p:nvSpPr>
          <p:cNvPr id="34" name="Text 29"/>
          <p:cNvSpPr txBox="1"/>
          <p:nvPr/>
        </p:nvSpPr>
        <p:spPr>
          <a:xfrm>
            <a:off x="9966960" y="5513832"/>
            <a:ext cx="1600200" cy="60350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 upcoming</a:t>
            </a:r>
            <a:endParaRPr lang="en-US" sz="1400" dirty="0"/>
          </a:p>
          <a:p>
            <a:pPr indent="0" marL="0">
              <a:buNone/>
            </a:pPr>
            <a:r>
              <a:rPr lang="en-US" sz="1100" dirty="0">
                <a:solidFill>
                  <a:srgbClr val="FFFFFF"/>
                </a:solidFill>
                <a:latin typeface="Calibri" pitchFamily="34" charset="0"/>
                <a:ea typeface="Calibri" pitchFamily="34" charset="-122"/>
                <a:cs typeface="Calibri" pitchFamily="34" charset="-120"/>
              </a:rPr>
              <a:t>Final assessment</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Research papers (1/2)</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sp>
        <p:nvSpPr>
          <p:cNvPr id="5" name="Text 3"/>
          <p:cNvSpPr txBox="1"/>
          <p:nvPr/>
        </p:nvSpPr>
        <p:spPr>
          <a:xfrm>
            <a:off x="548640" y="1371600"/>
            <a:ext cx="11091672" cy="4892040"/>
          </a:xfrm>
          <a:prstGeom prst="rect">
            <a:avLst/>
          </a:prstGeom>
          <a:noFill/>
          <a:ln/>
        </p:spPr>
        <p:txBody>
          <a:bodyPr wrap="square" lIns="0" tIns="0" rIns="0" bIns="0" rtlCol="0" anchor="t"/>
          <a:lstStyle/>
          <a:p>
            <a:pPr indent="0" marL="0">
              <a:spcAft>
                <a:spcPts val="550"/>
              </a:spcAft>
              <a:buNone/>
            </a:pPr>
            <a:r>
              <a:rPr lang="en-US" sz="1100" dirty="0">
                <a:solidFill>
                  <a:srgbClr val="1B2B31"/>
                </a:solidFill>
                <a:latin typeface="Calibri" pitchFamily="34" charset="0"/>
                <a:ea typeface="Calibri" pitchFamily="34" charset="-122"/>
                <a:cs typeface="Calibri" pitchFamily="34" charset="-120"/>
              </a:rPr>
              <a:t>[1]  Shai Ben-David, John Blitzer, Koby Crammer, Alex Kulesza, Fernando Pereira and Jennifer Wortman Vaughan. A theory of learning from different domains, Machine Learning, 2010. https://doi.org/10.1007/s10994-009-5152-4</a:t>
            </a:r>
            <a:endParaRPr lang="en-US" sz="1100" dirty="0"/>
          </a:p>
          <a:p>
            <a:pPr indent="0" marL="0">
              <a:spcAft>
                <a:spcPts val="550"/>
              </a:spcAft>
              <a:buNone/>
            </a:pPr>
            <a:r>
              <a:rPr lang="en-US" sz="1100" dirty="0">
                <a:solidFill>
                  <a:srgbClr val="1B2B31"/>
                </a:solidFill>
                <a:latin typeface="Calibri" pitchFamily="34" charset="0"/>
                <a:ea typeface="Calibri" pitchFamily="34" charset="-122"/>
                <a:cs typeface="Calibri" pitchFamily="34" charset="-120"/>
              </a:rPr>
              <a:t>[2]  Yaroslav Ganin, Evgeniya Ustinova, Hana Ajakan, Pascal Germain, Hugo Larochelle, François Laviolette, Mario Marchand and Victor Lempitsky. Domain-Adversarial Training of Neural Networks, Journal of Machine Learning Research, 2016. https://arxiv.org/abs/1505.07818</a:t>
            </a:r>
            <a:endParaRPr lang="en-US" sz="1100" dirty="0"/>
          </a:p>
          <a:p>
            <a:pPr indent="0" marL="0">
              <a:spcAft>
                <a:spcPts val="550"/>
              </a:spcAft>
              <a:buNone/>
            </a:pPr>
            <a:r>
              <a:rPr lang="en-US" sz="1100" dirty="0">
                <a:solidFill>
                  <a:srgbClr val="1B2B31"/>
                </a:solidFill>
                <a:latin typeface="Calibri" pitchFamily="34" charset="0"/>
                <a:ea typeface="Calibri" pitchFamily="34" charset="-122"/>
                <a:cs typeface="Calibri" pitchFamily="34" charset="-120"/>
              </a:rPr>
              <a:t>[3]  Baochen Sun and Kate Saenko. Deep CORAL: Correlation Alignment for Deep Domain Adaptation, ECCV Workshops, 2016. https://arxiv.org/abs/1607.01719</a:t>
            </a:r>
            <a:endParaRPr lang="en-US" sz="1100" dirty="0"/>
          </a:p>
          <a:p>
            <a:pPr indent="0" marL="0">
              <a:spcAft>
                <a:spcPts val="550"/>
              </a:spcAft>
              <a:buNone/>
            </a:pPr>
            <a:r>
              <a:rPr lang="en-US" sz="1100" dirty="0">
                <a:solidFill>
                  <a:srgbClr val="1B2B31"/>
                </a:solidFill>
                <a:latin typeface="Calibri" pitchFamily="34" charset="0"/>
                <a:ea typeface="Calibri" pitchFamily="34" charset="-122"/>
                <a:cs typeface="Calibri" pitchFamily="34" charset="-120"/>
              </a:rPr>
              <a:t>[4]  Mingsheng Long, Yue Cao, Jianmin Wang and Michael I. Jordan. Learning Transferable Features with Deep Adaptation Networks, ICML, 2015. https://arxiv.org/abs/1502.02791</a:t>
            </a:r>
            <a:endParaRPr lang="en-US" sz="1100" dirty="0"/>
          </a:p>
          <a:p>
            <a:pPr indent="0" marL="0">
              <a:spcAft>
                <a:spcPts val="550"/>
              </a:spcAft>
              <a:buNone/>
            </a:pPr>
            <a:r>
              <a:rPr lang="en-US" sz="1100" dirty="0">
                <a:solidFill>
                  <a:srgbClr val="1B2B31"/>
                </a:solidFill>
                <a:latin typeface="Calibri" pitchFamily="34" charset="0"/>
                <a:ea typeface="Calibri" pitchFamily="34" charset="-122"/>
                <a:cs typeface="Calibri" pitchFamily="34" charset="-120"/>
              </a:rPr>
              <a:t>[5]  Arthur Gretton, Karsten M. Borgwardt, Malte J. Rasch, Bernhard Schölkopf and Alexander Smola. A Kernel Two-Sample Test, Journal of Machine Learning Research, 2012. https://jmlr.org/papers/v13/gretton12a.html</a:t>
            </a:r>
            <a:endParaRPr lang="en-US" sz="1100" dirty="0"/>
          </a:p>
          <a:p>
            <a:pPr indent="0" marL="0">
              <a:spcAft>
                <a:spcPts val="550"/>
              </a:spcAft>
              <a:buNone/>
            </a:pPr>
            <a:r>
              <a:rPr lang="en-US" sz="1100" dirty="0">
                <a:solidFill>
                  <a:srgbClr val="1B2B31"/>
                </a:solidFill>
                <a:latin typeface="Calibri" pitchFamily="34" charset="0"/>
                <a:ea typeface="Calibri" pitchFamily="34" charset="-122"/>
                <a:cs typeface="Calibri" pitchFamily="34" charset="-120"/>
              </a:rPr>
              <a:t>[6]  Xuhong Li, Yves Grandvalet and Franck Davoine. Explicit Inductive Bias for Transfer Learning with Convolutional Networks, ICML, 2018. https://arxiv.org/abs/1802.01483</a:t>
            </a:r>
            <a:endParaRPr lang="en-US" sz="1100" dirty="0"/>
          </a:p>
          <a:p>
            <a:pPr indent="0" marL="0">
              <a:spcAft>
                <a:spcPts val="550"/>
              </a:spcAft>
              <a:buNone/>
            </a:pPr>
            <a:r>
              <a:rPr lang="en-US" sz="1100" dirty="0">
                <a:solidFill>
                  <a:srgbClr val="1B2B31"/>
                </a:solidFill>
                <a:latin typeface="Calibri" pitchFamily="34" charset="0"/>
                <a:ea typeface="Calibri" pitchFamily="34" charset="-122"/>
                <a:cs typeface="Calibri" pitchFamily="34" charset="-120"/>
              </a:rPr>
              <a:t>[7]  Yu Sun, Xiaolong Wang, Zhuang Liu, John Miller, Alexei A. Efros and Moritz Hardt. Test-Time Training with Self-Supervision for Generalization under Distribution Shifts, ICML, 2020. https://arxiv.org/abs/1909.13231</a:t>
            </a:r>
            <a:endParaRPr lang="en-US" sz="1100" dirty="0"/>
          </a:p>
          <a:p>
            <a:pPr indent="0" marL="0">
              <a:spcAft>
                <a:spcPts val="550"/>
              </a:spcAft>
              <a:buNone/>
            </a:pPr>
            <a:r>
              <a:rPr lang="en-US" sz="1100" dirty="0">
                <a:solidFill>
                  <a:srgbClr val="1B2B31"/>
                </a:solidFill>
                <a:latin typeface="Calibri" pitchFamily="34" charset="0"/>
                <a:ea typeface="Calibri" pitchFamily="34" charset="-122"/>
                <a:cs typeface="Calibri" pitchFamily="34" charset="-120"/>
              </a:rPr>
              <a:t>[8]  Xiaoyong Jin, Youngsuk Park, Danielle C. Maddix, Hao Wang and Yuyang Wang. Domain Adaptation for Time Series Forecasting via Attention Sharing, ICML, 2022. https://arxiv.org/abs/2102.06828</a:t>
            </a:r>
            <a:endParaRPr lang="en-US" sz="1100" dirty="0"/>
          </a:p>
          <a:p>
            <a:pPr indent="0" marL="0">
              <a:spcAft>
                <a:spcPts val="550"/>
              </a:spcAft>
              <a:buNone/>
            </a:pPr>
            <a:r>
              <a:rPr lang="en-US" sz="1100" dirty="0">
                <a:solidFill>
                  <a:srgbClr val="1B2B31"/>
                </a:solidFill>
                <a:latin typeface="Calibri" pitchFamily="34" charset="0"/>
                <a:ea typeface="Calibri" pitchFamily="34" charset="-122"/>
                <a:cs typeface="Calibri" pitchFamily="34" charset="-120"/>
              </a:rPr>
              <a:t>[9]  Garrett Wilson, Janardhan Rao Doppa and Diane J. Cook. Multi-Source Deep Domain Adaptation with Weak Supervision for Time-Series Sensor Data, KDD, 2020. https://arxiv.org/abs/2005.10996</a:t>
            </a:r>
            <a:endParaRPr lang="en-US" sz="1100" dirty="0"/>
          </a:p>
          <a:p>
            <a:pPr indent="0" marL="0">
              <a:spcAft>
                <a:spcPts val="550"/>
              </a:spcAft>
              <a:buNone/>
            </a:pPr>
            <a:r>
              <a:rPr lang="en-US" sz="1100" dirty="0">
                <a:solidFill>
                  <a:srgbClr val="1B2B31"/>
                </a:solidFill>
                <a:latin typeface="Calibri" pitchFamily="34" charset="0"/>
                <a:ea typeface="Calibri" pitchFamily="34" charset="-122"/>
                <a:cs typeface="Calibri" pitchFamily="34" charset="-120"/>
              </a:rPr>
              <a:t>[10]  Ruichu Cai, Jiawei Chen, Zijian Li, Wei Chen, Keli Zhang, Junjian Ye, Zhuozhang Li, Xiaoyan Yang and Zhenjie Zhang. Time Series Domain Adaptation via Sparse Associative Structure Alignment, AAAI, 2021. https://arxiv.org/abs/2012.11797</a:t>
            </a:r>
            <a:endParaRPr lang="en-US" sz="11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10896"/>
            <a:ext cx="8229600" cy="274320"/>
          </a:xfrm>
          <a:prstGeom prst="rect">
            <a:avLst/>
          </a:prstGeom>
          <a:noFill/>
          <a:ln/>
        </p:spPr>
        <p:txBody>
          <a:bodyPr wrap="square" lIns="0" tIns="0" rIns="0" bIns="0" rtlCol="0" anchor="t"/>
          <a:lstStyle/>
          <a:p>
            <a:pPr indent="0" marL="0">
              <a:buNone/>
            </a:pPr>
            <a:r>
              <a:rPr lang="en-US" sz="1100" b="1" spc="300" kern="0" dirty="0">
                <a:solidFill>
                  <a:srgbClr val="2F7F73"/>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t"/>
          <a:lstStyle/>
          <a:p>
            <a:pPr indent="0" marL="0">
              <a:buNone/>
            </a:pPr>
            <a:r>
              <a:rPr lang="en-US" sz="3000" b="1" dirty="0">
                <a:solidFill>
                  <a:srgbClr val="1B2B31"/>
                </a:solidFill>
                <a:latin typeface="Cambria" pitchFamily="34" charset="0"/>
                <a:ea typeface="Cambria" pitchFamily="34" charset="-122"/>
                <a:cs typeface="Cambria" pitchFamily="34" charset="-120"/>
              </a:rPr>
              <a:t>Research papers (2/2) and web resources</a:t>
            </a:r>
            <a:endParaRPr lang="en-US" sz="3000" dirty="0"/>
          </a:p>
        </p:txBody>
      </p:sp>
      <p:sp>
        <p:nvSpPr>
          <p:cNvPr id="4" name="Text 2"/>
          <p:cNvSpPr txBox="1"/>
          <p:nvPr/>
        </p:nvSpPr>
        <p:spPr>
          <a:xfrm>
            <a:off x="548640" y="6419088"/>
            <a:ext cx="5486400" cy="256032"/>
          </a:xfrm>
          <a:prstGeom prst="rect">
            <a:avLst/>
          </a:prstGeom>
          <a:noFill/>
          <a:ln/>
        </p:spPr>
        <p:txBody>
          <a:bodyPr wrap="square" lIns="0" tIns="0" rIns="0" bIns="0" rtlCol="0" anchor="t"/>
          <a:lstStyle/>
          <a:p>
            <a:pPr indent="0" marL="0">
              <a:buNone/>
            </a:pPr>
            <a:r>
              <a:rPr lang="en-US" sz="900" dirty="0">
                <a:solidFill>
                  <a:srgbClr val="7C8B90"/>
                </a:solidFill>
                <a:latin typeface="Calibri" pitchFamily="34" charset="0"/>
                <a:ea typeface="Calibri" pitchFamily="34" charset="-122"/>
                <a:cs typeface="Calibri" pitchFamily="34" charset="-120"/>
              </a:rPr>
              <a:t>IE 643 Course Project  ·  [Team Name]</a:t>
            </a:r>
            <a:endParaRPr lang="en-US" sz="900" dirty="0"/>
          </a:p>
        </p:txBody>
      </p:sp>
      <p:sp>
        <p:nvSpPr>
          <p:cNvPr id="5" name="Text 3"/>
          <p:cNvSpPr txBox="1"/>
          <p:nvPr/>
        </p:nvSpPr>
        <p:spPr>
          <a:xfrm>
            <a:off x="548640" y="1371600"/>
            <a:ext cx="11091672" cy="3566160"/>
          </a:xfrm>
          <a:prstGeom prst="rect">
            <a:avLst/>
          </a:prstGeom>
          <a:noFill/>
          <a:ln/>
        </p:spPr>
        <p:txBody>
          <a:bodyPr wrap="square" lIns="0" tIns="0" rIns="0" bIns="0" rtlCol="0" anchor="t"/>
          <a:lstStyle/>
          <a:p>
            <a:pPr indent="0" marL="0">
              <a:spcAft>
                <a:spcPts val="550"/>
              </a:spcAft>
              <a:buNone/>
            </a:pPr>
            <a:r>
              <a:rPr lang="en-US" sz="1100" dirty="0">
                <a:solidFill>
                  <a:srgbClr val="1B2B31"/>
                </a:solidFill>
                <a:latin typeface="Calibri" pitchFamily="34" charset="0"/>
                <a:ea typeface="Calibri" pitchFamily="34" charset="-122"/>
                <a:cs typeface="Calibri" pitchFamily="34" charset="-120"/>
              </a:rPr>
              <a:t>[11]  Yilmazcan Ozyurt, Stefan Feuerriegel and Ce Zhang. Contrastive Learning for Unsupervised Domain Adaptation of Time Series, ICLR, 2023. https://arxiv.org/abs/2206.06243</a:t>
            </a:r>
            <a:endParaRPr lang="en-US" sz="1100" dirty="0"/>
          </a:p>
          <a:p>
            <a:pPr indent="0" marL="0">
              <a:spcAft>
                <a:spcPts val="550"/>
              </a:spcAft>
              <a:buNone/>
            </a:pPr>
            <a:r>
              <a:rPr lang="en-US" sz="1100" dirty="0">
                <a:solidFill>
                  <a:srgbClr val="1B2B31"/>
                </a:solidFill>
                <a:latin typeface="Calibri" pitchFamily="34" charset="0"/>
                <a:ea typeface="Calibri" pitchFamily="34" charset="-122"/>
                <a:cs typeface="Calibri" pitchFamily="34" charset="-120"/>
              </a:rPr>
              <a:t>[12]  Huan He, Owen Queen, Teddy Koker, Consuelo Cuevas, Theodoros Tsiligkaridis and Marinka Zitnik. Domain Adaptation for Time Series Under Feature and Label Shifts, ICML, 2023. https://arxiv.org/abs/2302.03133</a:t>
            </a:r>
            <a:endParaRPr lang="en-US" sz="1100" dirty="0"/>
          </a:p>
          <a:p>
            <a:pPr indent="0" marL="0">
              <a:spcAft>
                <a:spcPts val="550"/>
              </a:spcAft>
              <a:buNone/>
            </a:pPr>
            <a:r>
              <a:rPr lang="en-US" sz="1100" dirty="0">
                <a:solidFill>
                  <a:srgbClr val="1B2B31"/>
                </a:solidFill>
                <a:latin typeface="Calibri" pitchFamily="34" charset="0"/>
                <a:ea typeface="Calibri" pitchFamily="34" charset="-122"/>
                <a:cs typeface="Calibri" pitchFamily="34" charset="-120"/>
              </a:rPr>
              <a:t>[13]  Taesung Kim, Jinhee Kim, Yunwon Tae, Cheonbok Park, Jang-Ho Choi and Jaegul Choo. Reversible Instance Normalization for Accurate Time-Series Forecasting against Distribution Shift, ICLR, 2022. https://openreview.net/forum?id=cGDAkQo1C0p</a:t>
            </a:r>
            <a:endParaRPr lang="en-US" sz="1100" dirty="0"/>
          </a:p>
          <a:p>
            <a:pPr indent="0" marL="0">
              <a:spcAft>
                <a:spcPts val="550"/>
              </a:spcAft>
              <a:buNone/>
            </a:pPr>
            <a:r>
              <a:rPr lang="en-US" sz="1100" dirty="0">
                <a:solidFill>
                  <a:srgbClr val="1B2B31"/>
                </a:solidFill>
                <a:latin typeface="Calibri" pitchFamily="34" charset="0"/>
                <a:ea typeface="Calibri" pitchFamily="34" charset="-122"/>
                <a:cs typeface="Calibri" pitchFamily="34" charset="-120"/>
              </a:rPr>
              <a:t>[14]  Ailing Zeng, Muxi Chen, Lei Zhang and Qiang Xu. Are Transformers Effective for Time Series Forecasting?, AAAI, 2023. https://arxiv.org/abs/2205.13504</a:t>
            </a:r>
            <a:endParaRPr lang="en-US" sz="1100" dirty="0"/>
          </a:p>
          <a:p>
            <a:pPr indent="0" marL="0">
              <a:spcAft>
                <a:spcPts val="550"/>
              </a:spcAft>
              <a:buNone/>
            </a:pPr>
            <a:r>
              <a:rPr lang="en-US" sz="1100" dirty="0">
                <a:solidFill>
                  <a:srgbClr val="1B2B31"/>
                </a:solidFill>
                <a:latin typeface="Calibri" pitchFamily="34" charset="0"/>
                <a:ea typeface="Calibri" pitchFamily="34" charset="-122"/>
                <a:cs typeface="Calibri" pitchFamily="34" charset="-120"/>
              </a:rPr>
              <a:t>[15]  Yuqi Nie, Nam H. Nguyen, Phanwadee Sinthong and Jayant Kalagnanam. A Time Series is Worth 64 Words: Long-term Forecasting with Transformers, ICLR, 2023. https://arxiv.org/abs/2211.14730</a:t>
            </a:r>
            <a:endParaRPr lang="en-US" sz="1100" dirty="0"/>
          </a:p>
          <a:p>
            <a:pPr indent="0" marL="0">
              <a:spcAft>
                <a:spcPts val="550"/>
              </a:spcAft>
              <a:buNone/>
            </a:pPr>
            <a:r>
              <a:rPr lang="en-US" sz="1100" dirty="0">
                <a:solidFill>
                  <a:srgbClr val="1B2B31"/>
                </a:solidFill>
                <a:latin typeface="Calibri" pitchFamily="34" charset="0"/>
                <a:ea typeface="Calibri" pitchFamily="34" charset="-122"/>
                <a:cs typeface="Calibri" pitchFamily="34" charset="-120"/>
              </a:rPr>
              <a:t>[16]  Shaojie Bai, J. Zico Kolter and Vladlen Koltun. An Empirical Evaluation of Generic Convolutional and Recurrent Networks for Sequence Modeling, arXiv preprint, 2018. https://arxiv.org/abs/1803.01271</a:t>
            </a:r>
            <a:endParaRPr lang="en-US" sz="1100" dirty="0"/>
          </a:p>
          <a:p>
            <a:pPr indent="0" marL="0">
              <a:spcAft>
                <a:spcPts val="550"/>
              </a:spcAft>
              <a:buNone/>
            </a:pPr>
            <a:r>
              <a:rPr lang="en-US" sz="1100" dirty="0">
                <a:solidFill>
                  <a:srgbClr val="1B2B31"/>
                </a:solidFill>
                <a:latin typeface="Calibri" pitchFamily="34" charset="0"/>
                <a:ea typeface="Calibri" pitchFamily="34" charset="-122"/>
                <a:cs typeface="Calibri" pitchFamily="34" charset="-120"/>
              </a:rPr>
              <a:t>[17]  Haoyi Zhou, Shanghang Zhang, Jieqi Peng, Shuai Zhang, Jianxin Li, Hui Xiong and Wancai Zhang. Informer: Beyond Efficient Transformer for Long Sequence Time-Series Forecasting (ETT dataset), AAAI, 2021. https://arxiv.org/abs/2012.07436</a:t>
            </a:r>
            <a:endParaRPr lang="en-US" sz="1100" dirty="0"/>
          </a:p>
          <a:p>
            <a:pPr indent="0" marL="0">
              <a:spcAft>
                <a:spcPts val="550"/>
              </a:spcAft>
              <a:buNone/>
            </a:pPr>
            <a:r>
              <a:rPr lang="en-US" sz="1100" dirty="0">
                <a:solidFill>
                  <a:srgbClr val="1B2B31"/>
                </a:solidFill>
                <a:latin typeface="Calibri" pitchFamily="34" charset="0"/>
                <a:ea typeface="Calibri" pitchFamily="34" charset="-122"/>
                <a:cs typeface="Calibri" pitchFamily="34" charset="-120"/>
              </a:rPr>
              <a:t>[18]  Rob J. Hyndman and Anne B. Koehler. Another look at measures of forecast accuracy, International Journal of Forecasting, 2006. https://doi.org/10.1016/j.ijforecast.2006.03.001</a:t>
            </a:r>
            <a:endParaRPr lang="en-US" sz="1100" dirty="0"/>
          </a:p>
        </p:txBody>
      </p:sp>
      <p:sp>
        <p:nvSpPr>
          <p:cNvPr id="6" name="Text 4"/>
          <p:cNvSpPr txBox="1"/>
          <p:nvPr/>
        </p:nvSpPr>
        <p:spPr>
          <a:xfrm>
            <a:off x="548640" y="4983480"/>
            <a:ext cx="4572000" cy="274320"/>
          </a:xfrm>
          <a:prstGeom prst="rect">
            <a:avLst/>
          </a:prstGeom>
          <a:noFill/>
          <a:ln/>
        </p:spPr>
        <p:txBody>
          <a:bodyPr wrap="square" lIns="0" tIns="0" rIns="0" bIns="0" rtlCol="0" anchor="t"/>
          <a:lstStyle/>
          <a:p>
            <a:pPr indent="0" marL="0">
              <a:buNone/>
            </a:pPr>
            <a:r>
              <a:rPr lang="en-US" sz="1200" b="1" dirty="0">
                <a:solidFill>
                  <a:srgbClr val="2F7F73"/>
                </a:solidFill>
                <a:latin typeface="Calibri" pitchFamily="34" charset="0"/>
                <a:ea typeface="Calibri" pitchFamily="34" charset="-122"/>
                <a:cs typeface="Calibri" pitchFamily="34" charset="-120"/>
              </a:rPr>
              <a:t>Websites</a:t>
            </a:r>
            <a:endParaRPr lang="en-US" sz="1200" dirty="0"/>
          </a:p>
        </p:txBody>
      </p:sp>
      <p:sp>
        <p:nvSpPr>
          <p:cNvPr id="7" name="Text 5"/>
          <p:cNvSpPr txBox="1"/>
          <p:nvPr/>
        </p:nvSpPr>
        <p:spPr>
          <a:xfrm>
            <a:off x="548640" y="5257800"/>
            <a:ext cx="8412480" cy="1005840"/>
          </a:xfrm>
          <a:prstGeom prst="rect">
            <a:avLst/>
          </a:prstGeom>
          <a:noFill/>
          <a:ln/>
        </p:spPr>
        <p:txBody>
          <a:bodyPr wrap="square" lIns="0" tIns="0" rIns="0" bIns="0" rtlCol="0" anchor="t"/>
          <a:lstStyle/>
          <a:p>
            <a:pPr indent="0" marL="0">
              <a:spcAft>
                <a:spcPts val="300"/>
              </a:spcAft>
              <a:buNone/>
            </a:pPr>
            <a:r>
              <a:rPr lang="en-US" sz="1100" dirty="0">
                <a:solidFill>
                  <a:srgbClr val="1B2B31"/>
                </a:solidFill>
                <a:latin typeface="Calibri" pitchFamily="34" charset="0"/>
                <a:ea typeface="Calibri" pitchFamily="34" charset="-122"/>
                <a:cs typeface="Calibri" pitchFamily="34" charset="-120"/>
              </a:rPr>
              <a:t>[19]  Open-Meteo. https://open-meteo.com/en/docs/historical-weather-api. Accessed on: 18th September, 2026.</a:t>
            </a:r>
            <a:endParaRPr lang="en-US" sz="1100" dirty="0"/>
          </a:p>
          <a:p>
            <a:pPr indent="0" marL="0">
              <a:spcAft>
                <a:spcPts val="300"/>
              </a:spcAft>
              <a:buNone/>
            </a:pPr>
            <a:r>
              <a:rPr lang="en-US" sz="1100" dirty="0">
                <a:solidFill>
                  <a:srgbClr val="1B2B31"/>
                </a:solidFill>
                <a:latin typeface="Calibri" pitchFamily="34" charset="0"/>
                <a:ea typeface="Calibri" pitchFamily="34" charset="-122"/>
                <a:cs typeface="Calibri" pitchFamily="34" charset="-120"/>
              </a:rPr>
              <a:t>[20]  Ran Aroussi. https://github.com/ranaroussi/yfinance. Accessed on: 18th September, 2026.</a:t>
            </a:r>
            <a:endParaRPr lang="en-US" sz="1100" dirty="0"/>
          </a:p>
          <a:p>
            <a:pPr indent="0" marL="0">
              <a:spcAft>
                <a:spcPts val="300"/>
              </a:spcAft>
              <a:buNone/>
            </a:pPr>
            <a:r>
              <a:rPr lang="en-US" sz="1100" dirty="0">
                <a:solidFill>
                  <a:srgbClr val="1B2B31"/>
                </a:solidFill>
                <a:latin typeface="Calibri" pitchFamily="34" charset="0"/>
                <a:ea typeface="Calibri" pitchFamily="34" charset="-122"/>
                <a:cs typeface="Calibri" pitchFamily="34" charset="-120"/>
              </a:rPr>
              <a:t>[21]  Haoyi Zhou. https://github.com/zhouhaoyi/ETDataset. Accessed on: 18th September, 2026.</a:t>
            </a:r>
            <a:endParaRPr lang="en-US" sz="1100" dirty="0"/>
          </a:p>
        </p:txBody>
      </p:sp>
      <p:sp>
        <p:nvSpPr>
          <p:cNvPr id="8" name="Shape 6"/>
          <p:cNvSpPr/>
          <p:nvPr/>
        </p:nvSpPr>
        <p:spPr>
          <a:xfrm>
            <a:off x="9189720" y="5029200"/>
            <a:ext cx="2450592" cy="1188720"/>
          </a:xfrm>
          <a:prstGeom prst="roundRect">
            <a:avLst>
              <a:gd name="adj" fmla="val 6154"/>
            </a:avLst>
          </a:prstGeom>
          <a:solidFill>
            <a:srgbClr val="16232A"/>
          </a:solidFill>
          <a:ln w="12700">
            <a:solidFill>
              <a:srgbClr val="16232A"/>
            </a:solidFill>
            <a:prstDash val="solid"/>
          </a:ln>
        </p:spPr>
      </p:sp>
      <p:sp>
        <p:nvSpPr>
          <p:cNvPr id="9" name="Text 7"/>
          <p:cNvSpPr txBox="1"/>
          <p:nvPr/>
        </p:nvSpPr>
        <p:spPr>
          <a:xfrm>
            <a:off x="9189720" y="5120640"/>
            <a:ext cx="2450592" cy="548640"/>
          </a:xfrm>
          <a:prstGeom prst="rect">
            <a:avLst/>
          </a:prstGeom>
          <a:noFill/>
          <a:ln/>
        </p:spPr>
        <p:txBody>
          <a:bodyPr wrap="square" lIns="0" tIns="0" rIns="0" bIns="0" rtlCol="0" anchor="t"/>
          <a:lstStyle/>
          <a:p>
            <a:pPr algn="ctr" indent="0" marL="0">
              <a:buNone/>
            </a:pPr>
            <a:r>
              <a:rPr lang="en-US" sz="2400" b="1" dirty="0">
                <a:solidFill>
                  <a:srgbClr val="FFFFFF"/>
                </a:solidFill>
                <a:latin typeface="Cambria" pitchFamily="34" charset="0"/>
                <a:ea typeface="Cambria" pitchFamily="34" charset="-122"/>
                <a:cs typeface="Cambria" pitchFamily="34" charset="-120"/>
              </a:rPr>
              <a:t>Thank you</a:t>
            </a:r>
            <a:endParaRPr lang="en-US" sz="2400" dirty="0"/>
          </a:p>
        </p:txBody>
      </p:sp>
      <p:sp>
        <p:nvSpPr>
          <p:cNvPr id="10" name="Text 8"/>
          <p:cNvSpPr txBox="1"/>
          <p:nvPr/>
        </p:nvSpPr>
        <p:spPr>
          <a:xfrm>
            <a:off x="9189720" y="5669280"/>
            <a:ext cx="2450592" cy="365760"/>
          </a:xfrm>
          <a:prstGeom prst="rect">
            <a:avLst/>
          </a:prstGeom>
          <a:noFill/>
          <a:ln/>
        </p:spPr>
        <p:txBody>
          <a:bodyPr wrap="square" lIns="0" tIns="0" rIns="0" bIns="0" rtlCol="0" anchor="t"/>
          <a:lstStyle/>
          <a:p>
            <a:pPr algn="ctr" indent="0" marL="0">
              <a:buNone/>
            </a:pPr>
            <a:r>
              <a:rPr lang="en-US" sz="1200" dirty="0">
                <a:solidFill>
                  <a:srgbClr val="6FB3A6"/>
                </a:solidFill>
                <a:latin typeface="Calibri" pitchFamily="34" charset="0"/>
                <a:ea typeface="Calibri" pitchFamily="34" charset="-122"/>
                <a:cs typeface="Calibri" pitchFamily="34" charset="-120"/>
              </a:rPr>
              <a:t>Questions welcome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C8B90"/>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Unsupervised Domain Adaptation for Time-Series Forecasting - IE 643</dc:title>
  <dc:subject>PptxGenJS Presentation</dc:subject>
  <dc:creator>[Team Name]</dc:creator>
  <cp:lastModifiedBy>[Team Name]</cp:lastModifiedBy>
  <cp:revision>1</cp:revision>
  <dcterms:created xsi:type="dcterms:W3CDTF">2026-09-18T13:48:13Z</dcterms:created>
  <dcterms:modified xsi:type="dcterms:W3CDTF">2026-09-18T13:48:13Z</dcterms:modified>
</cp:coreProperties>
</file>